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HK Grotesk Light" charset="1" panose="00000400000000000000"/>
      <p:regular r:id="rId37"/>
    </p:embeddedFont>
    <p:embeddedFont>
      <p:font typeface="Guild A Display" charset="1" panose="00000000000000000000"/>
      <p:regular r:id="rId38"/>
    </p:embeddedFont>
    <p:embeddedFont>
      <p:font typeface="Arimo Bold" charset="1" panose="020B0704020202020204"/>
      <p:regular r:id="rId39"/>
    </p:embeddedFont>
    <p:embeddedFont>
      <p:font typeface="Roca One Heavy" charset="1" panose="00000A00000000000000"/>
      <p:regular r:id="rId40"/>
    </p:embeddedFont>
    <p:embeddedFont>
      <p:font typeface="Cormorant Garamond Bold" charset="1" panose="00000800000000000000"/>
      <p:regular r:id="rId41"/>
    </p:embeddedFont>
    <p:embeddedFont>
      <p:font typeface="HK Grotesk Bold Italics" charset="1" panose="00000800000000000000"/>
      <p:regular r:id="rId42"/>
    </p:embeddedFont>
    <p:embeddedFont>
      <p:font typeface="Guild A Display Bold" charset="1" panose="00000000000000000000"/>
      <p:regular r:id="rId43"/>
    </p:embeddedFont>
    <p:embeddedFont>
      <p:font typeface="Roboto" charset="1" panose="02000000000000000000"/>
      <p:regular r:id="rId44"/>
    </p:embeddedFont>
    <p:embeddedFont>
      <p:font typeface="Canva Sans Bold" charset="1" panose="020B0803030501040103"/>
      <p:regular r:id="rId45"/>
    </p:embeddedFont>
    <p:embeddedFont>
      <p:font typeface="Canva Sans" charset="1" panose="020B0503030501040103"/>
      <p:regular r:id="rId46"/>
    </p:embeddedFont>
    <p:embeddedFont>
      <p:font typeface="DM Serif Display" charset="1" panose="00000000000000000000"/>
      <p:regular r:id="rId47"/>
    </p:embeddedFont>
    <p:embeddedFont>
      <p:font typeface="Marelle Bâton" charset="1" panose="03050501040207020D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embeddings/oleObject1.bin" Type="http://schemas.openxmlformats.org/officeDocument/2006/relationships/oleObject"/><Relationship Id="rId5" Target="../media/image4.png" Type="http://schemas.openxmlformats.org/officeDocument/2006/relationships/image"/><Relationship Id="rId6" Target="../embeddings/oleObject2.bin" Type="http://schemas.openxmlformats.org/officeDocument/2006/relationships/oleObject"/><Relationship Id="rId7" Target="../media/image5.png" Type="http://schemas.openxmlformats.org/officeDocument/2006/relationships/image"/><Relationship Id="rId8" Target="../embeddings/oleObject3.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embeddings/oleObject4.bin" Type="http://schemas.openxmlformats.org/officeDocument/2006/relationships/oleObject"/><Relationship Id="rId5" Target="../media/image7.png" Type="http://schemas.openxmlformats.org/officeDocument/2006/relationships/image"/><Relationship Id="rId6" Target="../embeddings/oleObject5.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embeddings/oleObject6.bin" Type="http://schemas.openxmlformats.org/officeDocument/2006/relationships/oleObject"/><Relationship Id="rId5" Target="../media/image9.png" Type="http://schemas.openxmlformats.org/officeDocument/2006/relationships/image"/><Relationship Id="rId6" Target="../embeddings/oleObject7.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embeddings/oleObject8.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embeddings/oleObject9.bin" Type="http://schemas.openxmlformats.org/officeDocument/2006/relationships/oleObject"/><Relationship Id="rId6" Target="../media/image14.png" Type="http://schemas.openxmlformats.org/officeDocument/2006/relationships/image"/><Relationship Id="rId7" Target="../embeddings/oleObject10.bin" Type="http://schemas.openxmlformats.org/officeDocument/2006/relationships/oleObject"/><Relationship Id="rId8"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embeddings/oleObject11.bin" Type="http://schemas.openxmlformats.org/officeDocument/2006/relationships/oleObject"/><Relationship Id="rId5" Target="../media/image17.png" Type="http://schemas.openxmlformats.org/officeDocument/2006/relationships/image"/><Relationship Id="rId6" Target="../embeddings/oleObject12.bin" Type="http://schemas.openxmlformats.org/officeDocument/2006/relationships/oleObject"/><Relationship Id="rId7" Target="../media/image18.png" Type="http://schemas.openxmlformats.org/officeDocument/2006/relationships/image"/><Relationship Id="rId8"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embeddings/oleObject13.bin" Type="http://schemas.openxmlformats.org/officeDocument/2006/relationships/oleObject"/><Relationship Id="rId7" Target="../media/image23.png" Type="http://schemas.openxmlformats.org/officeDocument/2006/relationships/image"/><Relationship Id="rId8" Target="../embeddings/oleObject14.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embeddings/oleObject15.bin" Type="http://schemas.openxmlformats.org/officeDocument/2006/relationships/oleObject"/><Relationship Id="rId5" Target="../media/image27.png" Type="http://schemas.openxmlformats.org/officeDocument/2006/relationships/image"/><Relationship Id="rId6" Target="../embeddings/oleObject16.bin" Type="http://schemas.openxmlformats.org/officeDocument/2006/relationships/oleObject"/><Relationship Id="rId7" Target="../media/image28.png" Type="http://schemas.openxmlformats.org/officeDocument/2006/relationships/image"/><Relationship Id="rId8"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 Id="rId4" Target="../embeddings/oleObject17.bin" Type="http://schemas.openxmlformats.org/officeDocument/2006/relationships/oleObject"/><Relationship Id="rId5" Target="../media/image31.png" Type="http://schemas.openxmlformats.org/officeDocument/2006/relationships/image"/><Relationship Id="rId6" Target="../embeddings/oleObject18.bin" Type="http://schemas.openxmlformats.org/officeDocument/2006/relationships/oleObject"/><Relationship Id="rId7" Target="../media/image32.png" Type="http://schemas.openxmlformats.org/officeDocument/2006/relationships/image"/><Relationship Id="rId8"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embeddings/oleObject19.bin" Type="http://schemas.openxmlformats.org/officeDocument/2006/relationships/oleObject"/><Relationship Id="rId5" Target="../media/image35.png" Type="http://schemas.openxmlformats.org/officeDocument/2006/relationships/image"/><Relationship Id="rId6" Target="../embeddings/oleObject20.bin" Type="http://schemas.openxmlformats.org/officeDocument/2006/relationships/oleObject"/><Relationship Id="rId7" Target="../media/image36.png" Type="http://schemas.openxmlformats.org/officeDocument/2006/relationships/image"/><Relationship Id="rId8"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 Id="rId4" Target="../embeddings/oleObject21.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 Id="rId4" Target="../embeddings/oleObject22.bin" Type="http://schemas.openxmlformats.org/officeDocument/2006/relationships/oleObject"/><Relationship Id="rId5" Target="../media/image41.png" Type="http://schemas.openxmlformats.org/officeDocument/2006/relationships/image"/><Relationship Id="rId6" Target="../embeddings/oleObject23.bin" Type="http://schemas.openxmlformats.org/officeDocument/2006/relationships/oleObjec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embeddings/oleObject24.bin" Type="http://schemas.openxmlformats.org/officeDocument/2006/relationships/oleObject"/><Relationship Id="rId7" Target="../media/image45.png" Type="http://schemas.openxmlformats.org/officeDocument/2006/relationships/image"/><Relationship Id="rId8" Target="../embeddings/oleObject25.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6.png" Type="http://schemas.openxmlformats.org/officeDocument/2006/relationships/image"/><Relationship Id="rId4" Target="../embeddings/oleObject26.bin" Type="http://schemas.openxmlformats.org/officeDocument/2006/relationships/oleObject"/><Relationship Id="rId5" Target="../media/image47.png" Type="http://schemas.openxmlformats.org/officeDocument/2006/relationships/image"/><Relationship Id="rId6" Target="../embeddings/oleObject27.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8.png" Type="http://schemas.openxmlformats.org/officeDocument/2006/relationships/image"/><Relationship Id="rId4" Target="../embeddings/oleObject28.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18315" y="-811022"/>
            <a:ext cx="10797795" cy="9700762"/>
            <a:chOff x="0" y="0"/>
            <a:chExt cx="7068104" cy="6350000"/>
          </a:xfrm>
        </p:grpSpPr>
        <p:sp>
          <p:nvSpPr>
            <p:cNvPr name="Freeform 3" id="3"/>
            <p:cNvSpPr/>
            <p:nvPr/>
          </p:nvSpPr>
          <p:spPr>
            <a:xfrm flipH="false" flipV="false" rot="0">
              <a:off x="0" y="0"/>
              <a:ext cx="7068104" cy="6350000"/>
            </a:xfrm>
            <a:custGeom>
              <a:avLst/>
              <a:gdLst/>
              <a:ahLst/>
              <a:cxnLst/>
              <a:rect r="r" b="b" t="t" l="l"/>
              <a:pathLst>
                <a:path h="6350000" w="7068104">
                  <a:moveTo>
                    <a:pt x="3535064" y="0"/>
                  </a:moveTo>
                  <a:cubicBezTo>
                    <a:pt x="5486841" y="0"/>
                    <a:pt x="7068104" y="993140"/>
                    <a:pt x="7068104" y="2217420"/>
                  </a:cubicBezTo>
                  <a:lnTo>
                    <a:pt x="7068104" y="6350000"/>
                  </a:lnTo>
                  <a:lnTo>
                    <a:pt x="0" y="6350000"/>
                  </a:lnTo>
                  <a:lnTo>
                    <a:pt x="0" y="2217420"/>
                  </a:lnTo>
                  <a:cubicBezTo>
                    <a:pt x="0" y="993140"/>
                    <a:pt x="1583288" y="0"/>
                    <a:pt x="3535064" y="0"/>
                  </a:cubicBezTo>
                  <a:close/>
                </a:path>
              </a:pathLst>
            </a:custGeom>
            <a:blipFill>
              <a:blip r:embed="rId2">
                <a:alphaModFix amt="9999"/>
              </a:blip>
              <a:stretch>
                <a:fillRect l="0" t="-5654" r="0" b="-5654"/>
              </a:stretch>
            </a:blipFill>
          </p:spPr>
        </p:sp>
      </p:grpSp>
      <p:sp>
        <p:nvSpPr>
          <p:cNvPr name="AutoShape 4" id="4">
            <a:extLst>
              <a:ext uri="{C183D7F6-B498-43B3-948B-1728B52AA6E4}">
                <adec:decorative xmlns:adec="http://schemas.microsoft.com/office/drawing/2017/decorative" val="1"/>
              </a:ext>
            </a:extLst>
          </p:cNvPr>
          <p:cNvSpPr/>
          <p:nvPr/>
        </p:nvSpPr>
        <p:spPr>
          <a:xfrm rot="0">
            <a:off x="-443075" y="8889740"/>
            <a:ext cx="18865925" cy="1971292"/>
          </a:xfrm>
          <a:prstGeom prst="rect">
            <a:avLst/>
          </a:prstGeom>
          <a:solidFill>
            <a:srgbClr val="304543"/>
          </a:solidFill>
        </p:spPr>
      </p:sp>
      <p:sp>
        <p:nvSpPr>
          <p:cNvPr name="Freeform 5" id="5"/>
          <p:cNvSpPr/>
          <p:nvPr/>
        </p:nvSpPr>
        <p:spPr>
          <a:xfrm flipH="false" flipV="false" rot="0">
            <a:off x="11956486" y="1369945"/>
            <a:ext cx="6331514" cy="9491087"/>
          </a:xfrm>
          <a:custGeom>
            <a:avLst/>
            <a:gdLst/>
            <a:ahLst/>
            <a:cxnLst/>
            <a:rect r="r" b="b" t="t" l="l"/>
            <a:pathLst>
              <a:path h="9491087" w="6331514">
                <a:moveTo>
                  <a:pt x="0" y="0"/>
                </a:moveTo>
                <a:lnTo>
                  <a:pt x="6331514" y="0"/>
                </a:lnTo>
                <a:lnTo>
                  <a:pt x="6331514" y="9491087"/>
                </a:lnTo>
                <a:lnTo>
                  <a:pt x="0" y="9491087"/>
                </a:lnTo>
                <a:lnTo>
                  <a:pt x="0" y="0"/>
                </a:lnTo>
                <a:close/>
              </a:path>
            </a:pathLst>
          </a:custGeom>
          <a:blipFill>
            <a:blip r:embed="rId3"/>
            <a:stretch>
              <a:fillRect l="0" t="0" r="0" b="0"/>
            </a:stretch>
          </a:blipFill>
        </p:spPr>
      </p:sp>
      <p:sp>
        <p:nvSpPr>
          <p:cNvPr name="TextBox 6" id="6"/>
          <p:cNvSpPr txBox="true"/>
          <p:nvPr/>
        </p:nvSpPr>
        <p:spPr>
          <a:xfrm rot="0">
            <a:off x="275915" y="9408114"/>
            <a:ext cx="9320765" cy="273685"/>
          </a:xfrm>
          <a:prstGeom prst="rect">
            <a:avLst/>
          </a:prstGeom>
        </p:spPr>
        <p:txBody>
          <a:bodyPr anchor="t" rtlCol="false" tIns="0" lIns="0" bIns="0" rIns="0">
            <a:spAutoFit/>
          </a:bodyPr>
          <a:lstStyle/>
          <a:p>
            <a:pPr algn="l">
              <a:lnSpc>
                <a:spcPts val="2240"/>
              </a:lnSpc>
              <a:spcBef>
                <a:spcPct val="0"/>
              </a:spcBef>
            </a:pPr>
            <a:r>
              <a:rPr lang="en-US" sz="1600" spc="192">
                <a:solidFill>
                  <a:srgbClr val="F5F5EF"/>
                </a:solidFill>
                <a:latin typeface="HK Grotesk Light"/>
                <a:ea typeface="HK Grotesk Light"/>
                <a:cs typeface="HK Grotesk Light"/>
                <a:sym typeface="HK Grotesk Light"/>
              </a:rPr>
              <a:t>SOCIAL MEDIA, DOPAMINE AND PRODUCTIVITY |DATA ANALYSIS</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a:t>
            </a:r>
          </a:p>
        </p:txBody>
      </p:sp>
      <p:sp>
        <p:nvSpPr>
          <p:cNvPr name="TextBox 8" id="8"/>
          <p:cNvSpPr txBox="true"/>
          <p:nvPr/>
        </p:nvSpPr>
        <p:spPr>
          <a:xfrm rot="0">
            <a:off x="5782121" y="5374573"/>
            <a:ext cx="5335273" cy="513183"/>
          </a:xfrm>
          <a:prstGeom prst="rect">
            <a:avLst/>
          </a:prstGeom>
        </p:spPr>
        <p:txBody>
          <a:bodyPr anchor="t" rtlCol="false" tIns="0" lIns="0" bIns="0" rIns="0">
            <a:spAutoFit/>
          </a:bodyPr>
          <a:lstStyle/>
          <a:p>
            <a:pPr algn="ctr">
              <a:lnSpc>
                <a:spcPts val="2038"/>
              </a:lnSpc>
            </a:pPr>
            <a:r>
              <a:rPr lang="en-US" b="true" sz="1455" spc="174">
                <a:solidFill>
                  <a:srgbClr val="406B41"/>
                </a:solidFill>
                <a:latin typeface="Arimo Bold"/>
                <a:ea typeface="Arimo Bold"/>
                <a:cs typeface="Arimo Bold"/>
                <a:sym typeface="Arimo Bold"/>
              </a:rPr>
              <a:t>YOU ARE NOT USING SOCIAL MEDIA </a:t>
            </a:r>
          </a:p>
          <a:p>
            <a:pPr algn="ctr">
              <a:lnSpc>
                <a:spcPts val="2038"/>
              </a:lnSpc>
              <a:spcBef>
                <a:spcPct val="0"/>
              </a:spcBef>
            </a:pPr>
            <a:r>
              <a:rPr lang="en-US" b="true" sz="1455" spc="174">
                <a:solidFill>
                  <a:srgbClr val="406B41"/>
                </a:solidFill>
                <a:latin typeface="Arimo Bold"/>
                <a:ea typeface="Arimo Bold"/>
                <a:cs typeface="Arimo Bold"/>
                <a:sym typeface="Arimo Bold"/>
              </a:rPr>
              <a:t>                            SOCAIL MEDIA IS USING YOU </a:t>
            </a:r>
          </a:p>
        </p:txBody>
      </p:sp>
      <p:grpSp>
        <p:nvGrpSpPr>
          <p:cNvPr name="Group 9" id="9"/>
          <p:cNvGrpSpPr/>
          <p:nvPr/>
        </p:nvGrpSpPr>
        <p:grpSpPr>
          <a:xfrm rot="0">
            <a:off x="1028700" y="2114201"/>
            <a:ext cx="9507387" cy="6058598"/>
            <a:chOff x="0" y="0"/>
            <a:chExt cx="12676516" cy="8078131"/>
          </a:xfrm>
        </p:grpSpPr>
        <p:sp>
          <p:nvSpPr>
            <p:cNvPr name="TextBox 10" id="10"/>
            <p:cNvSpPr txBox="true"/>
            <p:nvPr/>
          </p:nvSpPr>
          <p:spPr>
            <a:xfrm rot="0">
              <a:off x="0" y="266700"/>
              <a:ext cx="12676516" cy="6355201"/>
            </a:xfrm>
            <a:prstGeom prst="rect">
              <a:avLst/>
            </a:prstGeom>
          </p:spPr>
          <p:txBody>
            <a:bodyPr anchor="t" rtlCol="false" tIns="0" lIns="0" bIns="0" rIns="0">
              <a:spAutoFit/>
            </a:bodyPr>
            <a:lstStyle/>
            <a:p>
              <a:pPr algn="l">
                <a:lnSpc>
                  <a:spcPts val="12149"/>
                </a:lnSpc>
              </a:pPr>
              <a:r>
                <a:rPr lang="en-US" sz="12524" b="true">
                  <a:solidFill>
                    <a:srgbClr val="406B41">
                      <a:alpha val="80000"/>
                    </a:srgbClr>
                  </a:solidFill>
                  <a:latin typeface="Roca One Heavy"/>
                  <a:ea typeface="Roca One Heavy"/>
                  <a:cs typeface="Roca One Heavy"/>
                  <a:sym typeface="Roca One Heavy"/>
                </a:rPr>
                <a:t>Beyond the</a:t>
              </a:r>
            </a:p>
            <a:p>
              <a:pPr algn="l">
                <a:lnSpc>
                  <a:spcPts val="12149"/>
                </a:lnSpc>
              </a:pPr>
              <a:r>
                <a:rPr lang="en-US" sz="12524" b="true">
                  <a:solidFill>
                    <a:srgbClr val="406B41">
                      <a:alpha val="80000"/>
                    </a:srgbClr>
                  </a:solidFill>
                  <a:latin typeface="Roca One Heavy"/>
                  <a:ea typeface="Roca One Heavy"/>
                  <a:cs typeface="Roca One Heavy"/>
                  <a:sym typeface="Roca One Heavy"/>
                </a:rPr>
                <a:t>            Screen        </a:t>
              </a:r>
            </a:p>
          </p:txBody>
        </p:sp>
        <p:sp>
          <p:nvSpPr>
            <p:cNvPr name="TextBox 11" id="11"/>
            <p:cNvSpPr txBox="true"/>
            <p:nvPr/>
          </p:nvSpPr>
          <p:spPr>
            <a:xfrm rot="0">
              <a:off x="0" y="7272951"/>
              <a:ext cx="11791638" cy="805180"/>
            </a:xfrm>
            <a:prstGeom prst="rect">
              <a:avLst/>
            </a:prstGeom>
          </p:spPr>
          <p:txBody>
            <a:bodyPr anchor="t" rtlCol="false" tIns="0" lIns="0" bIns="0" rIns="0">
              <a:spAutoFit/>
            </a:bodyPr>
            <a:lstStyle/>
            <a:p>
              <a:pPr algn="l">
                <a:lnSpc>
                  <a:spcPts val="503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3326930" y="1028700"/>
            <a:ext cx="10797795" cy="9700762"/>
            <a:chOff x="0" y="0"/>
            <a:chExt cx="7068104" cy="6350000"/>
          </a:xfrm>
        </p:grpSpPr>
        <p:sp>
          <p:nvSpPr>
            <p:cNvPr name="Freeform 3" id="3"/>
            <p:cNvSpPr/>
            <p:nvPr/>
          </p:nvSpPr>
          <p:spPr>
            <a:xfrm flipH="false" flipV="false" rot="0">
              <a:off x="0" y="0"/>
              <a:ext cx="7068104" cy="6350000"/>
            </a:xfrm>
            <a:custGeom>
              <a:avLst/>
              <a:gdLst/>
              <a:ahLst/>
              <a:cxnLst/>
              <a:rect r="r" b="b" t="t" l="l"/>
              <a:pathLst>
                <a:path h="6350000" w="7068104">
                  <a:moveTo>
                    <a:pt x="3535064" y="0"/>
                  </a:moveTo>
                  <a:cubicBezTo>
                    <a:pt x="5486841" y="0"/>
                    <a:pt x="7068104" y="993140"/>
                    <a:pt x="7068104" y="2217420"/>
                  </a:cubicBezTo>
                  <a:lnTo>
                    <a:pt x="7068104" y="6350000"/>
                  </a:lnTo>
                  <a:lnTo>
                    <a:pt x="0" y="6350000"/>
                  </a:lnTo>
                  <a:lnTo>
                    <a:pt x="0" y="2217420"/>
                  </a:lnTo>
                  <a:cubicBezTo>
                    <a:pt x="0" y="993140"/>
                    <a:pt x="1583288" y="0"/>
                    <a:pt x="3535064" y="0"/>
                  </a:cubicBezTo>
                  <a:close/>
                </a:path>
              </a:pathLst>
            </a:custGeom>
            <a:blipFill>
              <a:blip r:embed="rId2">
                <a:alphaModFix amt="5000"/>
              </a:blip>
              <a:stretch>
                <a:fillRect l="0" t="-5654" r="0" b="-5654"/>
              </a:stretch>
            </a:blipFill>
          </p:spPr>
        </p:sp>
      </p:grpSp>
      <p:grpSp>
        <p:nvGrpSpPr>
          <p:cNvPr name="Group 4" id="4"/>
          <p:cNvGrpSpPr/>
          <p:nvPr/>
        </p:nvGrpSpPr>
        <p:grpSpPr>
          <a:xfrm rot="0">
            <a:off x="0" y="2366940"/>
            <a:ext cx="18288000" cy="8476870"/>
            <a:chOff x="0" y="0"/>
            <a:chExt cx="1369949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F5F5EF">
                <a:alpha val="9804"/>
              </a:srgbClr>
            </a:solidFill>
          </p:spPr>
        </p:sp>
      </p:grpSp>
      <p:grpSp>
        <p:nvGrpSpPr>
          <p:cNvPr name="Group 6" id="6"/>
          <p:cNvGrpSpPr/>
          <p:nvPr/>
        </p:nvGrpSpPr>
        <p:grpSpPr>
          <a:xfrm rot="0">
            <a:off x="1942517" y="2810314"/>
            <a:ext cx="2955427" cy="1942661"/>
            <a:chOff x="0" y="0"/>
            <a:chExt cx="875808" cy="575686"/>
          </a:xfrm>
        </p:grpSpPr>
        <p:sp>
          <p:nvSpPr>
            <p:cNvPr name="Freeform 7" id="7"/>
            <p:cNvSpPr/>
            <p:nvPr/>
          </p:nvSpPr>
          <p:spPr>
            <a:xfrm flipH="false" flipV="false" rot="0">
              <a:off x="0" y="0"/>
              <a:ext cx="875808" cy="575686"/>
            </a:xfrm>
            <a:custGeom>
              <a:avLst/>
              <a:gdLst/>
              <a:ahLst/>
              <a:cxnLst/>
              <a:rect r="r" b="b" t="t" l="l"/>
              <a:pathLst>
                <a:path h="575686" w="875808">
                  <a:moveTo>
                    <a:pt x="133598" y="0"/>
                  </a:moveTo>
                  <a:lnTo>
                    <a:pt x="742210" y="0"/>
                  </a:lnTo>
                  <a:cubicBezTo>
                    <a:pt x="777643" y="0"/>
                    <a:pt x="811624" y="14075"/>
                    <a:pt x="836678" y="39130"/>
                  </a:cubicBezTo>
                  <a:cubicBezTo>
                    <a:pt x="861732" y="64184"/>
                    <a:pt x="875808" y="98165"/>
                    <a:pt x="875808" y="133598"/>
                  </a:cubicBezTo>
                  <a:lnTo>
                    <a:pt x="875808" y="442088"/>
                  </a:lnTo>
                  <a:cubicBezTo>
                    <a:pt x="875808" y="515872"/>
                    <a:pt x="815994" y="575686"/>
                    <a:pt x="742210" y="575686"/>
                  </a:cubicBezTo>
                  <a:lnTo>
                    <a:pt x="133598" y="575686"/>
                  </a:lnTo>
                  <a:cubicBezTo>
                    <a:pt x="59814" y="575686"/>
                    <a:pt x="0" y="515872"/>
                    <a:pt x="0" y="442088"/>
                  </a:cubicBezTo>
                  <a:lnTo>
                    <a:pt x="0" y="133598"/>
                  </a:lnTo>
                  <a:cubicBezTo>
                    <a:pt x="0" y="59814"/>
                    <a:pt x="59814" y="0"/>
                    <a:pt x="133598" y="0"/>
                  </a:cubicBezTo>
                  <a:close/>
                </a:path>
              </a:pathLst>
            </a:custGeom>
            <a:solidFill>
              <a:srgbClr val="F5F5EF"/>
            </a:solidFill>
          </p:spPr>
        </p:sp>
        <p:sp>
          <p:nvSpPr>
            <p:cNvPr name="TextBox 8" id="8"/>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88876" y="914400"/>
            <a:ext cx="2930143" cy="1085215"/>
          </a:xfrm>
          <a:prstGeom prst="rect">
            <a:avLst/>
          </a:prstGeom>
        </p:spPr>
        <p:txBody>
          <a:bodyPr anchor="t" rtlCol="false" tIns="0" lIns="0" bIns="0" rIns="0">
            <a:spAutoFit/>
          </a:bodyPr>
          <a:lstStyle/>
          <a:p>
            <a:pPr algn="ctr">
              <a:lnSpc>
                <a:spcPts val="8959"/>
              </a:lnSpc>
              <a:spcBef>
                <a:spcPct val="0"/>
              </a:spcBef>
            </a:pPr>
            <a:r>
              <a:rPr lang="en-US" b="true" sz="6399">
                <a:solidFill>
                  <a:srgbClr val="F5F5EF"/>
                </a:solidFill>
                <a:latin typeface="Cormorant Garamond Bold"/>
                <a:ea typeface="Cormorant Garamond Bold"/>
                <a:cs typeface="Cormorant Garamond Bold"/>
                <a:sym typeface="Cormorant Garamond Bold"/>
              </a:rPr>
              <a:t>Agenda</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a:t>
            </a:r>
          </a:p>
        </p:txBody>
      </p:sp>
      <p:sp>
        <p:nvSpPr>
          <p:cNvPr name="TextBox 11" id="11"/>
          <p:cNvSpPr txBox="true"/>
          <p:nvPr/>
        </p:nvSpPr>
        <p:spPr>
          <a:xfrm rot="0">
            <a:off x="1942517" y="3582206"/>
            <a:ext cx="3090732"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Project overview</a:t>
            </a:r>
          </a:p>
        </p:txBody>
      </p:sp>
      <p:grpSp>
        <p:nvGrpSpPr>
          <p:cNvPr name="Group 12" id="12"/>
          <p:cNvGrpSpPr/>
          <p:nvPr/>
        </p:nvGrpSpPr>
        <p:grpSpPr>
          <a:xfrm rot="0">
            <a:off x="1518686" y="2502818"/>
            <a:ext cx="869696" cy="868128"/>
            <a:chOff x="0" y="0"/>
            <a:chExt cx="6338570" cy="6327140"/>
          </a:xfrm>
        </p:grpSpPr>
        <p:sp>
          <p:nvSpPr>
            <p:cNvPr name="Freeform 13" id="13"/>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14" id="14"/>
          <p:cNvSpPr txBox="true"/>
          <p:nvPr/>
        </p:nvSpPr>
        <p:spPr>
          <a:xfrm rot="0">
            <a:off x="1658089" y="2746968"/>
            <a:ext cx="568857" cy="341728"/>
          </a:xfrm>
          <a:prstGeom prst="rect">
            <a:avLst/>
          </a:prstGeom>
        </p:spPr>
        <p:txBody>
          <a:bodyPr anchor="t" rtlCol="false" tIns="0" lIns="0" bIns="0" rIns="0">
            <a:spAutoFit/>
          </a:bodyPr>
          <a:lstStyle/>
          <a:p>
            <a:pPr algn="ctr">
              <a:lnSpc>
                <a:spcPts val="2861"/>
              </a:lnSpc>
              <a:spcBef>
                <a:spcPct val="0"/>
              </a:spcBef>
            </a:pPr>
            <a:r>
              <a:rPr lang="en-US" b="true" sz="2044" i="true">
                <a:solidFill>
                  <a:srgbClr val="F5F5EF"/>
                </a:solidFill>
                <a:latin typeface="HK Grotesk Bold Italics"/>
                <a:ea typeface="HK Grotesk Bold Italics"/>
                <a:cs typeface="HK Grotesk Bold Italics"/>
                <a:sym typeface="HK Grotesk Bold Italics"/>
              </a:rPr>
              <a:t>1</a:t>
            </a:r>
          </a:p>
        </p:txBody>
      </p:sp>
      <p:grpSp>
        <p:nvGrpSpPr>
          <p:cNvPr name="Group 15" id="15"/>
          <p:cNvGrpSpPr/>
          <p:nvPr/>
        </p:nvGrpSpPr>
        <p:grpSpPr>
          <a:xfrm rot="0">
            <a:off x="7232099" y="2693141"/>
            <a:ext cx="3024422" cy="1988012"/>
            <a:chOff x="0" y="0"/>
            <a:chExt cx="875808" cy="575686"/>
          </a:xfrm>
        </p:grpSpPr>
        <p:sp>
          <p:nvSpPr>
            <p:cNvPr name="Freeform 16" id="16"/>
            <p:cNvSpPr/>
            <p:nvPr/>
          </p:nvSpPr>
          <p:spPr>
            <a:xfrm flipH="false" flipV="false" rot="0">
              <a:off x="0" y="0"/>
              <a:ext cx="875808" cy="575686"/>
            </a:xfrm>
            <a:custGeom>
              <a:avLst/>
              <a:gdLst/>
              <a:ahLst/>
              <a:cxnLst/>
              <a:rect r="r" b="b" t="t" l="l"/>
              <a:pathLst>
                <a:path h="575686" w="875808">
                  <a:moveTo>
                    <a:pt x="130550" y="0"/>
                  </a:moveTo>
                  <a:lnTo>
                    <a:pt x="745258" y="0"/>
                  </a:lnTo>
                  <a:cubicBezTo>
                    <a:pt x="779882" y="0"/>
                    <a:pt x="813088" y="13754"/>
                    <a:pt x="837571" y="38237"/>
                  </a:cubicBezTo>
                  <a:cubicBezTo>
                    <a:pt x="862054" y="62720"/>
                    <a:pt x="875808" y="95926"/>
                    <a:pt x="875808" y="130550"/>
                  </a:cubicBezTo>
                  <a:lnTo>
                    <a:pt x="875808" y="445136"/>
                  </a:lnTo>
                  <a:cubicBezTo>
                    <a:pt x="875808" y="517237"/>
                    <a:pt x="817359" y="575686"/>
                    <a:pt x="745258" y="575686"/>
                  </a:cubicBezTo>
                  <a:lnTo>
                    <a:pt x="130550" y="575686"/>
                  </a:lnTo>
                  <a:cubicBezTo>
                    <a:pt x="58449" y="575686"/>
                    <a:pt x="0" y="517237"/>
                    <a:pt x="0" y="445136"/>
                  </a:cubicBezTo>
                  <a:lnTo>
                    <a:pt x="0" y="130550"/>
                  </a:lnTo>
                  <a:cubicBezTo>
                    <a:pt x="0" y="58449"/>
                    <a:pt x="58449" y="0"/>
                    <a:pt x="130550" y="0"/>
                  </a:cubicBezTo>
                  <a:close/>
                </a:path>
              </a:pathLst>
            </a:custGeom>
            <a:solidFill>
              <a:srgbClr val="F5F5EF"/>
            </a:solidFill>
          </p:spPr>
        </p:sp>
        <p:sp>
          <p:nvSpPr>
            <p:cNvPr name="TextBox 17" id="17"/>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7162868" y="3285438"/>
            <a:ext cx="3162885" cy="895985"/>
          </a:xfrm>
          <a:prstGeom prst="rect">
            <a:avLst/>
          </a:prstGeom>
        </p:spPr>
        <p:txBody>
          <a:bodyPr anchor="t" rtlCol="false" tIns="0" lIns="0" bIns="0" rIns="0">
            <a:spAutoFit/>
          </a:bodyPr>
          <a:lstStyle/>
          <a:p>
            <a:pPr algn="ctr">
              <a:lnSpc>
                <a:spcPts val="3640"/>
              </a:lnSpc>
            </a:pPr>
            <a:r>
              <a:rPr lang="en-US" b="true" sz="2600">
                <a:solidFill>
                  <a:srgbClr val="000000"/>
                </a:solidFill>
                <a:latin typeface="Cormorant Garamond Bold"/>
                <a:ea typeface="Cormorant Garamond Bold"/>
                <a:cs typeface="Cormorant Garamond Bold"/>
                <a:sym typeface="Cormorant Garamond Bold"/>
              </a:rPr>
              <a:t>Metadata </a:t>
            </a:r>
          </a:p>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Exploration</a:t>
            </a:r>
          </a:p>
        </p:txBody>
      </p:sp>
      <p:grpSp>
        <p:nvGrpSpPr>
          <p:cNvPr name="Group 19" id="19"/>
          <p:cNvGrpSpPr/>
          <p:nvPr/>
        </p:nvGrpSpPr>
        <p:grpSpPr>
          <a:xfrm rot="0">
            <a:off x="6798373" y="2366940"/>
            <a:ext cx="890000" cy="888395"/>
            <a:chOff x="0" y="0"/>
            <a:chExt cx="6338570" cy="6327140"/>
          </a:xfrm>
        </p:grpSpPr>
        <p:sp>
          <p:nvSpPr>
            <p:cNvPr name="Freeform 20" id="20"/>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21" id="21"/>
          <p:cNvSpPr txBox="true"/>
          <p:nvPr/>
        </p:nvSpPr>
        <p:spPr>
          <a:xfrm rot="0">
            <a:off x="6941031" y="2608154"/>
            <a:ext cx="582137" cy="358341"/>
          </a:xfrm>
          <a:prstGeom prst="rect">
            <a:avLst/>
          </a:prstGeom>
        </p:spPr>
        <p:txBody>
          <a:bodyPr anchor="t" rtlCol="false" tIns="0" lIns="0" bIns="0" rIns="0">
            <a:spAutoFit/>
          </a:bodyPr>
          <a:lstStyle/>
          <a:p>
            <a:pPr algn="ctr">
              <a:lnSpc>
                <a:spcPts val="2928"/>
              </a:lnSpc>
              <a:spcBef>
                <a:spcPct val="0"/>
              </a:spcBef>
            </a:pPr>
            <a:r>
              <a:rPr lang="en-US" b="true" sz="2091" i="true">
                <a:solidFill>
                  <a:srgbClr val="F5F5EF"/>
                </a:solidFill>
                <a:latin typeface="HK Grotesk Bold Italics"/>
                <a:ea typeface="HK Grotesk Bold Italics"/>
                <a:cs typeface="HK Grotesk Bold Italics"/>
                <a:sym typeface="HK Grotesk Bold Italics"/>
              </a:rPr>
              <a:t>2</a:t>
            </a:r>
          </a:p>
        </p:txBody>
      </p:sp>
      <p:grpSp>
        <p:nvGrpSpPr>
          <p:cNvPr name="Group 22" id="22"/>
          <p:cNvGrpSpPr/>
          <p:nvPr/>
        </p:nvGrpSpPr>
        <p:grpSpPr>
          <a:xfrm rot="0">
            <a:off x="12704189" y="2761510"/>
            <a:ext cx="3115095" cy="1991465"/>
            <a:chOff x="0" y="0"/>
            <a:chExt cx="900501" cy="575686"/>
          </a:xfrm>
        </p:grpSpPr>
        <p:sp>
          <p:nvSpPr>
            <p:cNvPr name="Freeform 23" id="23"/>
            <p:cNvSpPr/>
            <p:nvPr/>
          </p:nvSpPr>
          <p:spPr>
            <a:xfrm flipH="false" flipV="false" rot="0">
              <a:off x="0" y="0"/>
              <a:ext cx="900501" cy="575686"/>
            </a:xfrm>
            <a:custGeom>
              <a:avLst/>
              <a:gdLst/>
              <a:ahLst/>
              <a:cxnLst/>
              <a:rect r="r" b="b" t="t" l="l"/>
              <a:pathLst>
                <a:path h="575686" w="900501">
                  <a:moveTo>
                    <a:pt x="126750" y="0"/>
                  </a:moveTo>
                  <a:lnTo>
                    <a:pt x="773751" y="0"/>
                  </a:lnTo>
                  <a:cubicBezTo>
                    <a:pt x="843753" y="0"/>
                    <a:pt x="900501" y="56748"/>
                    <a:pt x="900501" y="126750"/>
                  </a:cubicBezTo>
                  <a:lnTo>
                    <a:pt x="900501" y="448936"/>
                  </a:lnTo>
                  <a:cubicBezTo>
                    <a:pt x="900501" y="518938"/>
                    <a:pt x="843753" y="575686"/>
                    <a:pt x="773751" y="575686"/>
                  </a:cubicBezTo>
                  <a:lnTo>
                    <a:pt x="126750" y="575686"/>
                  </a:lnTo>
                  <a:cubicBezTo>
                    <a:pt x="56748" y="575686"/>
                    <a:pt x="0" y="518938"/>
                    <a:pt x="0" y="448936"/>
                  </a:cubicBezTo>
                  <a:lnTo>
                    <a:pt x="0" y="126750"/>
                  </a:lnTo>
                  <a:cubicBezTo>
                    <a:pt x="0" y="56748"/>
                    <a:pt x="56748" y="0"/>
                    <a:pt x="126750" y="0"/>
                  </a:cubicBezTo>
                  <a:close/>
                </a:path>
              </a:pathLst>
            </a:custGeom>
            <a:solidFill>
              <a:srgbClr val="F5F5EF"/>
            </a:solidFill>
          </p:spPr>
        </p:sp>
        <p:sp>
          <p:nvSpPr>
            <p:cNvPr name="TextBox 24" id="24"/>
            <p:cNvSpPr txBox="true"/>
            <p:nvPr/>
          </p:nvSpPr>
          <p:spPr>
            <a:xfrm>
              <a:off x="0" y="-47625"/>
              <a:ext cx="900501" cy="623311"/>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12704189" y="3542443"/>
            <a:ext cx="3257709"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Python Workflow</a:t>
            </a:r>
          </a:p>
        </p:txBody>
      </p:sp>
      <p:grpSp>
        <p:nvGrpSpPr>
          <p:cNvPr name="Group 26" id="26"/>
          <p:cNvGrpSpPr/>
          <p:nvPr/>
        </p:nvGrpSpPr>
        <p:grpSpPr>
          <a:xfrm rot="0">
            <a:off x="12257460" y="2434742"/>
            <a:ext cx="916682" cy="889938"/>
            <a:chOff x="0" y="0"/>
            <a:chExt cx="6517282" cy="6327140"/>
          </a:xfrm>
        </p:grpSpPr>
        <p:sp>
          <p:nvSpPr>
            <p:cNvPr name="Freeform 27" id="27"/>
            <p:cNvSpPr/>
            <p:nvPr/>
          </p:nvSpPr>
          <p:spPr>
            <a:xfrm flipH="false" flipV="false" rot="0">
              <a:off x="0" y="0"/>
              <a:ext cx="6518552" cy="6325870"/>
            </a:xfrm>
            <a:custGeom>
              <a:avLst/>
              <a:gdLst/>
              <a:ahLst/>
              <a:cxnLst/>
              <a:rect r="r" b="b" t="t" l="l"/>
              <a:pathLst>
                <a:path h="6325870" w="6518552">
                  <a:moveTo>
                    <a:pt x="3259294" y="734060"/>
                  </a:moveTo>
                  <a:lnTo>
                    <a:pt x="3668011" y="0"/>
                  </a:lnTo>
                  <a:lnTo>
                    <a:pt x="3876940" y="810260"/>
                  </a:lnTo>
                  <a:lnTo>
                    <a:pt x="4460636" y="198120"/>
                  </a:lnTo>
                  <a:lnTo>
                    <a:pt x="4455413" y="1033780"/>
                  </a:lnTo>
                  <a:lnTo>
                    <a:pt x="5177524" y="581660"/>
                  </a:lnTo>
                  <a:lnTo>
                    <a:pt x="4959454" y="1389380"/>
                  </a:lnTo>
                  <a:lnTo>
                    <a:pt x="5774278" y="1126490"/>
                  </a:lnTo>
                  <a:lnTo>
                    <a:pt x="5356420" y="1855470"/>
                  </a:lnTo>
                  <a:lnTo>
                    <a:pt x="6213029" y="1798320"/>
                  </a:lnTo>
                  <a:lnTo>
                    <a:pt x="5621499" y="2404110"/>
                  </a:lnTo>
                  <a:lnTo>
                    <a:pt x="6466355" y="2555240"/>
                  </a:lnTo>
                  <a:lnTo>
                    <a:pt x="5739021" y="2998470"/>
                  </a:lnTo>
                  <a:lnTo>
                    <a:pt x="6518552" y="3348990"/>
                  </a:lnTo>
                  <a:lnTo>
                    <a:pt x="5699847" y="3602990"/>
                  </a:lnTo>
                  <a:lnTo>
                    <a:pt x="6364503" y="4131310"/>
                  </a:lnTo>
                  <a:lnTo>
                    <a:pt x="5506588" y="4178300"/>
                  </a:lnTo>
                  <a:lnTo>
                    <a:pt x="6015852" y="4851400"/>
                  </a:lnTo>
                  <a:lnTo>
                    <a:pt x="5173607" y="4690110"/>
                  </a:lnTo>
                  <a:lnTo>
                    <a:pt x="5494835" y="5464810"/>
                  </a:lnTo>
                  <a:lnTo>
                    <a:pt x="4719186" y="5105400"/>
                  </a:lnTo>
                  <a:lnTo>
                    <a:pt x="4831485" y="5933440"/>
                  </a:lnTo>
                  <a:lnTo>
                    <a:pt x="4173359" y="5397500"/>
                  </a:lnTo>
                  <a:lnTo>
                    <a:pt x="4070200" y="6226810"/>
                  </a:lnTo>
                  <a:lnTo>
                    <a:pt x="3570076" y="5547360"/>
                  </a:lnTo>
                  <a:lnTo>
                    <a:pt x="3257988" y="6325870"/>
                  </a:lnTo>
                  <a:lnTo>
                    <a:pt x="2947206" y="5547360"/>
                  </a:lnTo>
                  <a:lnTo>
                    <a:pt x="2447082" y="6226810"/>
                  </a:lnTo>
                  <a:lnTo>
                    <a:pt x="2343924" y="5397500"/>
                  </a:lnTo>
                  <a:lnTo>
                    <a:pt x="1685797" y="5933440"/>
                  </a:lnTo>
                  <a:lnTo>
                    <a:pt x="1798096" y="5105400"/>
                  </a:lnTo>
                  <a:lnTo>
                    <a:pt x="1022447" y="5466080"/>
                  </a:lnTo>
                  <a:lnTo>
                    <a:pt x="1343675" y="4691380"/>
                  </a:lnTo>
                  <a:lnTo>
                    <a:pt x="501430" y="4852670"/>
                  </a:lnTo>
                  <a:lnTo>
                    <a:pt x="1010695" y="4179570"/>
                  </a:lnTo>
                  <a:lnTo>
                    <a:pt x="152780" y="4132580"/>
                  </a:lnTo>
                  <a:lnTo>
                    <a:pt x="817435" y="3604260"/>
                  </a:lnTo>
                  <a:lnTo>
                    <a:pt x="0" y="3350260"/>
                  </a:lnTo>
                  <a:lnTo>
                    <a:pt x="779567" y="2999740"/>
                  </a:lnTo>
                  <a:lnTo>
                    <a:pt x="50926" y="2555240"/>
                  </a:lnTo>
                  <a:lnTo>
                    <a:pt x="895784" y="2404110"/>
                  </a:lnTo>
                  <a:lnTo>
                    <a:pt x="304253" y="1798320"/>
                  </a:lnTo>
                  <a:lnTo>
                    <a:pt x="1160862" y="1855470"/>
                  </a:lnTo>
                  <a:lnTo>
                    <a:pt x="743004" y="1126490"/>
                  </a:lnTo>
                  <a:lnTo>
                    <a:pt x="1557828" y="1389380"/>
                  </a:lnTo>
                  <a:lnTo>
                    <a:pt x="1339758" y="581660"/>
                  </a:lnTo>
                  <a:lnTo>
                    <a:pt x="2061869" y="1033780"/>
                  </a:lnTo>
                  <a:lnTo>
                    <a:pt x="2056646" y="198120"/>
                  </a:lnTo>
                  <a:lnTo>
                    <a:pt x="2640342" y="810260"/>
                  </a:lnTo>
                  <a:lnTo>
                    <a:pt x="2849271" y="0"/>
                  </a:lnTo>
                  <a:lnTo>
                    <a:pt x="3259294" y="734060"/>
                  </a:lnTo>
                  <a:close/>
                </a:path>
              </a:pathLst>
            </a:custGeom>
            <a:solidFill>
              <a:srgbClr val="406B41"/>
            </a:solidFill>
          </p:spPr>
        </p:sp>
      </p:grpSp>
      <p:sp>
        <p:nvSpPr>
          <p:cNvPr name="TextBox 28" id="28"/>
          <p:cNvSpPr txBox="true"/>
          <p:nvPr/>
        </p:nvSpPr>
        <p:spPr>
          <a:xfrm rot="0">
            <a:off x="12404394" y="2676458"/>
            <a:ext cx="599590" cy="358881"/>
          </a:xfrm>
          <a:prstGeom prst="rect">
            <a:avLst/>
          </a:prstGeom>
        </p:spPr>
        <p:txBody>
          <a:bodyPr anchor="t" rtlCol="false" tIns="0" lIns="0" bIns="0" rIns="0">
            <a:spAutoFit/>
          </a:bodyPr>
          <a:lstStyle/>
          <a:p>
            <a:pPr algn="ctr">
              <a:lnSpc>
                <a:spcPts val="2933"/>
              </a:lnSpc>
              <a:spcBef>
                <a:spcPct val="0"/>
              </a:spcBef>
            </a:pPr>
            <a:r>
              <a:rPr lang="en-US" b="true" sz="2095" i="true">
                <a:solidFill>
                  <a:srgbClr val="F5F5EF"/>
                </a:solidFill>
                <a:latin typeface="HK Grotesk Bold Italics"/>
                <a:ea typeface="HK Grotesk Bold Italics"/>
                <a:cs typeface="HK Grotesk Bold Italics"/>
                <a:sym typeface="HK Grotesk Bold Italics"/>
              </a:rPr>
              <a:t>3</a:t>
            </a:r>
          </a:p>
        </p:txBody>
      </p:sp>
      <p:grpSp>
        <p:nvGrpSpPr>
          <p:cNvPr name="Group 29" id="29"/>
          <p:cNvGrpSpPr/>
          <p:nvPr/>
        </p:nvGrpSpPr>
        <p:grpSpPr>
          <a:xfrm rot="0">
            <a:off x="1816167" y="5296146"/>
            <a:ext cx="3099436" cy="2037320"/>
            <a:chOff x="0" y="0"/>
            <a:chExt cx="875808" cy="575686"/>
          </a:xfrm>
        </p:grpSpPr>
        <p:sp>
          <p:nvSpPr>
            <p:cNvPr name="Freeform 30" id="30"/>
            <p:cNvSpPr/>
            <p:nvPr/>
          </p:nvSpPr>
          <p:spPr>
            <a:xfrm flipH="false" flipV="false" rot="0">
              <a:off x="0" y="0"/>
              <a:ext cx="875808" cy="575686"/>
            </a:xfrm>
            <a:custGeom>
              <a:avLst/>
              <a:gdLst/>
              <a:ahLst/>
              <a:cxnLst/>
              <a:rect r="r" b="b" t="t" l="l"/>
              <a:pathLst>
                <a:path h="575686" w="875808">
                  <a:moveTo>
                    <a:pt x="127390" y="0"/>
                  </a:moveTo>
                  <a:lnTo>
                    <a:pt x="748418" y="0"/>
                  </a:lnTo>
                  <a:cubicBezTo>
                    <a:pt x="782204" y="0"/>
                    <a:pt x="814606" y="13421"/>
                    <a:pt x="838496" y="37312"/>
                  </a:cubicBezTo>
                  <a:cubicBezTo>
                    <a:pt x="862386" y="61202"/>
                    <a:pt x="875808" y="93604"/>
                    <a:pt x="875808" y="127390"/>
                  </a:cubicBezTo>
                  <a:lnTo>
                    <a:pt x="875808" y="448296"/>
                  </a:lnTo>
                  <a:cubicBezTo>
                    <a:pt x="875808" y="482082"/>
                    <a:pt x="862386" y="514484"/>
                    <a:pt x="838496" y="538374"/>
                  </a:cubicBezTo>
                  <a:cubicBezTo>
                    <a:pt x="814606" y="562264"/>
                    <a:pt x="782204" y="575686"/>
                    <a:pt x="748418" y="575686"/>
                  </a:cubicBezTo>
                  <a:lnTo>
                    <a:pt x="127390" y="575686"/>
                  </a:lnTo>
                  <a:cubicBezTo>
                    <a:pt x="93604" y="575686"/>
                    <a:pt x="61202" y="562264"/>
                    <a:pt x="37312" y="538374"/>
                  </a:cubicBezTo>
                  <a:cubicBezTo>
                    <a:pt x="13421" y="514484"/>
                    <a:pt x="0" y="482082"/>
                    <a:pt x="0" y="448296"/>
                  </a:cubicBezTo>
                  <a:lnTo>
                    <a:pt x="0" y="127390"/>
                  </a:lnTo>
                  <a:cubicBezTo>
                    <a:pt x="0" y="93604"/>
                    <a:pt x="13421" y="61202"/>
                    <a:pt x="37312" y="37312"/>
                  </a:cubicBezTo>
                  <a:cubicBezTo>
                    <a:pt x="61202" y="13421"/>
                    <a:pt x="93604" y="0"/>
                    <a:pt x="127390" y="0"/>
                  </a:cubicBezTo>
                  <a:close/>
                </a:path>
              </a:pathLst>
            </a:custGeom>
            <a:solidFill>
              <a:srgbClr val="F5F5EF"/>
            </a:solidFill>
          </p:spPr>
        </p:sp>
        <p:sp>
          <p:nvSpPr>
            <p:cNvPr name="TextBox 31" id="31"/>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32" id="32"/>
          <p:cNvSpPr txBox="true"/>
          <p:nvPr/>
        </p:nvSpPr>
        <p:spPr>
          <a:xfrm rot="0">
            <a:off x="1826690" y="6049204"/>
            <a:ext cx="3241333" cy="439714"/>
          </a:xfrm>
          <a:prstGeom prst="rect">
            <a:avLst/>
          </a:prstGeom>
        </p:spPr>
        <p:txBody>
          <a:bodyPr anchor="t" rtlCol="false" tIns="0" lIns="0" bIns="0" rIns="0">
            <a:spAutoFit/>
          </a:bodyPr>
          <a:lstStyle/>
          <a:p>
            <a:pPr algn="ctr">
              <a:lnSpc>
                <a:spcPts val="3662"/>
              </a:lnSpc>
              <a:spcBef>
                <a:spcPct val="0"/>
              </a:spcBef>
            </a:pPr>
            <a:r>
              <a:rPr lang="en-US" b="true" sz="2616">
                <a:solidFill>
                  <a:srgbClr val="000000"/>
                </a:solidFill>
                <a:latin typeface="Cormorant Garamond Bold"/>
                <a:ea typeface="Cormorant Garamond Bold"/>
                <a:cs typeface="Cormorant Garamond Bold"/>
                <a:sym typeface="Cormorant Garamond Bold"/>
              </a:rPr>
              <a:t>SQL Analysis</a:t>
            </a:r>
          </a:p>
        </p:txBody>
      </p:sp>
      <p:grpSp>
        <p:nvGrpSpPr>
          <p:cNvPr name="Group 33" id="33"/>
          <p:cNvGrpSpPr/>
          <p:nvPr/>
        </p:nvGrpSpPr>
        <p:grpSpPr>
          <a:xfrm rot="0">
            <a:off x="1382206" y="4914900"/>
            <a:ext cx="912074" cy="910429"/>
            <a:chOff x="0" y="0"/>
            <a:chExt cx="6338570" cy="6327140"/>
          </a:xfrm>
        </p:grpSpPr>
        <p:sp>
          <p:nvSpPr>
            <p:cNvPr name="Freeform 34" id="34"/>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35" id="35"/>
          <p:cNvSpPr txBox="true"/>
          <p:nvPr/>
        </p:nvSpPr>
        <p:spPr>
          <a:xfrm rot="0">
            <a:off x="1528402" y="5163278"/>
            <a:ext cx="596576" cy="366047"/>
          </a:xfrm>
          <a:prstGeom prst="rect">
            <a:avLst/>
          </a:prstGeom>
        </p:spPr>
        <p:txBody>
          <a:bodyPr anchor="t" rtlCol="false" tIns="0" lIns="0" bIns="0" rIns="0">
            <a:spAutoFit/>
          </a:bodyPr>
          <a:lstStyle/>
          <a:p>
            <a:pPr algn="ctr">
              <a:lnSpc>
                <a:spcPts val="3001"/>
              </a:lnSpc>
              <a:spcBef>
                <a:spcPct val="0"/>
              </a:spcBef>
            </a:pPr>
            <a:r>
              <a:rPr lang="en-US" b="true" sz="2143" i="true">
                <a:solidFill>
                  <a:srgbClr val="F5F5EF"/>
                </a:solidFill>
                <a:latin typeface="HK Grotesk Bold Italics"/>
                <a:ea typeface="HK Grotesk Bold Italics"/>
                <a:cs typeface="HK Grotesk Bold Italics"/>
                <a:sym typeface="HK Grotesk Bold Italics"/>
              </a:rPr>
              <a:t>4</a:t>
            </a:r>
          </a:p>
        </p:txBody>
      </p:sp>
      <p:grpSp>
        <p:nvGrpSpPr>
          <p:cNvPr name="Group 36" id="36"/>
          <p:cNvGrpSpPr/>
          <p:nvPr/>
        </p:nvGrpSpPr>
        <p:grpSpPr>
          <a:xfrm rot="0">
            <a:off x="7141807" y="5292604"/>
            <a:ext cx="3148685" cy="2069693"/>
            <a:chOff x="0" y="0"/>
            <a:chExt cx="875808" cy="575686"/>
          </a:xfrm>
        </p:grpSpPr>
        <p:sp>
          <p:nvSpPr>
            <p:cNvPr name="Freeform 37" id="37"/>
            <p:cNvSpPr/>
            <p:nvPr/>
          </p:nvSpPr>
          <p:spPr>
            <a:xfrm flipH="false" flipV="false" rot="0">
              <a:off x="0" y="0"/>
              <a:ext cx="875808" cy="575686"/>
            </a:xfrm>
            <a:custGeom>
              <a:avLst/>
              <a:gdLst/>
              <a:ahLst/>
              <a:cxnLst/>
              <a:rect r="r" b="b" t="t" l="l"/>
              <a:pathLst>
                <a:path h="575686" w="875808">
                  <a:moveTo>
                    <a:pt x="125398" y="0"/>
                  </a:moveTo>
                  <a:lnTo>
                    <a:pt x="750410" y="0"/>
                  </a:lnTo>
                  <a:cubicBezTo>
                    <a:pt x="783668" y="0"/>
                    <a:pt x="815563" y="13212"/>
                    <a:pt x="839080" y="36728"/>
                  </a:cubicBezTo>
                  <a:cubicBezTo>
                    <a:pt x="862596" y="60245"/>
                    <a:pt x="875808" y="92140"/>
                    <a:pt x="875808" y="125398"/>
                  </a:cubicBezTo>
                  <a:lnTo>
                    <a:pt x="875808" y="450288"/>
                  </a:lnTo>
                  <a:cubicBezTo>
                    <a:pt x="875808" y="483546"/>
                    <a:pt x="862596" y="515441"/>
                    <a:pt x="839080" y="538958"/>
                  </a:cubicBezTo>
                  <a:cubicBezTo>
                    <a:pt x="815563" y="562474"/>
                    <a:pt x="783668" y="575686"/>
                    <a:pt x="750410" y="575686"/>
                  </a:cubicBezTo>
                  <a:lnTo>
                    <a:pt x="125398" y="575686"/>
                  </a:lnTo>
                  <a:cubicBezTo>
                    <a:pt x="92140" y="575686"/>
                    <a:pt x="60245" y="562474"/>
                    <a:pt x="36728" y="538958"/>
                  </a:cubicBezTo>
                  <a:cubicBezTo>
                    <a:pt x="13212" y="515441"/>
                    <a:pt x="0" y="483546"/>
                    <a:pt x="0" y="450288"/>
                  </a:cubicBezTo>
                  <a:lnTo>
                    <a:pt x="0" y="125398"/>
                  </a:lnTo>
                  <a:cubicBezTo>
                    <a:pt x="0" y="92140"/>
                    <a:pt x="13212" y="60245"/>
                    <a:pt x="36728" y="36728"/>
                  </a:cubicBezTo>
                  <a:cubicBezTo>
                    <a:pt x="60245" y="13212"/>
                    <a:pt x="92140" y="0"/>
                    <a:pt x="125398" y="0"/>
                  </a:cubicBezTo>
                  <a:close/>
                </a:path>
              </a:pathLst>
            </a:custGeom>
            <a:solidFill>
              <a:srgbClr val="F5F5EF"/>
            </a:solidFill>
          </p:spPr>
        </p:sp>
        <p:sp>
          <p:nvSpPr>
            <p:cNvPr name="TextBox 38" id="38"/>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39" id="39"/>
          <p:cNvSpPr txBox="true"/>
          <p:nvPr/>
        </p:nvSpPr>
        <p:spPr>
          <a:xfrm rot="0">
            <a:off x="7141807" y="6106084"/>
            <a:ext cx="3292837"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Dashboard 1</a:t>
            </a:r>
          </a:p>
        </p:txBody>
      </p:sp>
      <p:grpSp>
        <p:nvGrpSpPr>
          <p:cNvPr name="Group 40" id="40"/>
          <p:cNvGrpSpPr/>
          <p:nvPr/>
        </p:nvGrpSpPr>
        <p:grpSpPr>
          <a:xfrm rot="0">
            <a:off x="6690261" y="4953000"/>
            <a:ext cx="926567" cy="924896"/>
            <a:chOff x="0" y="0"/>
            <a:chExt cx="6338570" cy="6327140"/>
          </a:xfrm>
        </p:grpSpPr>
        <p:sp>
          <p:nvSpPr>
            <p:cNvPr name="Freeform 41" id="41"/>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42" id="42"/>
          <p:cNvSpPr txBox="true"/>
          <p:nvPr/>
        </p:nvSpPr>
        <p:spPr>
          <a:xfrm rot="0">
            <a:off x="6838780" y="5206082"/>
            <a:ext cx="606056" cy="371107"/>
          </a:xfrm>
          <a:prstGeom prst="rect">
            <a:avLst/>
          </a:prstGeom>
        </p:spPr>
        <p:txBody>
          <a:bodyPr anchor="t" rtlCol="false" tIns="0" lIns="0" bIns="0" rIns="0">
            <a:spAutoFit/>
          </a:bodyPr>
          <a:lstStyle/>
          <a:p>
            <a:pPr algn="ctr">
              <a:lnSpc>
                <a:spcPts val="3048"/>
              </a:lnSpc>
              <a:spcBef>
                <a:spcPct val="0"/>
              </a:spcBef>
            </a:pPr>
            <a:r>
              <a:rPr lang="en-US" b="true" sz="2177" i="true">
                <a:solidFill>
                  <a:srgbClr val="F5F5EF"/>
                </a:solidFill>
                <a:latin typeface="HK Grotesk Bold Italics"/>
                <a:ea typeface="HK Grotesk Bold Italics"/>
                <a:cs typeface="HK Grotesk Bold Italics"/>
                <a:sym typeface="HK Grotesk Bold Italics"/>
              </a:rPr>
              <a:t>5</a:t>
            </a:r>
          </a:p>
        </p:txBody>
      </p:sp>
      <p:grpSp>
        <p:nvGrpSpPr>
          <p:cNvPr name="Group 43" id="43"/>
          <p:cNvGrpSpPr/>
          <p:nvPr/>
        </p:nvGrpSpPr>
        <p:grpSpPr>
          <a:xfrm rot="0">
            <a:off x="12758576" y="5381063"/>
            <a:ext cx="3120796" cy="2061895"/>
            <a:chOff x="0" y="0"/>
            <a:chExt cx="839036" cy="554347"/>
          </a:xfrm>
        </p:grpSpPr>
        <p:sp>
          <p:nvSpPr>
            <p:cNvPr name="Freeform 44" id="44"/>
            <p:cNvSpPr/>
            <p:nvPr/>
          </p:nvSpPr>
          <p:spPr>
            <a:xfrm flipH="false" flipV="false" rot="0">
              <a:off x="0" y="0"/>
              <a:ext cx="839036" cy="554347"/>
            </a:xfrm>
            <a:custGeom>
              <a:avLst/>
              <a:gdLst/>
              <a:ahLst/>
              <a:cxnLst/>
              <a:rect r="r" b="b" t="t" l="l"/>
              <a:pathLst>
                <a:path h="554347" w="839036">
                  <a:moveTo>
                    <a:pt x="126518" y="0"/>
                  </a:moveTo>
                  <a:lnTo>
                    <a:pt x="712518" y="0"/>
                  </a:lnTo>
                  <a:cubicBezTo>
                    <a:pt x="782392" y="0"/>
                    <a:pt x="839036" y="56644"/>
                    <a:pt x="839036" y="126518"/>
                  </a:cubicBezTo>
                  <a:lnTo>
                    <a:pt x="839036" y="427829"/>
                  </a:lnTo>
                  <a:cubicBezTo>
                    <a:pt x="839036" y="461384"/>
                    <a:pt x="825707" y="493564"/>
                    <a:pt x="801980" y="517291"/>
                  </a:cubicBezTo>
                  <a:cubicBezTo>
                    <a:pt x="778253" y="541018"/>
                    <a:pt x="746073" y="554347"/>
                    <a:pt x="712518" y="554347"/>
                  </a:cubicBezTo>
                  <a:lnTo>
                    <a:pt x="126518" y="554347"/>
                  </a:lnTo>
                  <a:cubicBezTo>
                    <a:pt x="92964" y="554347"/>
                    <a:pt x="60783" y="541018"/>
                    <a:pt x="37056" y="517291"/>
                  </a:cubicBezTo>
                  <a:cubicBezTo>
                    <a:pt x="13330" y="493564"/>
                    <a:pt x="0" y="461384"/>
                    <a:pt x="0" y="427829"/>
                  </a:cubicBezTo>
                  <a:lnTo>
                    <a:pt x="0" y="126518"/>
                  </a:lnTo>
                  <a:cubicBezTo>
                    <a:pt x="0" y="92964"/>
                    <a:pt x="13330" y="60783"/>
                    <a:pt x="37056" y="37056"/>
                  </a:cubicBezTo>
                  <a:cubicBezTo>
                    <a:pt x="60783" y="13330"/>
                    <a:pt x="92964" y="0"/>
                    <a:pt x="126518" y="0"/>
                  </a:cubicBezTo>
                  <a:close/>
                </a:path>
              </a:pathLst>
            </a:custGeom>
            <a:solidFill>
              <a:srgbClr val="F5F5EF"/>
            </a:solidFill>
          </p:spPr>
        </p:sp>
        <p:sp>
          <p:nvSpPr>
            <p:cNvPr name="TextBox 45" id="45"/>
            <p:cNvSpPr txBox="true"/>
            <p:nvPr/>
          </p:nvSpPr>
          <p:spPr>
            <a:xfrm>
              <a:off x="0" y="-47625"/>
              <a:ext cx="839036" cy="601972"/>
            </a:xfrm>
            <a:prstGeom prst="rect">
              <a:avLst/>
            </a:prstGeom>
          </p:spPr>
          <p:txBody>
            <a:bodyPr anchor="ctr" rtlCol="false" tIns="50800" lIns="50800" bIns="50800" rIns="50800"/>
            <a:lstStyle/>
            <a:p>
              <a:pPr algn="ctr">
                <a:lnSpc>
                  <a:spcPts val="2940"/>
                </a:lnSpc>
              </a:pPr>
            </a:p>
          </p:txBody>
        </p:sp>
      </p:grpSp>
      <p:sp>
        <p:nvSpPr>
          <p:cNvPr name="TextBox 46" id="46"/>
          <p:cNvSpPr txBox="true"/>
          <p:nvPr/>
        </p:nvSpPr>
        <p:spPr>
          <a:xfrm rot="0">
            <a:off x="12590092" y="6198515"/>
            <a:ext cx="3406704"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Dashboard 2</a:t>
            </a:r>
          </a:p>
        </p:txBody>
      </p:sp>
      <p:grpSp>
        <p:nvGrpSpPr>
          <p:cNvPr name="Group 47" id="47"/>
          <p:cNvGrpSpPr/>
          <p:nvPr/>
        </p:nvGrpSpPr>
        <p:grpSpPr>
          <a:xfrm rot="0">
            <a:off x="12291415" y="5029715"/>
            <a:ext cx="958607" cy="956879"/>
            <a:chOff x="0" y="0"/>
            <a:chExt cx="6338570" cy="6327140"/>
          </a:xfrm>
        </p:grpSpPr>
        <p:sp>
          <p:nvSpPr>
            <p:cNvPr name="Freeform 48" id="48"/>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49" id="49"/>
          <p:cNvSpPr txBox="true"/>
          <p:nvPr/>
        </p:nvSpPr>
        <p:spPr>
          <a:xfrm rot="0">
            <a:off x="12445069" y="5293196"/>
            <a:ext cx="627013" cy="382293"/>
          </a:xfrm>
          <a:prstGeom prst="rect">
            <a:avLst/>
          </a:prstGeom>
        </p:spPr>
        <p:txBody>
          <a:bodyPr anchor="t" rtlCol="false" tIns="0" lIns="0" bIns="0" rIns="0">
            <a:spAutoFit/>
          </a:bodyPr>
          <a:lstStyle/>
          <a:p>
            <a:pPr algn="ctr">
              <a:lnSpc>
                <a:spcPts val="3154"/>
              </a:lnSpc>
              <a:spcBef>
                <a:spcPct val="0"/>
              </a:spcBef>
            </a:pPr>
            <a:r>
              <a:rPr lang="en-US" b="true" sz="2253" i="true">
                <a:solidFill>
                  <a:srgbClr val="F5F5EF"/>
                </a:solidFill>
                <a:latin typeface="HK Grotesk Bold Italics"/>
                <a:ea typeface="HK Grotesk Bold Italics"/>
                <a:cs typeface="HK Grotesk Bold Italics"/>
                <a:sym typeface="HK Grotesk Bold Italics"/>
              </a:rPr>
              <a:t>6</a:t>
            </a:r>
          </a:p>
        </p:txBody>
      </p:sp>
      <p:grpSp>
        <p:nvGrpSpPr>
          <p:cNvPr name="Group 50" id="50"/>
          <p:cNvGrpSpPr/>
          <p:nvPr/>
        </p:nvGrpSpPr>
        <p:grpSpPr>
          <a:xfrm rot="0">
            <a:off x="1846847" y="7995300"/>
            <a:ext cx="3070194" cy="2060632"/>
            <a:chOff x="0" y="0"/>
            <a:chExt cx="857730" cy="575686"/>
          </a:xfrm>
        </p:grpSpPr>
        <p:sp>
          <p:nvSpPr>
            <p:cNvPr name="Freeform 51" id="51"/>
            <p:cNvSpPr/>
            <p:nvPr/>
          </p:nvSpPr>
          <p:spPr>
            <a:xfrm flipH="false" flipV="false" rot="0">
              <a:off x="0" y="0"/>
              <a:ext cx="857730" cy="575686"/>
            </a:xfrm>
            <a:custGeom>
              <a:avLst/>
              <a:gdLst/>
              <a:ahLst/>
              <a:cxnLst/>
              <a:rect r="r" b="b" t="t" l="l"/>
              <a:pathLst>
                <a:path h="575686" w="857730">
                  <a:moveTo>
                    <a:pt x="128604" y="0"/>
                  </a:moveTo>
                  <a:lnTo>
                    <a:pt x="729127" y="0"/>
                  </a:lnTo>
                  <a:cubicBezTo>
                    <a:pt x="800153" y="0"/>
                    <a:pt x="857730" y="57578"/>
                    <a:pt x="857730" y="128604"/>
                  </a:cubicBezTo>
                  <a:lnTo>
                    <a:pt x="857730" y="447082"/>
                  </a:lnTo>
                  <a:cubicBezTo>
                    <a:pt x="857730" y="518108"/>
                    <a:pt x="800153" y="575686"/>
                    <a:pt x="729127" y="575686"/>
                  </a:cubicBezTo>
                  <a:lnTo>
                    <a:pt x="128604" y="575686"/>
                  </a:lnTo>
                  <a:cubicBezTo>
                    <a:pt x="57578" y="575686"/>
                    <a:pt x="0" y="518108"/>
                    <a:pt x="0" y="447082"/>
                  </a:cubicBezTo>
                  <a:lnTo>
                    <a:pt x="0" y="128604"/>
                  </a:lnTo>
                  <a:cubicBezTo>
                    <a:pt x="0" y="57578"/>
                    <a:pt x="57578" y="0"/>
                    <a:pt x="128604" y="0"/>
                  </a:cubicBezTo>
                  <a:close/>
                </a:path>
              </a:pathLst>
            </a:custGeom>
            <a:solidFill>
              <a:srgbClr val="F5F5EF"/>
            </a:solidFill>
          </p:spPr>
        </p:sp>
        <p:sp>
          <p:nvSpPr>
            <p:cNvPr name="TextBox 52" id="52"/>
            <p:cNvSpPr txBox="true"/>
            <p:nvPr/>
          </p:nvSpPr>
          <p:spPr>
            <a:xfrm>
              <a:off x="0" y="-47625"/>
              <a:ext cx="857730" cy="623311"/>
            </a:xfrm>
            <a:prstGeom prst="rect">
              <a:avLst/>
            </a:prstGeom>
          </p:spPr>
          <p:txBody>
            <a:bodyPr anchor="ctr" rtlCol="false" tIns="50800" lIns="50800" bIns="50800" rIns="50800"/>
            <a:lstStyle/>
            <a:p>
              <a:pPr algn="ctr">
                <a:lnSpc>
                  <a:spcPts val="2940"/>
                </a:lnSpc>
              </a:pPr>
            </a:p>
          </p:txBody>
        </p:sp>
      </p:grpSp>
      <p:sp>
        <p:nvSpPr>
          <p:cNvPr name="TextBox 53" id="53"/>
          <p:cNvSpPr txBox="true"/>
          <p:nvPr/>
        </p:nvSpPr>
        <p:spPr>
          <a:xfrm rot="0">
            <a:off x="1857270" y="8747994"/>
            <a:ext cx="3210753" cy="453726"/>
          </a:xfrm>
          <a:prstGeom prst="rect">
            <a:avLst/>
          </a:prstGeom>
        </p:spPr>
        <p:txBody>
          <a:bodyPr anchor="t" rtlCol="false" tIns="0" lIns="0" bIns="0" rIns="0">
            <a:spAutoFit/>
          </a:bodyPr>
          <a:lstStyle/>
          <a:p>
            <a:pPr algn="ctr">
              <a:lnSpc>
                <a:spcPts val="3704"/>
              </a:lnSpc>
              <a:spcBef>
                <a:spcPct val="0"/>
              </a:spcBef>
            </a:pPr>
            <a:r>
              <a:rPr lang="en-US" b="true" sz="2646">
                <a:solidFill>
                  <a:srgbClr val="000000"/>
                </a:solidFill>
                <a:latin typeface="Cormorant Garamond Bold"/>
                <a:ea typeface="Cormorant Garamond Bold"/>
                <a:cs typeface="Cormorant Garamond Bold"/>
                <a:sym typeface="Cormorant Garamond Bold"/>
              </a:rPr>
              <a:t>Dashbord 3</a:t>
            </a:r>
          </a:p>
        </p:txBody>
      </p:sp>
      <p:grpSp>
        <p:nvGrpSpPr>
          <p:cNvPr name="Group 54" id="54"/>
          <p:cNvGrpSpPr/>
          <p:nvPr/>
        </p:nvGrpSpPr>
        <p:grpSpPr>
          <a:xfrm rot="0">
            <a:off x="1416980" y="7609692"/>
            <a:ext cx="903469" cy="920847"/>
            <a:chOff x="0" y="0"/>
            <a:chExt cx="6207737" cy="6327140"/>
          </a:xfrm>
        </p:grpSpPr>
        <p:sp>
          <p:nvSpPr>
            <p:cNvPr name="Freeform 55" id="55"/>
            <p:cNvSpPr/>
            <p:nvPr/>
          </p:nvSpPr>
          <p:spPr>
            <a:xfrm flipH="false" flipV="false" rot="0">
              <a:off x="0" y="0"/>
              <a:ext cx="6209006" cy="6325870"/>
            </a:xfrm>
            <a:custGeom>
              <a:avLst/>
              <a:gdLst/>
              <a:ahLst/>
              <a:cxnLst/>
              <a:rect r="r" b="b" t="t" l="l"/>
              <a:pathLst>
                <a:path h="6325870" w="6209006">
                  <a:moveTo>
                    <a:pt x="3104490" y="734060"/>
                  </a:moveTo>
                  <a:lnTo>
                    <a:pt x="3493795" y="0"/>
                  </a:lnTo>
                  <a:lnTo>
                    <a:pt x="3692801" y="810260"/>
                  </a:lnTo>
                  <a:lnTo>
                    <a:pt x="4248774" y="198120"/>
                  </a:lnTo>
                  <a:lnTo>
                    <a:pt x="4243798" y="1033780"/>
                  </a:lnTo>
                  <a:lnTo>
                    <a:pt x="4931612" y="581660"/>
                  </a:lnTo>
                  <a:lnTo>
                    <a:pt x="4723900" y="1389380"/>
                  </a:lnTo>
                  <a:lnTo>
                    <a:pt x="5500022" y="1126490"/>
                  </a:lnTo>
                  <a:lnTo>
                    <a:pt x="5102011" y="1855470"/>
                  </a:lnTo>
                  <a:lnTo>
                    <a:pt x="5917934" y="1798320"/>
                  </a:lnTo>
                  <a:lnTo>
                    <a:pt x="5354500" y="2404110"/>
                  </a:lnTo>
                  <a:lnTo>
                    <a:pt x="6159229" y="2555240"/>
                  </a:lnTo>
                  <a:lnTo>
                    <a:pt x="5466440" y="2998470"/>
                  </a:lnTo>
                  <a:lnTo>
                    <a:pt x="6209006" y="3348990"/>
                  </a:lnTo>
                  <a:lnTo>
                    <a:pt x="5429126" y="3602990"/>
                  </a:lnTo>
                  <a:lnTo>
                    <a:pt x="6062214" y="4131310"/>
                  </a:lnTo>
                  <a:lnTo>
                    <a:pt x="5245046" y="4178300"/>
                  </a:lnTo>
                  <a:lnTo>
                    <a:pt x="5730123" y="4851400"/>
                  </a:lnTo>
                  <a:lnTo>
                    <a:pt x="4927881" y="4690110"/>
                  </a:lnTo>
                  <a:lnTo>
                    <a:pt x="5233852" y="5464810"/>
                  </a:lnTo>
                  <a:lnTo>
                    <a:pt x="4495043" y="5105400"/>
                  </a:lnTo>
                  <a:lnTo>
                    <a:pt x="4602009" y="5933440"/>
                  </a:lnTo>
                  <a:lnTo>
                    <a:pt x="3975141" y="5397500"/>
                  </a:lnTo>
                  <a:lnTo>
                    <a:pt x="3876882" y="6226810"/>
                  </a:lnTo>
                  <a:lnTo>
                    <a:pt x="3400511" y="5547360"/>
                  </a:lnTo>
                  <a:lnTo>
                    <a:pt x="3103247" y="6325870"/>
                  </a:lnTo>
                  <a:lnTo>
                    <a:pt x="2807226" y="5547360"/>
                  </a:lnTo>
                  <a:lnTo>
                    <a:pt x="2330855" y="6226810"/>
                  </a:lnTo>
                  <a:lnTo>
                    <a:pt x="2232596" y="5397500"/>
                  </a:lnTo>
                  <a:lnTo>
                    <a:pt x="1605728" y="5933440"/>
                  </a:lnTo>
                  <a:lnTo>
                    <a:pt x="1712694" y="5105400"/>
                  </a:lnTo>
                  <a:lnTo>
                    <a:pt x="973885" y="5466080"/>
                  </a:lnTo>
                  <a:lnTo>
                    <a:pt x="1279856" y="4691380"/>
                  </a:lnTo>
                  <a:lnTo>
                    <a:pt x="477614" y="4852670"/>
                  </a:lnTo>
                  <a:lnTo>
                    <a:pt x="962691" y="4179570"/>
                  </a:lnTo>
                  <a:lnTo>
                    <a:pt x="145523" y="4132580"/>
                  </a:lnTo>
                  <a:lnTo>
                    <a:pt x="778610" y="3604260"/>
                  </a:lnTo>
                  <a:lnTo>
                    <a:pt x="0" y="3350260"/>
                  </a:lnTo>
                  <a:lnTo>
                    <a:pt x="742540" y="2999740"/>
                  </a:lnTo>
                  <a:lnTo>
                    <a:pt x="48508" y="2555240"/>
                  </a:lnTo>
                  <a:lnTo>
                    <a:pt x="853237" y="2404110"/>
                  </a:lnTo>
                  <a:lnTo>
                    <a:pt x="289802" y="1798320"/>
                  </a:lnTo>
                  <a:lnTo>
                    <a:pt x="1105726" y="1855470"/>
                  </a:lnTo>
                  <a:lnTo>
                    <a:pt x="707714" y="1126490"/>
                  </a:lnTo>
                  <a:lnTo>
                    <a:pt x="1483837" y="1389380"/>
                  </a:lnTo>
                  <a:lnTo>
                    <a:pt x="1276125" y="581660"/>
                  </a:lnTo>
                  <a:lnTo>
                    <a:pt x="1963938" y="1033780"/>
                  </a:lnTo>
                  <a:lnTo>
                    <a:pt x="1958963" y="198120"/>
                  </a:lnTo>
                  <a:lnTo>
                    <a:pt x="2514936" y="810260"/>
                  </a:lnTo>
                  <a:lnTo>
                    <a:pt x="2713941" y="0"/>
                  </a:lnTo>
                  <a:lnTo>
                    <a:pt x="3104490" y="734060"/>
                  </a:lnTo>
                  <a:close/>
                </a:path>
              </a:pathLst>
            </a:custGeom>
            <a:solidFill>
              <a:srgbClr val="406B41"/>
            </a:solidFill>
          </p:spPr>
        </p:sp>
      </p:grpSp>
      <p:sp>
        <p:nvSpPr>
          <p:cNvPr name="TextBox 56" id="56"/>
          <p:cNvSpPr txBox="true"/>
          <p:nvPr/>
        </p:nvSpPr>
        <p:spPr>
          <a:xfrm rot="0">
            <a:off x="1561797" y="7861457"/>
            <a:ext cx="590948" cy="369691"/>
          </a:xfrm>
          <a:prstGeom prst="rect">
            <a:avLst/>
          </a:prstGeom>
        </p:spPr>
        <p:txBody>
          <a:bodyPr anchor="t" rtlCol="false" tIns="0" lIns="0" bIns="0" rIns="0">
            <a:spAutoFit/>
          </a:bodyPr>
          <a:lstStyle/>
          <a:p>
            <a:pPr algn="ctr">
              <a:lnSpc>
                <a:spcPts val="3035"/>
              </a:lnSpc>
              <a:spcBef>
                <a:spcPct val="0"/>
              </a:spcBef>
            </a:pPr>
            <a:r>
              <a:rPr lang="en-US" b="true" sz="2168" i="true">
                <a:solidFill>
                  <a:srgbClr val="F5F5EF"/>
                </a:solidFill>
                <a:latin typeface="HK Grotesk Bold Italics"/>
                <a:ea typeface="HK Grotesk Bold Italics"/>
                <a:cs typeface="HK Grotesk Bold Italics"/>
                <a:sym typeface="HK Grotesk Bold Italics"/>
              </a:rPr>
              <a:t>7</a:t>
            </a:r>
          </a:p>
        </p:txBody>
      </p:sp>
      <p:grpSp>
        <p:nvGrpSpPr>
          <p:cNvPr name="Group 57" id="57"/>
          <p:cNvGrpSpPr/>
          <p:nvPr/>
        </p:nvGrpSpPr>
        <p:grpSpPr>
          <a:xfrm rot="0">
            <a:off x="7137449" y="7976799"/>
            <a:ext cx="3184714" cy="2093375"/>
            <a:chOff x="0" y="0"/>
            <a:chExt cx="875808" cy="575686"/>
          </a:xfrm>
        </p:grpSpPr>
        <p:sp>
          <p:nvSpPr>
            <p:cNvPr name="Freeform 58" id="58"/>
            <p:cNvSpPr/>
            <p:nvPr/>
          </p:nvSpPr>
          <p:spPr>
            <a:xfrm flipH="false" flipV="false" rot="0">
              <a:off x="0" y="0"/>
              <a:ext cx="875808" cy="575686"/>
            </a:xfrm>
            <a:custGeom>
              <a:avLst/>
              <a:gdLst/>
              <a:ahLst/>
              <a:cxnLst/>
              <a:rect r="r" b="b" t="t" l="l"/>
              <a:pathLst>
                <a:path h="575686" w="875808">
                  <a:moveTo>
                    <a:pt x="123979" y="0"/>
                  </a:moveTo>
                  <a:lnTo>
                    <a:pt x="751829" y="0"/>
                  </a:lnTo>
                  <a:cubicBezTo>
                    <a:pt x="784710" y="0"/>
                    <a:pt x="816245" y="13062"/>
                    <a:pt x="839495" y="36313"/>
                  </a:cubicBezTo>
                  <a:cubicBezTo>
                    <a:pt x="862746" y="59563"/>
                    <a:pt x="875808" y="91098"/>
                    <a:pt x="875808" y="123979"/>
                  </a:cubicBezTo>
                  <a:lnTo>
                    <a:pt x="875808" y="451707"/>
                  </a:lnTo>
                  <a:cubicBezTo>
                    <a:pt x="875808" y="484588"/>
                    <a:pt x="862746" y="516123"/>
                    <a:pt x="839495" y="539373"/>
                  </a:cubicBezTo>
                  <a:cubicBezTo>
                    <a:pt x="816245" y="562624"/>
                    <a:pt x="784710" y="575686"/>
                    <a:pt x="751829" y="575686"/>
                  </a:cubicBezTo>
                  <a:lnTo>
                    <a:pt x="123979" y="575686"/>
                  </a:lnTo>
                  <a:cubicBezTo>
                    <a:pt x="91098" y="575686"/>
                    <a:pt x="59563" y="562624"/>
                    <a:pt x="36313" y="539373"/>
                  </a:cubicBezTo>
                  <a:cubicBezTo>
                    <a:pt x="13062" y="516123"/>
                    <a:pt x="0" y="484588"/>
                    <a:pt x="0" y="451707"/>
                  </a:cubicBezTo>
                  <a:lnTo>
                    <a:pt x="0" y="123979"/>
                  </a:lnTo>
                  <a:cubicBezTo>
                    <a:pt x="0" y="91098"/>
                    <a:pt x="13062" y="59563"/>
                    <a:pt x="36313" y="36313"/>
                  </a:cubicBezTo>
                  <a:cubicBezTo>
                    <a:pt x="59563" y="13062"/>
                    <a:pt x="91098" y="0"/>
                    <a:pt x="123979" y="0"/>
                  </a:cubicBezTo>
                  <a:close/>
                </a:path>
              </a:pathLst>
            </a:custGeom>
            <a:solidFill>
              <a:srgbClr val="F5F5EF"/>
            </a:solidFill>
          </p:spPr>
        </p:sp>
        <p:sp>
          <p:nvSpPr>
            <p:cNvPr name="TextBox 59" id="59"/>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60" id="60"/>
          <p:cNvSpPr txBox="true"/>
          <p:nvPr/>
        </p:nvSpPr>
        <p:spPr>
          <a:xfrm rot="0">
            <a:off x="7137449" y="8800132"/>
            <a:ext cx="3330515"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Insights</a:t>
            </a:r>
          </a:p>
        </p:txBody>
      </p:sp>
      <p:grpSp>
        <p:nvGrpSpPr>
          <p:cNvPr name="Group 61" id="61"/>
          <p:cNvGrpSpPr/>
          <p:nvPr/>
        </p:nvGrpSpPr>
        <p:grpSpPr>
          <a:xfrm rot="0">
            <a:off x="6680736" y="7633309"/>
            <a:ext cx="937169" cy="935479"/>
            <a:chOff x="0" y="0"/>
            <a:chExt cx="6338570" cy="6327140"/>
          </a:xfrm>
        </p:grpSpPr>
        <p:sp>
          <p:nvSpPr>
            <p:cNvPr name="Freeform 62" id="62"/>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63" id="63"/>
          <p:cNvSpPr txBox="true"/>
          <p:nvPr/>
        </p:nvSpPr>
        <p:spPr>
          <a:xfrm rot="0">
            <a:off x="6830954" y="7889831"/>
            <a:ext cx="612990" cy="374809"/>
          </a:xfrm>
          <a:prstGeom prst="rect">
            <a:avLst/>
          </a:prstGeom>
        </p:spPr>
        <p:txBody>
          <a:bodyPr anchor="t" rtlCol="false" tIns="0" lIns="0" bIns="0" rIns="0">
            <a:spAutoFit/>
          </a:bodyPr>
          <a:lstStyle/>
          <a:p>
            <a:pPr algn="ctr">
              <a:lnSpc>
                <a:spcPts val="3083"/>
              </a:lnSpc>
              <a:spcBef>
                <a:spcPct val="0"/>
              </a:spcBef>
            </a:pPr>
            <a:r>
              <a:rPr lang="en-US" b="true" sz="2202" i="true">
                <a:solidFill>
                  <a:srgbClr val="F5F5EF"/>
                </a:solidFill>
                <a:latin typeface="HK Grotesk Bold Italics"/>
                <a:ea typeface="HK Grotesk Bold Italics"/>
                <a:cs typeface="HK Grotesk Bold Italics"/>
                <a:sym typeface="HK Grotesk Bold Italics"/>
              </a:rPr>
              <a:t>8</a:t>
            </a:r>
          </a:p>
        </p:txBody>
      </p:sp>
      <p:grpSp>
        <p:nvGrpSpPr>
          <p:cNvPr name="Group 64" id="64"/>
          <p:cNvGrpSpPr/>
          <p:nvPr/>
        </p:nvGrpSpPr>
        <p:grpSpPr>
          <a:xfrm rot="0">
            <a:off x="12805393" y="8018795"/>
            <a:ext cx="3156505" cy="2085488"/>
            <a:chOff x="0" y="0"/>
            <a:chExt cx="839036" cy="554347"/>
          </a:xfrm>
        </p:grpSpPr>
        <p:sp>
          <p:nvSpPr>
            <p:cNvPr name="Freeform 65" id="65"/>
            <p:cNvSpPr/>
            <p:nvPr/>
          </p:nvSpPr>
          <p:spPr>
            <a:xfrm flipH="false" flipV="false" rot="0">
              <a:off x="0" y="0"/>
              <a:ext cx="839036" cy="554347"/>
            </a:xfrm>
            <a:custGeom>
              <a:avLst/>
              <a:gdLst/>
              <a:ahLst/>
              <a:cxnLst/>
              <a:rect r="r" b="b" t="t" l="l"/>
              <a:pathLst>
                <a:path h="554347" w="839036">
                  <a:moveTo>
                    <a:pt x="125087" y="0"/>
                  </a:moveTo>
                  <a:lnTo>
                    <a:pt x="713949" y="0"/>
                  </a:lnTo>
                  <a:cubicBezTo>
                    <a:pt x="747124" y="0"/>
                    <a:pt x="778941" y="13179"/>
                    <a:pt x="802399" y="36637"/>
                  </a:cubicBezTo>
                  <a:cubicBezTo>
                    <a:pt x="825858" y="60096"/>
                    <a:pt x="839036" y="91912"/>
                    <a:pt x="839036" y="125087"/>
                  </a:cubicBezTo>
                  <a:lnTo>
                    <a:pt x="839036" y="429260"/>
                  </a:lnTo>
                  <a:cubicBezTo>
                    <a:pt x="839036" y="462435"/>
                    <a:pt x="825858" y="494252"/>
                    <a:pt x="802399" y="517710"/>
                  </a:cubicBezTo>
                  <a:cubicBezTo>
                    <a:pt x="778941" y="541169"/>
                    <a:pt x="747124" y="554347"/>
                    <a:pt x="713949" y="554347"/>
                  </a:cubicBezTo>
                  <a:lnTo>
                    <a:pt x="125087" y="554347"/>
                  </a:lnTo>
                  <a:cubicBezTo>
                    <a:pt x="91912" y="554347"/>
                    <a:pt x="60096" y="541169"/>
                    <a:pt x="36637" y="517710"/>
                  </a:cubicBezTo>
                  <a:cubicBezTo>
                    <a:pt x="13179" y="494252"/>
                    <a:pt x="0" y="462435"/>
                    <a:pt x="0" y="429260"/>
                  </a:cubicBezTo>
                  <a:lnTo>
                    <a:pt x="0" y="125087"/>
                  </a:lnTo>
                  <a:cubicBezTo>
                    <a:pt x="0" y="91912"/>
                    <a:pt x="13179" y="60096"/>
                    <a:pt x="36637" y="36637"/>
                  </a:cubicBezTo>
                  <a:cubicBezTo>
                    <a:pt x="60096" y="13179"/>
                    <a:pt x="91912" y="0"/>
                    <a:pt x="125087" y="0"/>
                  </a:cubicBezTo>
                  <a:close/>
                </a:path>
              </a:pathLst>
            </a:custGeom>
            <a:solidFill>
              <a:srgbClr val="F5F5EF"/>
            </a:solidFill>
          </p:spPr>
        </p:sp>
        <p:sp>
          <p:nvSpPr>
            <p:cNvPr name="TextBox 66" id="66"/>
            <p:cNvSpPr txBox="true"/>
            <p:nvPr/>
          </p:nvSpPr>
          <p:spPr>
            <a:xfrm>
              <a:off x="0" y="-47625"/>
              <a:ext cx="839036" cy="601972"/>
            </a:xfrm>
            <a:prstGeom prst="rect">
              <a:avLst/>
            </a:prstGeom>
          </p:spPr>
          <p:txBody>
            <a:bodyPr anchor="ctr" rtlCol="false" tIns="50800" lIns="50800" bIns="50800" rIns="50800"/>
            <a:lstStyle/>
            <a:p>
              <a:pPr algn="ctr">
                <a:lnSpc>
                  <a:spcPts val="2940"/>
                </a:lnSpc>
              </a:pPr>
            </a:p>
          </p:txBody>
        </p:sp>
      </p:grpSp>
      <p:sp>
        <p:nvSpPr>
          <p:cNvPr name="TextBox 67" id="67"/>
          <p:cNvSpPr txBox="true"/>
          <p:nvPr/>
        </p:nvSpPr>
        <p:spPr>
          <a:xfrm rot="0">
            <a:off x="12634981" y="8846145"/>
            <a:ext cx="3445685"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Conclusion</a:t>
            </a:r>
          </a:p>
        </p:txBody>
      </p:sp>
      <p:grpSp>
        <p:nvGrpSpPr>
          <p:cNvPr name="Group 68" id="68"/>
          <p:cNvGrpSpPr/>
          <p:nvPr/>
        </p:nvGrpSpPr>
        <p:grpSpPr>
          <a:xfrm rot="0">
            <a:off x="12332886" y="7663426"/>
            <a:ext cx="969576" cy="967828"/>
            <a:chOff x="0" y="0"/>
            <a:chExt cx="6338570" cy="6327140"/>
          </a:xfrm>
        </p:grpSpPr>
        <p:sp>
          <p:nvSpPr>
            <p:cNvPr name="Freeform 69" id="69"/>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70" id="70"/>
          <p:cNvSpPr txBox="true"/>
          <p:nvPr/>
        </p:nvSpPr>
        <p:spPr>
          <a:xfrm rot="0">
            <a:off x="12488299" y="7930467"/>
            <a:ext cx="634188" cy="386123"/>
          </a:xfrm>
          <a:prstGeom prst="rect">
            <a:avLst/>
          </a:prstGeom>
        </p:spPr>
        <p:txBody>
          <a:bodyPr anchor="t" rtlCol="false" tIns="0" lIns="0" bIns="0" rIns="0">
            <a:spAutoFit/>
          </a:bodyPr>
          <a:lstStyle/>
          <a:p>
            <a:pPr algn="ctr">
              <a:lnSpc>
                <a:spcPts val="3190"/>
              </a:lnSpc>
              <a:spcBef>
                <a:spcPct val="0"/>
              </a:spcBef>
            </a:pPr>
            <a:r>
              <a:rPr lang="en-US" b="true" sz="2278" i="true">
                <a:solidFill>
                  <a:srgbClr val="F5F5EF"/>
                </a:solidFill>
                <a:latin typeface="HK Grotesk Bold Italics"/>
                <a:ea typeface="HK Grotesk Bold Italics"/>
                <a:cs typeface="HK Grotesk Bold Italics"/>
                <a:sym typeface="HK Grotesk Bold Italics"/>
              </a:rPr>
              <a:t>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473675" y="0"/>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6000"/>
              </a:blip>
              <a:stretch>
                <a:fillRect l="0" t="-8452" r="0" b="-8452"/>
              </a:stretch>
            </a:blipFill>
          </p:spPr>
        </p:sp>
      </p:grpSp>
      <p:grpSp>
        <p:nvGrpSpPr>
          <p:cNvPr name="Group 4" id="4"/>
          <p:cNvGrpSpPr/>
          <p:nvPr/>
        </p:nvGrpSpPr>
        <p:grpSpPr>
          <a:xfrm rot="0">
            <a:off x="0" y="9233354"/>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grpSp>
        <p:nvGrpSpPr>
          <p:cNvPr name="Group 6" id="6"/>
          <p:cNvGrpSpPr/>
          <p:nvPr/>
        </p:nvGrpSpPr>
        <p:grpSpPr>
          <a:xfrm rot="0">
            <a:off x="467559" y="1350978"/>
            <a:ext cx="8320736" cy="3645510"/>
            <a:chOff x="0" y="0"/>
            <a:chExt cx="2181733" cy="955929"/>
          </a:xfrm>
        </p:grpSpPr>
        <p:sp>
          <p:nvSpPr>
            <p:cNvPr name="Freeform 7" id="7"/>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8" id="8"/>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422966" y="66984"/>
            <a:ext cx="9316242"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00000"/>
                </a:solidFill>
                <a:latin typeface="Cormorant Garamond Bold"/>
                <a:ea typeface="Cormorant Garamond Bold"/>
                <a:cs typeface="Cormorant Garamond Bold"/>
                <a:sym typeface="Cormorant Garamond Bold"/>
              </a:rPr>
              <a:t>Project Overview</a:t>
            </a:r>
          </a:p>
        </p:txBody>
      </p:sp>
      <p:sp>
        <p:nvSpPr>
          <p:cNvPr name="TextBox 10" id="10"/>
          <p:cNvSpPr txBox="true"/>
          <p:nvPr/>
        </p:nvSpPr>
        <p:spPr>
          <a:xfrm rot="0">
            <a:off x="17563486" y="9481641"/>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3</a:t>
            </a:r>
          </a:p>
        </p:txBody>
      </p:sp>
      <p:sp>
        <p:nvSpPr>
          <p:cNvPr name="TextBox 11" id="11"/>
          <p:cNvSpPr txBox="true"/>
          <p:nvPr/>
        </p:nvSpPr>
        <p:spPr>
          <a:xfrm rot="0">
            <a:off x="418442" y="9506498"/>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12" id="12"/>
          <p:cNvSpPr txBox="true"/>
          <p:nvPr/>
        </p:nvSpPr>
        <p:spPr>
          <a:xfrm rot="0">
            <a:off x="675398" y="2360930"/>
            <a:ext cx="8112897" cy="272542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Guild A Display"/>
                <a:ea typeface="Guild A Display"/>
                <a:cs typeface="Guild A Display"/>
                <a:sym typeface="Guild A Display"/>
              </a:rPr>
              <a:t>This project analyzes how s</a:t>
            </a:r>
            <a:r>
              <a:rPr lang="en-US" sz="2199">
                <a:solidFill>
                  <a:srgbClr val="FFFFFF"/>
                </a:solidFill>
                <a:latin typeface="Guild A Display"/>
                <a:ea typeface="Guild A Display"/>
                <a:cs typeface="Guild A Display"/>
                <a:sym typeface="Guild A Display"/>
              </a:rPr>
              <a:t>ocial media usage affects users’ productivity, focus, sleep, and digital wellbeing.</a:t>
            </a:r>
          </a:p>
          <a:p>
            <a:pPr algn="l">
              <a:lnSpc>
                <a:spcPts val="3079"/>
              </a:lnSpc>
              <a:spcBef>
                <a:spcPct val="0"/>
              </a:spcBef>
            </a:pPr>
            <a:r>
              <a:rPr lang="en-US" sz="2199">
                <a:solidFill>
                  <a:srgbClr val="FFFFFF"/>
                </a:solidFill>
                <a:latin typeface="Guild A Display"/>
                <a:ea typeface="Guild A Display"/>
                <a:cs typeface="Guild A Display"/>
                <a:sym typeface="Guild A Display"/>
              </a:rPr>
              <a:t>Using data about social media habits, productivity and cognition, sleep patterns, mental wellbeing, and demographic characteristics,</a:t>
            </a:r>
          </a:p>
          <a:p>
            <a:pPr algn="l">
              <a:lnSpc>
                <a:spcPts val="3079"/>
              </a:lnSpc>
              <a:spcBef>
                <a:spcPct val="0"/>
              </a:spcBef>
            </a:pPr>
            <a:r>
              <a:rPr lang="en-US" sz="2199">
                <a:solidFill>
                  <a:srgbClr val="FFFFFF"/>
                </a:solidFill>
                <a:latin typeface="Guild A Display"/>
                <a:ea typeface="Guild A Display"/>
                <a:cs typeface="Guild A Display"/>
                <a:sym typeface="Guild A Display"/>
              </a:rPr>
              <a:t> the project aims to identify important patterns and relationships between digital behavior and daily performance.</a:t>
            </a:r>
          </a:p>
          <a:p>
            <a:pPr algn="l">
              <a:lnSpc>
                <a:spcPts val="3079"/>
              </a:lnSpc>
              <a:spcBef>
                <a:spcPct val="0"/>
              </a:spcBef>
            </a:pPr>
          </a:p>
        </p:txBody>
      </p:sp>
      <p:grpSp>
        <p:nvGrpSpPr>
          <p:cNvPr name="Group 13" id="13"/>
          <p:cNvGrpSpPr/>
          <p:nvPr/>
        </p:nvGrpSpPr>
        <p:grpSpPr>
          <a:xfrm rot="0">
            <a:off x="472082" y="5176212"/>
            <a:ext cx="8320736" cy="3645510"/>
            <a:chOff x="0" y="0"/>
            <a:chExt cx="2181733" cy="955929"/>
          </a:xfrm>
        </p:grpSpPr>
        <p:sp>
          <p:nvSpPr>
            <p:cNvPr name="Freeform 14" id="14"/>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15" id="15"/>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394391" y="5252412"/>
            <a:ext cx="8333899" cy="3128010"/>
          </a:xfrm>
          <a:prstGeom prst="rect">
            <a:avLst/>
          </a:prstGeom>
        </p:spPr>
        <p:txBody>
          <a:bodyPr anchor="t" rtlCol="false" tIns="0" lIns="0" bIns="0" rIns="0">
            <a:spAutoFit/>
          </a:bodyPr>
          <a:lstStyle/>
          <a:p>
            <a:pPr algn="l">
              <a:lnSpc>
                <a:spcPts val="2940"/>
              </a:lnSpc>
            </a:pPr>
          </a:p>
          <a:p>
            <a:pPr algn="l">
              <a:lnSpc>
                <a:spcPts val="3499"/>
              </a:lnSpc>
              <a:spcBef>
                <a:spcPct val="0"/>
              </a:spcBef>
            </a:pPr>
            <a:r>
              <a:rPr lang="en-US" sz="2499">
                <a:solidFill>
                  <a:srgbClr val="F5F5EF"/>
                </a:solidFill>
                <a:latin typeface="Guild A Display"/>
                <a:ea typeface="Guild A Display"/>
                <a:cs typeface="Guild A Display"/>
                <a:sym typeface="Guild A Display"/>
              </a:rPr>
              <a:t>                                            </a:t>
            </a:r>
            <a:r>
              <a:rPr lang="en-US" b="true" sz="2499">
                <a:solidFill>
                  <a:srgbClr val="F5F5EF"/>
                </a:solidFill>
                <a:latin typeface="Guild A Display Bold"/>
                <a:ea typeface="Guild A Display Bold"/>
                <a:cs typeface="Guild A Display Bold"/>
                <a:sym typeface="Guild A Display Bold"/>
              </a:rPr>
              <a:t> </a:t>
            </a:r>
          </a:p>
          <a:p>
            <a:pPr algn="l">
              <a:lnSpc>
                <a:spcPts val="3079"/>
              </a:lnSpc>
              <a:spcBef>
                <a:spcPct val="0"/>
              </a:spcBef>
            </a:pP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SQL — Data analysis and answering business questions.</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Python — Data cleaning, preprocessing, and exploratory analysis.</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Power BI — Interactive dashboards, KPIs, and data visualization.</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Excel-- Interactive dashboards.</a:t>
            </a:r>
          </a:p>
          <a:p>
            <a:pPr algn="ctr">
              <a:lnSpc>
                <a:spcPts val="2940"/>
              </a:lnSpc>
              <a:spcBef>
                <a:spcPct val="0"/>
              </a:spcBef>
            </a:pPr>
          </a:p>
        </p:txBody>
      </p:sp>
      <p:sp>
        <p:nvSpPr>
          <p:cNvPr name="TextBox 17" id="17"/>
          <p:cNvSpPr txBox="true"/>
          <p:nvPr/>
        </p:nvSpPr>
        <p:spPr>
          <a:xfrm rot="0">
            <a:off x="2866799" y="1590358"/>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 Project overview</a:t>
            </a:r>
          </a:p>
        </p:txBody>
      </p:sp>
      <p:grpSp>
        <p:nvGrpSpPr>
          <p:cNvPr name="Group 18" id="18"/>
          <p:cNvGrpSpPr/>
          <p:nvPr/>
        </p:nvGrpSpPr>
        <p:grpSpPr>
          <a:xfrm rot="0">
            <a:off x="9441487" y="1350978"/>
            <a:ext cx="8320736" cy="3645510"/>
            <a:chOff x="0" y="0"/>
            <a:chExt cx="2181733" cy="955929"/>
          </a:xfrm>
        </p:grpSpPr>
        <p:sp>
          <p:nvSpPr>
            <p:cNvPr name="Freeform 19" id="19"/>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20" id="20"/>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21" id="21"/>
          <p:cNvSpPr txBox="true"/>
          <p:nvPr/>
        </p:nvSpPr>
        <p:spPr>
          <a:xfrm rot="0">
            <a:off x="9374913" y="2515486"/>
            <a:ext cx="8267421" cy="2334895"/>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 Analyze s</a:t>
            </a:r>
            <a:r>
              <a:rPr lang="en-US" sz="2199">
                <a:solidFill>
                  <a:srgbClr val="FFFFFF"/>
                </a:solidFill>
                <a:latin typeface="Guild A Display"/>
                <a:ea typeface="Guild A Display"/>
                <a:cs typeface="Guild A Display"/>
                <a:sym typeface="Guild A Display"/>
              </a:rPr>
              <a:t>ocial media usage patterns.</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Explore its impact on productivity and focus.</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Examine the relationship with sleep and wellbeing.</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Identify demographic differences in digital wellbeing and addiction risk.</a:t>
            </a:r>
          </a:p>
          <a:p>
            <a:pPr algn="l">
              <a:lnSpc>
                <a:spcPts val="3079"/>
              </a:lnSpc>
              <a:spcBef>
                <a:spcPct val="0"/>
              </a:spcBef>
            </a:pPr>
          </a:p>
        </p:txBody>
      </p:sp>
      <p:sp>
        <p:nvSpPr>
          <p:cNvPr name="TextBox 22" id="22"/>
          <p:cNvSpPr txBox="true"/>
          <p:nvPr/>
        </p:nvSpPr>
        <p:spPr>
          <a:xfrm rot="0">
            <a:off x="12153805" y="1590358"/>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Main</a:t>
            </a:r>
            <a:r>
              <a:rPr lang="en-US" b="true" sz="2499">
                <a:solidFill>
                  <a:srgbClr val="FFFFFF"/>
                </a:solidFill>
                <a:latin typeface="Guild A Display Bold"/>
                <a:ea typeface="Guild A Display Bold"/>
                <a:cs typeface="Guild A Display Bold"/>
                <a:sym typeface="Guild A Display Bold"/>
              </a:rPr>
              <a:t> Objectives</a:t>
            </a:r>
          </a:p>
        </p:txBody>
      </p:sp>
      <p:grpSp>
        <p:nvGrpSpPr>
          <p:cNvPr name="Group 23" id="23"/>
          <p:cNvGrpSpPr/>
          <p:nvPr/>
        </p:nvGrpSpPr>
        <p:grpSpPr>
          <a:xfrm rot="0">
            <a:off x="9499705" y="5176212"/>
            <a:ext cx="8320736" cy="3645510"/>
            <a:chOff x="0" y="0"/>
            <a:chExt cx="2181733" cy="955929"/>
          </a:xfrm>
        </p:grpSpPr>
        <p:sp>
          <p:nvSpPr>
            <p:cNvPr name="Freeform 24" id="24"/>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25" id="25"/>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26" id="26"/>
          <p:cNvSpPr txBox="true"/>
          <p:nvPr/>
        </p:nvSpPr>
        <p:spPr>
          <a:xfrm rot="0">
            <a:off x="9603625" y="6315244"/>
            <a:ext cx="8112897" cy="1944370"/>
          </a:xfrm>
          <a:prstGeom prst="rect">
            <a:avLst/>
          </a:prstGeom>
        </p:spPr>
        <p:txBody>
          <a:bodyPr anchor="t" rtlCol="false" tIns="0" lIns="0" bIns="0" rIns="0">
            <a:spAutoFit/>
          </a:bodyPr>
          <a:lstStyle/>
          <a:p>
            <a:pPr algn="l">
              <a:lnSpc>
                <a:spcPts val="3079"/>
              </a:lnSpc>
            </a:pPr>
            <a:r>
              <a:rPr lang="en-US" sz="2199">
                <a:solidFill>
                  <a:srgbClr val="FFFFFF"/>
                </a:solidFill>
                <a:latin typeface="Guild A Display"/>
                <a:ea typeface="Guild A Display"/>
                <a:cs typeface="Guild A Display"/>
                <a:sym typeface="Guild A Display"/>
              </a:rPr>
              <a:t>The analysis</a:t>
            </a:r>
            <a:r>
              <a:rPr lang="en-US" sz="2199">
                <a:solidFill>
                  <a:srgbClr val="FFFFFF"/>
                </a:solidFill>
                <a:latin typeface="Guild A Display"/>
                <a:ea typeface="Guild A Display"/>
                <a:cs typeface="Guild A Display"/>
                <a:sym typeface="Guild A Display"/>
              </a:rPr>
              <a:t> is divided into four main topics:</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Usage &amp; Habits</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&amp; Productivity</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Sleep &amp; Mental Wellbeing</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Digital Wellbeing &amp; User Profile</a:t>
            </a:r>
          </a:p>
        </p:txBody>
      </p:sp>
      <p:sp>
        <p:nvSpPr>
          <p:cNvPr name="TextBox 27" id="27"/>
          <p:cNvSpPr txBox="true"/>
          <p:nvPr/>
        </p:nvSpPr>
        <p:spPr>
          <a:xfrm rot="0">
            <a:off x="12153805" y="5388144"/>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Project Structure</a:t>
            </a:r>
          </a:p>
        </p:txBody>
      </p:sp>
      <p:sp>
        <p:nvSpPr>
          <p:cNvPr name="TextBox 28" id="28"/>
          <p:cNvSpPr txBox="true"/>
          <p:nvPr/>
        </p:nvSpPr>
        <p:spPr>
          <a:xfrm rot="0">
            <a:off x="472082" y="5328612"/>
            <a:ext cx="7964488"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 Tools Used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4009577"/>
            <a:ext cx="18288000" cy="8476870"/>
            <a:chOff x="0" y="0"/>
            <a:chExt cx="1369949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E1E1D4">
                <a:alpha val="70980"/>
              </a:srgbClr>
            </a:solidFill>
          </p:spPr>
        </p:sp>
      </p:grpSp>
      <p:grpSp>
        <p:nvGrpSpPr>
          <p:cNvPr name="Group 6" id="6"/>
          <p:cNvGrpSpPr/>
          <p:nvPr/>
        </p:nvGrpSpPr>
        <p:grpSpPr>
          <a:xfrm rot="0">
            <a:off x="0" y="8889740"/>
            <a:ext cx="18288000" cy="1411968"/>
            <a:chOff x="0" y="0"/>
            <a:chExt cx="6186311" cy="477629"/>
          </a:xfrm>
        </p:grpSpPr>
        <p:sp>
          <p:nvSpPr>
            <p:cNvPr name="Freeform 7" id="7">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4</a:t>
            </a:r>
          </a:p>
        </p:txBody>
      </p:sp>
      <p:sp>
        <p:nvSpPr>
          <p:cNvPr name="TextBox 9" id="9"/>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10" id="10"/>
          <p:cNvSpPr txBox="true"/>
          <p:nvPr/>
        </p:nvSpPr>
        <p:spPr>
          <a:xfrm rot="0">
            <a:off x="187900" y="52872"/>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Metadata Exploration</a:t>
            </a:r>
          </a:p>
          <a:p>
            <a:pPr algn="l">
              <a:lnSpc>
                <a:spcPts val="8959"/>
              </a:lnSpc>
              <a:spcBef>
                <a:spcPct val="0"/>
              </a:spcBef>
            </a:pPr>
          </a:p>
        </p:txBody>
      </p:sp>
      <p:grpSp>
        <p:nvGrpSpPr>
          <p:cNvPr name="Group 11" id="11"/>
          <p:cNvGrpSpPr/>
          <p:nvPr/>
        </p:nvGrpSpPr>
        <p:grpSpPr>
          <a:xfrm rot="0">
            <a:off x="2549875" y="1419392"/>
            <a:ext cx="4050125" cy="2485410"/>
            <a:chOff x="0" y="0"/>
            <a:chExt cx="1066700" cy="654594"/>
          </a:xfrm>
        </p:grpSpPr>
        <p:sp>
          <p:nvSpPr>
            <p:cNvPr name="Freeform 12" id="12"/>
            <p:cNvSpPr/>
            <p:nvPr/>
          </p:nvSpPr>
          <p:spPr>
            <a:xfrm flipH="false" flipV="false" rot="0">
              <a:off x="0" y="0"/>
              <a:ext cx="1066700" cy="654594"/>
            </a:xfrm>
            <a:custGeom>
              <a:avLst/>
              <a:gdLst/>
              <a:ahLst/>
              <a:cxnLst/>
              <a:rect r="r" b="b" t="t" l="l"/>
              <a:pathLst>
                <a:path h="654594" w="1066700">
                  <a:moveTo>
                    <a:pt x="97488" y="0"/>
                  </a:moveTo>
                  <a:lnTo>
                    <a:pt x="969212" y="0"/>
                  </a:lnTo>
                  <a:cubicBezTo>
                    <a:pt x="995067" y="0"/>
                    <a:pt x="1019864" y="10271"/>
                    <a:pt x="1038146" y="28554"/>
                  </a:cubicBezTo>
                  <a:cubicBezTo>
                    <a:pt x="1056429" y="46836"/>
                    <a:pt x="1066700" y="71632"/>
                    <a:pt x="1066700" y="97488"/>
                  </a:cubicBezTo>
                  <a:lnTo>
                    <a:pt x="1066700" y="557106"/>
                  </a:lnTo>
                  <a:cubicBezTo>
                    <a:pt x="1066700" y="610947"/>
                    <a:pt x="1023053" y="654594"/>
                    <a:pt x="969212" y="654594"/>
                  </a:cubicBezTo>
                  <a:lnTo>
                    <a:pt x="97488" y="654594"/>
                  </a:lnTo>
                  <a:cubicBezTo>
                    <a:pt x="43647" y="654594"/>
                    <a:pt x="0" y="610947"/>
                    <a:pt x="0" y="557106"/>
                  </a:cubicBezTo>
                  <a:lnTo>
                    <a:pt x="0" y="97488"/>
                  </a:lnTo>
                  <a:cubicBezTo>
                    <a:pt x="0" y="43647"/>
                    <a:pt x="43647" y="0"/>
                    <a:pt x="97488" y="0"/>
                  </a:cubicBezTo>
                  <a:close/>
                </a:path>
              </a:pathLst>
            </a:custGeom>
            <a:solidFill>
              <a:srgbClr val="304543"/>
            </a:solidFill>
          </p:spPr>
        </p:sp>
        <p:sp>
          <p:nvSpPr>
            <p:cNvPr name="TextBox 13" id="13"/>
            <p:cNvSpPr txBox="true"/>
            <p:nvPr/>
          </p:nvSpPr>
          <p:spPr>
            <a:xfrm>
              <a:off x="0" y="-47625"/>
              <a:ext cx="1066700" cy="702219"/>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2483962" y="1419392"/>
            <a:ext cx="4201002" cy="698797"/>
            <a:chOff x="0" y="0"/>
            <a:chExt cx="1106437" cy="184045"/>
          </a:xfrm>
        </p:grpSpPr>
        <p:sp>
          <p:nvSpPr>
            <p:cNvPr name="Freeform 15" id="15"/>
            <p:cNvSpPr/>
            <p:nvPr/>
          </p:nvSpPr>
          <p:spPr>
            <a:xfrm flipH="false" flipV="false" rot="0">
              <a:off x="0" y="0"/>
              <a:ext cx="1106437" cy="184045"/>
            </a:xfrm>
            <a:custGeom>
              <a:avLst/>
              <a:gdLst/>
              <a:ahLst/>
              <a:cxnLst/>
              <a:rect r="r" b="b" t="t" l="l"/>
              <a:pathLst>
                <a:path h="184045" w="1106437">
                  <a:moveTo>
                    <a:pt x="92023" y="0"/>
                  </a:moveTo>
                  <a:lnTo>
                    <a:pt x="1014414" y="0"/>
                  </a:lnTo>
                  <a:cubicBezTo>
                    <a:pt x="1065237" y="0"/>
                    <a:pt x="1106437" y="41200"/>
                    <a:pt x="1106437" y="92023"/>
                  </a:cubicBezTo>
                  <a:lnTo>
                    <a:pt x="1106437" y="92023"/>
                  </a:lnTo>
                  <a:cubicBezTo>
                    <a:pt x="1106437" y="142845"/>
                    <a:pt x="1065237" y="184045"/>
                    <a:pt x="1014414" y="184045"/>
                  </a:cubicBezTo>
                  <a:lnTo>
                    <a:pt x="92023" y="184045"/>
                  </a:lnTo>
                  <a:cubicBezTo>
                    <a:pt x="41200" y="184045"/>
                    <a:pt x="0" y="142845"/>
                    <a:pt x="0" y="92023"/>
                  </a:cubicBezTo>
                  <a:lnTo>
                    <a:pt x="0" y="92023"/>
                  </a:lnTo>
                  <a:cubicBezTo>
                    <a:pt x="0" y="41200"/>
                    <a:pt x="41200" y="0"/>
                    <a:pt x="92023" y="0"/>
                  </a:cubicBezTo>
                  <a:close/>
                </a:path>
              </a:pathLst>
            </a:custGeom>
            <a:solidFill>
              <a:srgbClr val="C1DFC1"/>
            </a:solidFill>
          </p:spPr>
        </p:sp>
        <p:sp>
          <p:nvSpPr>
            <p:cNvPr name="TextBox 16" id="16"/>
            <p:cNvSpPr txBox="true"/>
            <p:nvPr/>
          </p:nvSpPr>
          <p:spPr>
            <a:xfrm>
              <a:off x="0" y="-47625"/>
              <a:ext cx="1106437" cy="231670"/>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3173172" y="2070564"/>
            <a:ext cx="2594863" cy="1480185"/>
          </a:xfrm>
          <a:prstGeom prst="rect">
            <a:avLst/>
          </a:prstGeom>
        </p:spPr>
        <p:txBody>
          <a:bodyPr anchor="t" rtlCol="false" tIns="0" lIns="0" bIns="0" rIns="0">
            <a:spAutoFit/>
          </a:bodyPr>
          <a:lstStyle/>
          <a:p>
            <a:pPr algn="ctr">
              <a:lnSpc>
                <a:spcPts val="2940"/>
              </a:lnSpc>
            </a:pPr>
          </a:p>
          <a:p>
            <a:pPr algn="ctr">
              <a:lnSpc>
                <a:spcPts val="2940"/>
              </a:lnSpc>
              <a:spcBef>
                <a:spcPct val="0"/>
              </a:spcBef>
            </a:pPr>
            <a:r>
              <a:rPr lang="en-US" sz="2100">
                <a:solidFill>
                  <a:srgbClr val="F5F5EF"/>
                </a:solidFill>
                <a:latin typeface="Guild A Display"/>
                <a:ea typeface="Guild A Display"/>
                <a:cs typeface="Guild A Display"/>
                <a:sym typeface="Guild A Display"/>
              </a:rPr>
              <a:t> S</a:t>
            </a:r>
            <a:r>
              <a:rPr lang="en-US" sz="2100">
                <a:solidFill>
                  <a:srgbClr val="F5F5EF"/>
                </a:solidFill>
                <a:latin typeface="Guild A Display"/>
                <a:ea typeface="Guild A Display"/>
                <a:cs typeface="Guild A Display"/>
                <a:sym typeface="Guild A Display"/>
              </a:rPr>
              <a:t>ocial Media, Productivity &amp; Digital Wellbeing</a:t>
            </a:r>
          </a:p>
        </p:txBody>
      </p:sp>
      <p:sp>
        <p:nvSpPr>
          <p:cNvPr name="TextBox 18" id="18"/>
          <p:cNvSpPr txBox="true"/>
          <p:nvPr/>
        </p:nvSpPr>
        <p:spPr>
          <a:xfrm rot="0">
            <a:off x="3173172" y="1487803"/>
            <a:ext cx="2594863" cy="504826"/>
          </a:xfrm>
          <a:prstGeom prst="rect">
            <a:avLst/>
          </a:prstGeom>
        </p:spPr>
        <p:txBody>
          <a:bodyPr anchor="t" rtlCol="false" tIns="0" lIns="0" bIns="0" rIns="0">
            <a:spAutoFit/>
          </a:bodyPr>
          <a:lstStyle/>
          <a:p>
            <a:pPr algn="ctr">
              <a:lnSpc>
                <a:spcPts val="4199"/>
              </a:lnSpc>
              <a:spcBef>
                <a:spcPct val="0"/>
              </a:spcBef>
            </a:pPr>
            <a:r>
              <a:rPr lang="en-US" sz="2999">
                <a:solidFill>
                  <a:srgbClr val="304543"/>
                </a:solidFill>
                <a:latin typeface="Guild A Display"/>
                <a:ea typeface="Guild A Display"/>
                <a:cs typeface="Guild A Display"/>
                <a:sym typeface="Guild A Display"/>
              </a:rPr>
              <a:t>D</a:t>
            </a:r>
            <a:r>
              <a:rPr lang="en-US" sz="2999">
                <a:solidFill>
                  <a:srgbClr val="304543"/>
                </a:solidFill>
                <a:latin typeface="Guild A Display"/>
                <a:ea typeface="Guild A Display"/>
                <a:cs typeface="Guild A Display"/>
                <a:sym typeface="Guild A Display"/>
              </a:rPr>
              <a:t>ataset</a:t>
            </a:r>
          </a:p>
        </p:txBody>
      </p:sp>
      <p:grpSp>
        <p:nvGrpSpPr>
          <p:cNvPr name="Group 19" id="19"/>
          <p:cNvGrpSpPr/>
          <p:nvPr/>
        </p:nvGrpSpPr>
        <p:grpSpPr>
          <a:xfrm rot="0">
            <a:off x="11333484" y="1419392"/>
            <a:ext cx="4050125" cy="2485410"/>
            <a:chOff x="0" y="0"/>
            <a:chExt cx="1066700" cy="654594"/>
          </a:xfrm>
        </p:grpSpPr>
        <p:sp>
          <p:nvSpPr>
            <p:cNvPr name="Freeform 20" id="20"/>
            <p:cNvSpPr/>
            <p:nvPr/>
          </p:nvSpPr>
          <p:spPr>
            <a:xfrm flipH="false" flipV="false" rot="0">
              <a:off x="0" y="0"/>
              <a:ext cx="1066700" cy="654594"/>
            </a:xfrm>
            <a:custGeom>
              <a:avLst/>
              <a:gdLst/>
              <a:ahLst/>
              <a:cxnLst/>
              <a:rect r="r" b="b" t="t" l="l"/>
              <a:pathLst>
                <a:path h="654594" w="1066700">
                  <a:moveTo>
                    <a:pt x="97488" y="0"/>
                  </a:moveTo>
                  <a:lnTo>
                    <a:pt x="969212" y="0"/>
                  </a:lnTo>
                  <a:cubicBezTo>
                    <a:pt x="995067" y="0"/>
                    <a:pt x="1019864" y="10271"/>
                    <a:pt x="1038146" y="28554"/>
                  </a:cubicBezTo>
                  <a:cubicBezTo>
                    <a:pt x="1056429" y="46836"/>
                    <a:pt x="1066700" y="71632"/>
                    <a:pt x="1066700" y="97488"/>
                  </a:cubicBezTo>
                  <a:lnTo>
                    <a:pt x="1066700" y="557106"/>
                  </a:lnTo>
                  <a:cubicBezTo>
                    <a:pt x="1066700" y="610947"/>
                    <a:pt x="1023053" y="654594"/>
                    <a:pt x="969212" y="654594"/>
                  </a:cubicBezTo>
                  <a:lnTo>
                    <a:pt x="97488" y="654594"/>
                  </a:lnTo>
                  <a:cubicBezTo>
                    <a:pt x="43647" y="654594"/>
                    <a:pt x="0" y="610947"/>
                    <a:pt x="0" y="557106"/>
                  </a:cubicBezTo>
                  <a:lnTo>
                    <a:pt x="0" y="97488"/>
                  </a:lnTo>
                  <a:cubicBezTo>
                    <a:pt x="0" y="43647"/>
                    <a:pt x="43647" y="0"/>
                    <a:pt x="97488" y="0"/>
                  </a:cubicBezTo>
                  <a:close/>
                </a:path>
              </a:pathLst>
            </a:custGeom>
            <a:solidFill>
              <a:srgbClr val="304543"/>
            </a:solidFill>
          </p:spPr>
        </p:sp>
        <p:sp>
          <p:nvSpPr>
            <p:cNvPr name="TextBox 21" id="21"/>
            <p:cNvSpPr txBox="true"/>
            <p:nvPr/>
          </p:nvSpPr>
          <p:spPr>
            <a:xfrm>
              <a:off x="0" y="-47625"/>
              <a:ext cx="1066700" cy="702219"/>
            </a:xfrm>
            <a:prstGeom prst="rect">
              <a:avLst/>
            </a:prstGeom>
          </p:spPr>
          <p:txBody>
            <a:bodyPr anchor="ctr" rtlCol="false" tIns="50800" lIns="50800" bIns="50800" rIns="50800"/>
            <a:lstStyle/>
            <a:p>
              <a:pPr algn="ctr">
                <a:lnSpc>
                  <a:spcPts val="2940"/>
                </a:lnSpc>
              </a:pPr>
            </a:p>
          </p:txBody>
        </p:sp>
      </p:grpSp>
      <p:grpSp>
        <p:nvGrpSpPr>
          <p:cNvPr name="Group 22" id="22"/>
          <p:cNvGrpSpPr/>
          <p:nvPr/>
        </p:nvGrpSpPr>
        <p:grpSpPr>
          <a:xfrm rot="0">
            <a:off x="11267570" y="1419392"/>
            <a:ext cx="4201002" cy="698797"/>
            <a:chOff x="0" y="0"/>
            <a:chExt cx="1106437" cy="184045"/>
          </a:xfrm>
        </p:grpSpPr>
        <p:sp>
          <p:nvSpPr>
            <p:cNvPr name="Freeform 23" id="23"/>
            <p:cNvSpPr/>
            <p:nvPr/>
          </p:nvSpPr>
          <p:spPr>
            <a:xfrm flipH="false" flipV="false" rot="0">
              <a:off x="0" y="0"/>
              <a:ext cx="1106437" cy="184045"/>
            </a:xfrm>
            <a:custGeom>
              <a:avLst/>
              <a:gdLst/>
              <a:ahLst/>
              <a:cxnLst/>
              <a:rect r="r" b="b" t="t" l="l"/>
              <a:pathLst>
                <a:path h="184045" w="1106437">
                  <a:moveTo>
                    <a:pt x="92023" y="0"/>
                  </a:moveTo>
                  <a:lnTo>
                    <a:pt x="1014414" y="0"/>
                  </a:lnTo>
                  <a:cubicBezTo>
                    <a:pt x="1065237" y="0"/>
                    <a:pt x="1106437" y="41200"/>
                    <a:pt x="1106437" y="92023"/>
                  </a:cubicBezTo>
                  <a:lnTo>
                    <a:pt x="1106437" y="92023"/>
                  </a:lnTo>
                  <a:cubicBezTo>
                    <a:pt x="1106437" y="142845"/>
                    <a:pt x="1065237" y="184045"/>
                    <a:pt x="1014414" y="184045"/>
                  </a:cubicBezTo>
                  <a:lnTo>
                    <a:pt x="92023" y="184045"/>
                  </a:lnTo>
                  <a:cubicBezTo>
                    <a:pt x="41200" y="184045"/>
                    <a:pt x="0" y="142845"/>
                    <a:pt x="0" y="92023"/>
                  </a:cubicBezTo>
                  <a:lnTo>
                    <a:pt x="0" y="92023"/>
                  </a:lnTo>
                  <a:cubicBezTo>
                    <a:pt x="0" y="41200"/>
                    <a:pt x="41200" y="0"/>
                    <a:pt x="92023" y="0"/>
                  </a:cubicBezTo>
                  <a:close/>
                </a:path>
              </a:pathLst>
            </a:custGeom>
            <a:solidFill>
              <a:srgbClr val="C1DFC1"/>
            </a:solidFill>
          </p:spPr>
        </p:sp>
        <p:sp>
          <p:nvSpPr>
            <p:cNvPr name="TextBox 24" id="24"/>
            <p:cNvSpPr txBox="true"/>
            <p:nvPr/>
          </p:nvSpPr>
          <p:spPr>
            <a:xfrm>
              <a:off x="0" y="-47625"/>
              <a:ext cx="1106437" cy="231670"/>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12321547" y="2430609"/>
            <a:ext cx="2093049" cy="941070"/>
          </a:xfrm>
          <a:prstGeom prst="rect">
            <a:avLst/>
          </a:prstGeom>
        </p:spPr>
        <p:txBody>
          <a:bodyPr anchor="t" rtlCol="false" tIns="0" lIns="0" bIns="0" rIns="0">
            <a:spAutoFit/>
          </a:bodyPr>
          <a:lstStyle/>
          <a:p>
            <a:pPr algn="ctr">
              <a:lnSpc>
                <a:spcPts val="3779"/>
              </a:lnSpc>
              <a:spcBef>
                <a:spcPct val="0"/>
              </a:spcBef>
            </a:pPr>
            <a:r>
              <a:rPr lang="en-US" sz="2699">
                <a:solidFill>
                  <a:srgbClr val="F5F5EF"/>
                </a:solidFill>
                <a:latin typeface="Guild A Display"/>
                <a:ea typeface="Guild A Display"/>
                <a:cs typeface="Guild A Display"/>
                <a:sym typeface="Guild A Display"/>
              </a:rPr>
              <a:t> </a:t>
            </a:r>
            <a:r>
              <a:rPr lang="en-US" sz="2699">
                <a:solidFill>
                  <a:srgbClr val="F5F5EF"/>
                </a:solidFill>
                <a:latin typeface="Guild A Display"/>
                <a:ea typeface="Guild A Display"/>
                <a:cs typeface="Guild A Display"/>
                <a:sym typeface="Guild A Display"/>
              </a:rPr>
              <a:t>300</a:t>
            </a:r>
            <a:r>
              <a:rPr lang="en-US" sz="2699">
                <a:solidFill>
                  <a:srgbClr val="F5F5EF"/>
                </a:solidFill>
                <a:latin typeface="Guild A Display"/>
                <a:ea typeface="Guild A Display"/>
                <a:cs typeface="Guild A Display"/>
                <a:sym typeface="Guild A Display"/>
              </a:rPr>
              <a:t> P</a:t>
            </a:r>
            <a:r>
              <a:rPr lang="en-US" sz="2699">
                <a:solidFill>
                  <a:srgbClr val="F5F5EF"/>
                </a:solidFill>
                <a:latin typeface="Guild A Display"/>
                <a:ea typeface="Guild A Display"/>
                <a:cs typeface="Guild A Display"/>
                <a:sym typeface="Guild A Display"/>
              </a:rPr>
              <a:t>a</a:t>
            </a:r>
            <a:r>
              <a:rPr lang="en-US" sz="2699">
                <a:solidFill>
                  <a:srgbClr val="F5F5EF"/>
                </a:solidFill>
                <a:latin typeface="Guild A Display"/>
                <a:ea typeface="Guild A Display"/>
                <a:cs typeface="Guild A Display"/>
                <a:sym typeface="Guild A Display"/>
              </a:rPr>
              <a:t>rti</a:t>
            </a:r>
            <a:r>
              <a:rPr lang="en-US" sz="2699">
                <a:solidFill>
                  <a:srgbClr val="F5F5EF"/>
                </a:solidFill>
                <a:latin typeface="Guild A Display"/>
                <a:ea typeface="Guild A Display"/>
                <a:cs typeface="Guild A Display"/>
                <a:sym typeface="Guild A Display"/>
              </a:rPr>
              <a:t>c</a:t>
            </a:r>
            <a:r>
              <a:rPr lang="en-US" sz="2699">
                <a:solidFill>
                  <a:srgbClr val="F5F5EF"/>
                </a:solidFill>
                <a:latin typeface="Guild A Display"/>
                <a:ea typeface="Guild A Display"/>
                <a:cs typeface="Guild A Display"/>
                <a:sym typeface="Guild A Display"/>
              </a:rPr>
              <a:t>i</a:t>
            </a:r>
            <a:r>
              <a:rPr lang="en-US" sz="2699">
                <a:solidFill>
                  <a:srgbClr val="F5F5EF"/>
                </a:solidFill>
                <a:latin typeface="Guild A Display"/>
                <a:ea typeface="Guild A Display"/>
                <a:cs typeface="Guild A Display"/>
                <a:sym typeface="Guild A Display"/>
              </a:rPr>
              <a:t>p</a:t>
            </a:r>
            <a:r>
              <a:rPr lang="en-US" sz="2699">
                <a:solidFill>
                  <a:srgbClr val="F5F5EF"/>
                </a:solidFill>
                <a:latin typeface="Guild A Display"/>
                <a:ea typeface="Guild A Display"/>
                <a:cs typeface="Guild A Display"/>
                <a:sym typeface="Guild A Display"/>
              </a:rPr>
              <a:t>an</a:t>
            </a:r>
            <a:r>
              <a:rPr lang="en-US" sz="2699">
                <a:solidFill>
                  <a:srgbClr val="F5F5EF"/>
                </a:solidFill>
                <a:latin typeface="Guild A Display"/>
                <a:ea typeface="Guild A Display"/>
                <a:cs typeface="Guild A Display"/>
                <a:sym typeface="Guild A Display"/>
              </a:rPr>
              <a:t>ts</a:t>
            </a:r>
          </a:p>
        </p:txBody>
      </p:sp>
      <p:sp>
        <p:nvSpPr>
          <p:cNvPr name="TextBox 26" id="26"/>
          <p:cNvSpPr txBox="true"/>
          <p:nvPr/>
        </p:nvSpPr>
        <p:spPr>
          <a:xfrm rot="0">
            <a:off x="11956780" y="1487803"/>
            <a:ext cx="2594863" cy="504826"/>
          </a:xfrm>
          <a:prstGeom prst="rect">
            <a:avLst/>
          </a:prstGeom>
        </p:spPr>
        <p:txBody>
          <a:bodyPr anchor="t" rtlCol="false" tIns="0" lIns="0" bIns="0" rIns="0">
            <a:spAutoFit/>
          </a:bodyPr>
          <a:lstStyle/>
          <a:p>
            <a:pPr algn="ctr">
              <a:lnSpc>
                <a:spcPts val="4199"/>
              </a:lnSpc>
              <a:spcBef>
                <a:spcPct val="0"/>
              </a:spcBef>
            </a:pPr>
            <a:r>
              <a:rPr lang="en-US" sz="2999">
                <a:solidFill>
                  <a:srgbClr val="304543"/>
                </a:solidFill>
                <a:latin typeface="Guild A Display"/>
                <a:ea typeface="Guild A Display"/>
                <a:cs typeface="Guild A Display"/>
                <a:sym typeface="Guild A Display"/>
              </a:rPr>
              <a:t>Record</a:t>
            </a:r>
            <a:r>
              <a:rPr lang="en-US" sz="2999">
                <a:solidFill>
                  <a:srgbClr val="304543"/>
                </a:solidFill>
                <a:latin typeface="Guild A Display"/>
                <a:ea typeface="Guild A Display"/>
                <a:cs typeface="Guild A Display"/>
                <a:sym typeface="Guild A Display"/>
              </a:rPr>
              <a:t>s</a:t>
            </a:r>
          </a:p>
        </p:txBody>
      </p:sp>
      <p:sp>
        <p:nvSpPr>
          <p:cNvPr name="TextBox 27" id="27"/>
          <p:cNvSpPr txBox="true"/>
          <p:nvPr/>
        </p:nvSpPr>
        <p:spPr>
          <a:xfrm rot="0">
            <a:off x="3424062" y="4912687"/>
            <a:ext cx="11439877" cy="3468491"/>
          </a:xfrm>
          <a:prstGeom prst="rect">
            <a:avLst/>
          </a:prstGeom>
        </p:spPr>
        <p:txBody>
          <a:bodyPr anchor="t" rtlCol="false" tIns="0" lIns="0" bIns="0" rIns="0">
            <a:spAutoFit/>
          </a:bodyPr>
          <a:lstStyle/>
          <a:p>
            <a:pPr algn="ctr">
              <a:lnSpc>
                <a:spcPts val="3975"/>
              </a:lnSpc>
              <a:spcBef>
                <a:spcPct val="0"/>
              </a:spcBef>
            </a:pPr>
            <a:r>
              <a:rPr lang="en-US" sz="2839">
                <a:solidFill>
                  <a:srgbClr val="304543"/>
                </a:solidFill>
                <a:latin typeface="Guild A Display"/>
                <a:ea typeface="Guild A Display"/>
                <a:cs typeface="Guild A Display"/>
                <a:sym typeface="Guild A Display"/>
              </a:rPr>
              <a:t>This dataset explores the relationship between s</a:t>
            </a:r>
            <a:r>
              <a:rPr lang="en-US" sz="2839">
                <a:solidFill>
                  <a:srgbClr val="304543"/>
                </a:solidFill>
                <a:latin typeface="Guild A Display"/>
                <a:ea typeface="Guild A Display"/>
                <a:cs typeface="Guild A Display"/>
                <a:sym typeface="Guild A Display"/>
              </a:rPr>
              <a:t>ocial media usage and its potential impact on productivity and cognitive performance. It contains information about users’ social media habits, daily screen time, work/study patterns, attention span, deep-work duration, task completion, and productivity-related behaviors. The dataset also includes demographic and behavioral attributes that provide additional context for analyzing productivity patterns.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6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5</a:t>
            </a:r>
          </a:p>
        </p:txBody>
      </p:sp>
      <p:sp>
        <p:nvSpPr>
          <p:cNvPr name="TextBox 7" id="7"/>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87900" y="252897"/>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Python Workflow</a:t>
            </a:r>
          </a:p>
          <a:p>
            <a:pPr algn="l">
              <a:lnSpc>
                <a:spcPts val="8959"/>
              </a:lnSpc>
              <a:spcBef>
                <a:spcPct val="0"/>
              </a:spcBef>
            </a:pPr>
          </a:p>
        </p:txBody>
      </p:sp>
      <p:grpSp>
        <p:nvGrpSpPr>
          <p:cNvPr name="Group 9" id="9"/>
          <p:cNvGrpSpPr/>
          <p:nvPr/>
        </p:nvGrpSpPr>
        <p:grpSpPr>
          <a:xfrm rot="0">
            <a:off x="287586" y="1759010"/>
            <a:ext cx="4050125" cy="6768981"/>
            <a:chOff x="0" y="0"/>
            <a:chExt cx="1066700" cy="1782777"/>
          </a:xfrm>
        </p:grpSpPr>
        <p:sp>
          <p:nvSpPr>
            <p:cNvPr name="Freeform 10" id="10"/>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11" id="11"/>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221673" y="1759010"/>
            <a:ext cx="4201002" cy="1191230"/>
            <a:chOff x="0" y="0"/>
            <a:chExt cx="1106437" cy="313739"/>
          </a:xfrm>
        </p:grpSpPr>
        <p:sp>
          <p:nvSpPr>
            <p:cNvPr name="Freeform 13" id="13"/>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14" id="14"/>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4831488" y="1759010"/>
            <a:ext cx="4050125" cy="6768981"/>
            <a:chOff x="0" y="0"/>
            <a:chExt cx="1066700" cy="1782777"/>
          </a:xfrm>
        </p:grpSpPr>
        <p:sp>
          <p:nvSpPr>
            <p:cNvPr name="Freeform 16" id="16"/>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17" id="17"/>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4756050" y="1759010"/>
            <a:ext cx="4201002" cy="1191230"/>
            <a:chOff x="0" y="0"/>
            <a:chExt cx="1106437" cy="313739"/>
          </a:xfrm>
        </p:grpSpPr>
        <p:sp>
          <p:nvSpPr>
            <p:cNvPr name="Freeform 19" id="19"/>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20" id="20"/>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9356340" y="1759010"/>
            <a:ext cx="4050125" cy="6768981"/>
            <a:chOff x="0" y="0"/>
            <a:chExt cx="1066700" cy="1782777"/>
          </a:xfrm>
        </p:grpSpPr>
        <p:sp>
          <p:nvSpPr>
            <p:cNvPr name="Freeform 22" id="22"/>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23" id="23"/>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24" id="24"/>
          <p:cNvGrpSpPr/>
          <p:nvPr/>
        </p:nvGrpSpPr>
        <p:grpSpPr>
          <a:xfrm rot="0">
            <a:off x="9290427" y="1759010"/>
            <a:ext cx="4201002" cy="1191230"/>
            <a:chOff x="0" y="0"/>
            <a:chExt cx="1106437" cy="313739"/>
          </a:xfrm>
        </p:grpSpPr>
        <p:sp>
          <p:nvSpPr>
            <p:cNvPr name="Freeform 25" id="25"/>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26" id="26"/>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grpSp>
        <p:nvGrpSpPr>
          <p:cNvPr name="Group 27" id="27"/>
          <p:cNvGrpSpPr/>
          <p:nvPr/>
        </p:nvGrpSpPr>
        <p:grpSpPr>
          <a:xfrm rot="0">
            <a:off x="13888837" y="1735417"/>
            <a:ext cx="4050125" cy="6768981"/>
            <a:chOff x="0" y="0"/>
            <a:chExt cx="1066700" cy="1782777"/>
          </a:xfrm>
        </p:grpSpPr>
        <p:sp>
          <p:nvSpPr>
            <p:cNvPr name="Freeform 28" id="28"/>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29" id="29"/>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30" id="30"/>
          <p:cNvGrpSpPr/>
          <p:nvPr/>
        </p:nvGrpSpPr>
        <p:grpSpPr>
          <a:xfrm rot="0">
            <a:off x="13822923" y="1735417"/>
            <a:ext cx="4201002" cy="1214822"/>
            <a:chOff x="0" y="0"/>
            <a:chExt cx="1106437" cy="319953"/>
          </a:xfrm>
        </p:grpSpPr>
        <p:sp>
          <p:nvSpPr>
            <p:cNvPr name="Freeform 31" id="31"/>
            <p:cNvSpPr/>
            <p:nvPr/>
          </p:nvSpPr>
          <p:spPr>
            <a:xfrm flipH="false" flipV="false" rot="0">
              <a:off x="0" y="0"/>
              <a:ext cx="1106437" cy="319953"/>
            </a:xfrm>
            <a:custGeom>
              <a:avLst/>
              <a:gdLst/>
              <a:ahLst/>
              <a:cxnLst/>
              <a:rect r="r" b="b" t="t" l="l"/>
              <a:pathLst>
                <a:path h="319953" w="1106437">
                  <a:moveTo>
                    <a:pt x="93987" y="0"/>
                  </a:moveTo>
                  <a:lnTo>
                    <a:pt x="1012450" y="0"/>
                  </a:lnTo>
                  <a:cubicBezTo>
                    <a:pt x="1037377" y="0"/>
                    <a:pt x="1061283" y="9902"/>
                    <a:pt x="1078909" y="27528"/>
                  </a:cubicBezTo>
                  <a:cubicBezTo>
                    <a:pt x="1096535" y="45154"/>
                    <a:pt x="1106437" y="69060"/>
                    <a:pt x="1106437" y="93987"/>
                  </a:cubicBezTo>
                  <a:lnTo>
                    <a:pt x="1106437" y="225967"/>
                  </a:lnTo>
                  <a:cubicBezTo>
                    <a:pt x="1106437" y="277874"/>
                    <a:pt x="1064358" y="319953"/>
                    <a:pt x="1012450" y="319953"/>
                  </a:cubicBezTo>
                  <a:lnTo>
                    <a:pt x="93987" y="319953"/>
                  </a:lnTo>
                  <a:cubicBezTo>
                    <a:pt x="69060" y="319953"/>
                    <a:pt x="45154" y="310051"/>
                    <a:pt x="27528" y="292425"/>
                  </a:cubicBezTo>
                  <a:cubicBezTo>
                    <a:pt x="9902" y="274799"/>
                    <a:pt x="0" y="250893"/>
                    <a:pt x="0" y="225967"/>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32" id="32"/>
            <p:cNvSpPr txBox="true"/>
            <p:nvPr/>
          </p:nvSpPr>
          <p:spPr>
            <a:xfrm>
              <a:off x="0" y="-47625"/>
              <a:ext cx="1106437" cy="367578"/>
            </a:xfrm>
            <a:prstGeom prst="rect">
              <a:avLst/>
            </a:prstGeom>
          </p:spPr>
          <p:txBody>
            <a:bodyPr anchor="ctr" rtlCol="false" tIns="50800" lIns="50800" bIns="50800" rIns="50800"/>
            <a:lstStyle/>
            <a:p>
              <a:pPr algn="ctr">
                <a:lnSpc>
                  <a:spcPts val="2940"/>
                </a:lnSpc>
              </a:pPr>
            </a:p>
          </p:txBody>
        </p:sp>
      </p:grpSp>
      <p:sp>
        <p:nvSpPr>
          <p:cNvPr name="TextBox 33" id="33"/>
          <p:cNvSpPr txBox="true"/>
          <p:nvPr/>
        </p:nvSpPr>
        <p:spPr>
          <a:xfrm rot="0">
            <a:off x="1028700" y="2061840"/>
            <a:ext cx="2603659"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1.Data Loading</a:t>
            </a:r>
          </a:p>
        </p:txBody>
      </p:sp>
      <p:sp>
        <p:nvSpPr>
          <p:cNvPr name="TextBox 34" id="34"/>
          <p:cNvSpPr txBox="true"/>
          <p:nvPr/>
        </p:nvSpPr>
        <p:spPr>
          <a:xfrm rot="0">
            <a:off x="14370105" y="2111371"/>
            <a:ext cx="4301271"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4.Data Validation</a:t>
            </a:r>
          </a:p>
        </p:txBody>
      </p:sp>
      <p:sp>
        <p:nvSpPr>
          <p:cNvPr name="TextBox 35" id="35"/>
          <p:cNvSpPr txBox="true"/>
          <p:nvPr/>
        </p:nvSpPr>
        <p:spPr>
          <a:xfrm rot="0">
            <a:off x="9993848" y="2111371"/>
            <a:ext cx="2794159"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3.Data Cleaning</a:t>
            </a:r>
          </a:p>
        </p:txBody>
      </p:sp>
      <p:sp>
        <p:nvSpPr>
          <p:cNvPr name="TextBox 36" id="36"/>
          <p:cNvSpPr txBox="true"/>
          <p:nvPr/>
        </p:nvSpPr>
        <p:spPr>
          <a:xfrm rot="0">
            <a:off x="5078825" y="2073637"/>
            <a:ext cx="4312512"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2.Data Exploration</a:t>
            </a:r>
          </a:p>
        </p:txBody>
      </p:sp>
      <p:sp>
        <p:nvSpPr>
          <p:cNvPr name="TextBox 37" id="37"/>
          <p:cNvSpPr txBox="true"/>
          <p:nvPr/>
        </p:nvSpPr>
        <p:spPr>
          <a:xfrm rot="0">
            <a:off x="418442" y="3271330"/>
            <a:ext cx="3127198" cy="869949"/>
          </a:xfrm>
          <a:prstGeom prst="rect">
            <a:avLst/>
          </a:prstGeom>
        </p:spPr>
        <p:txBody>
          <a:bodyPr anchor="t" rtlCol="false" tIns="0" lIns="0" bIns="0" rIns="0">
            <a:spAutoFit/>
          </a:bodyPr>
          <a:lstStyle/>
          <a:p>
            <a:pPr algn="l">
              <a:lnSpc>
                <a:spcPts val="3500"/>
              </a:lnSpc>
              <a:spcBef>
                <a:spcPct val="0"/>
              </a:spcBef>
            </a:pPr>
            <a:r>
              <a:rPr lang="en-US" sz="2500">
                <a:solidFill>
                  <a:srgbClr val="F5F5EF"/>
                </a:solidFill>
                <a:latin typeface="Guild A Display"/>
                <a:ea typeface="Guild A Display"/>
                <a:cs typeface="Guild A Display"/>
                <a:sym typeface="Guild A Display"/>
              </a:rPr>
              <a:t>L</a:t>
            </a:r>
            <a:r>
              <a:rPr lang="en-US" sz="2500">
                <a:solidFill>
                  <a:srgbClr val="F5F5EF"/>
                </a:solidFill>
                <a:latin typeface="Guild A Display"/>
                <a:ea typeface="Guild A Display"/>
                <a:cs typeface="Guild A Display"/>
                <a:sym typeface="Guild A Display"/>
              </a:rPr>
              <a:t>oaded the raw </a:t>
            </a:r>
          </a:p>
          <a:p>
            <a:pPr algn="l">
              <a:lnSpc>
                <a:spcPts val="3500"/>
              </a:lnSpc>
              <a:spcBef>
                <a:spcPct val="0"/>
              </a:spcBef>
            </a:pPr>
            <a:r>
              <a:rPr lang="en-US" sz="2500">
                <a:solidFill>
                  <a:srgbClr val="F5F5EF"/>
                </a:solidFill>
                <a:latin typeface="Guild A Display"/>
                <a:ea typeface="Guild A Display"/>
                <a:cs typeface="Guild A Display"/>
                <a:sym typeface="Guild A Display"/>
              </a:rPr>
              <a:t>dataset using Pandas.</a:t>
            </a:r>
          </a:p>
        </p:txBody>
      </p:sp>
      <p:sp>
        <p:nvSpPr>
          <p:cNvPr name="TextBox 38" id="38"/>
          <p:cNvSpPr txBox="true"/>
          <p:nvPr/>
        </p:nvSpPr>
        <p:spPr>
          <a:xfrm rot="0">
            <a:off x="5133154" y="3061779"/>
            <a:ext cx="3446793" cy="21748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Check</a:t>
            </a:r>
            <a:r>
              <a:rPr lang="en-US" sz="2499">
                <a:solidFill>
                  <a:srgbClr val="F5F5EF"/>
                </a:solidFill>
                <a:latin typeface="Guild A Display"/>
                <a:ea typeface="Guild A Display"/>
                <a:cs typeface="Guild A Display"/>
                <a:sym typeface="Guild A Display"/>
              </a:rPr>
              <a:t>ed the dataset shape, columns, data types, missing values, duplicates, and statistics..</a:t>
            </a:r>
          </a:p>
        </p:txBody>
      </p:sp>
      <p:sp>
        <p:nvSpPr>
          <p:cNvPr name="TextBox 39" id="39"/>
          <p:cNvSpPr txBox="true"/>
          <p:nvPr/>
        </p:nvSpPr>
        <p:spPr>
          <a:xfrm rot="0">
            <a:off x="9588339" y="3061779"/>
            <a:ext cx="3586128" cy="12985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Handl</a:t>
            </a:r>
            <a:r>
              <a:rPr lang="en-US" sz="2499">
                <a:solidFill>
                  <a:srgbClr val="F5F5EF"/>
                </a:solidFill>
                <a:latin typeface="Guild A Display"/>
                <a:ea typeface="Guild A Display"/>
                <a:cs typeface="Guild A Display"/>
                <a:sym typeface="Guild A Display"/>
              </a:rPr>
              <a:t>ed data quality issues and removed unnecessary columns.</a:t>
            </a:r>
          </a:p>
        </p:txBody>
      </p:sp>
      <p:sp>
        <p:nvSpPr>
          <p:cNvPr name="TextBox 40" id="40"/>
          <p:cNvSpPr txBox="true"/>
          <p:nvPr/>
        </p:nvSpPr>
        <p:spPr>
          <a:xfrm rot="0">
            <a:off x="14027211" y="3061779"/>
            <a:ext cx="3586128" cy="12985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Ch</a:t>
            </a:r>
            <a:r>
              <a:rPr lang="en-US" sz="2499">
                <a:solidFill>
                  <a:srgbClr val="F5F5EF"/>
                </a:solidFill>
                <a:latin typeface="Guild A Display"/>
                <a:ea typeface="Guild A Display"/>
                <a:cs typeface="Guild A Display"/>
                <a:sym typeface="Guild A Display"/>
              </a:rPr>
              <a:t>ecked unique values, invalid values, and potential outliers.</a:t>
            </a:r>
          </a:p>
        </p:txBody>
      </p:sp>
      <p:grpSp>
        <p:nvGrpSpPr>
          <p:cNvPr name="Group 41" id="41"/>
          <p:cNvGrpSpPr/>
          <p:nvPr/>
        </p:nvGrpSpPr>
        <p:grpSpPr>
          <a:xfrm rot="-5400000">
            <a:off x="4306145" y="5119908"/>
            <a:ext cx="671770" cy="671770"/>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43" id="43"/>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44" id="44"/>
          <p:cNvGrpSpPr/>
          <p:nvPr/>
        </p:nvGrpSpPr>
        <p:grpSpPr>
          <a:xfrm rot="-5400000">
            <a:off x="13355441" y="5143500"/>
            <a:ext cx="671770" cy="671770"/>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46" id="46"/>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47" id="47"/>
          <p:cNvGrpSpPr/>
          <p:nvPr/>
        </p:nvGrpSpPr>
        <p:grpSpPr>
          <a:xfrm rot="-5400000">
            <a:off x="8753020" y="5119908"/>
            <a:ext cx="671770" cy="671770"/>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49" id="49"/>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6</a:t>
            </a:r>
          </a:p>
        </p:txBody>
      </p:sp>
      <p:sp>
        <p:nvSpPr>
          <p:cNvPr name="TextBox 7" id="7"/>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87900" y="252897"/>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Python Workflow</a:t>
            </a:r>
          </a:p>
          <a:p>
            <a:pPr algn="l">
              <a:lnSpc>
                <a:spcPts val="8959"/>
              </a:lnSpc>
              <a:spcBef>
                <a:spcPct val="0"/>
              </a:spcBef>
            </a:pPr>
          </a:p>
        </p:txBody>
      </p:sp>
      <p:grpSp>
        <p:nvGrpSpPr>
          <p:cNvPr name="Group 9" id="9"/>
          <p:cNvGrpSpPr/>
          <p:nvPr/>
        </p:nvGrpSpPr>
        <p:grpSpPr>
          <a:xfrm rot="0">
            <a:off x="676664" y="1887817"/>
            <a:ext cx="5054245" cy="6441303"/>
            <a:chOff x="0" y="0"/>
            <a:chExt cx="1326536" cy="1690583"/>
          </a:xfrm>
        </p:grpSpPr>
        <p:sp>
          <p:nvSpPr>
            <p:cNvPr name="Freeform 10" id="10"/>
            <p:cNvSpPr/>
            <p:nvPr/>
          </p:nvSpPr>
          <p:spPr>
            <a:xfrm flipH="false" flipV="false" rot="0">
              <a:off x="0" y="0"/>
              <a:ext cx="1326536" cy="1690582"/>
            </a:xfrm>
            <a:custGeom>
              <a:avLst/>
              <a:gdLst/>
              <a:ahLst/>
              <a:cxnLst/>
              <a:rect r="r" b="b" t="t" l="l"/>
              <a:pathLst>
                <a:path h="1690582" w="1326536">
                  <a:moveTo>
                    <a:pt x="78120" y="0"/>
                  </a:moveTo>
                  <a:lnTo>
                    <a:pt x="1248416" y="0"/>
                  </a:lnTo>
                  <a:cubicBezTo>
                    <a:pt x="1269134" y="0"/>
                    <a:pt x="1289004" y="8230"/>
                    <a:pt x="1303655" y="22881"/>
                  </a:cubicBezTo>
                  <a:cubicBezTo>
                    <a:pt x="1318305" y="37531"/>
                    <a:pt x="1326536" y="57401"/>
                    <a:pt x="1326536" y="78120"/>
                  </a:cubicBezTo>
                  <a:lnTo>
                    <a:pt x="1326536" y="1612462"/>
                  </a:lnTo>
                  <a:cubicBezTo>
                    <a:pt x="1326536" y="1633181"/>
                    <a:pt x="1318305" y="1653051"/>
                    <a:pt x="1303655" y="1667702"/>
                  </a:cubicBezTo>
                  <a:cubicBezTo>
                    <a:pt x="1289004" y="1682352"/>
                    <a:pt x="1269134" y="1690582"/>
                    <a:pt x="1248416" y="1690582"/>
                  </a:cubicBezTo>
                  <a:lnTo>
                    <a:pt x="78120" y="1690582"/>
                  </a:lnTo>
                  <a:cubicBezTo>
                    <a:pt x="57401" y="1690582"/>
                    <a:pt x="37531" y="1682352"/>
                    <a:pt x="22881" y="1667702"/>
                  </a:cubicBezTo>
                  <a:cubicBezTo>
                    <a:pt x="8230" y="1653051"/>
                    <a:pt x="0" y="1633181"/>
                    <a:pt x="0" y="1612462"/>
                  </a:cubicBezTo>
                  <a:lnTo>
                    <a:pt x="0" y="78120"/>
                  </a:lnTo>
                  <a:cubicBezTo>
                    <a:pt x="0" y="57401"/>
                    <a:pt x="8230" y="37531"/>
                    <a:pt x="22881" y="22881"/>
                  </a:cubicBezTo>
                  <a:cubicBezTo>
                    <a:pt x="37531" y="8230"/>
                    <a:pt x="57401" y="0"/>
                    <a:pt x="78120" y="0"/>
                  </a:cubicBezTo>
                  <a:close/>
                </a:path>
              </a:pathLst>
            </a:custGeom>
            <a:solidFill>
              <a:srgbClr val="304543"/>
            </a:solidFill>
          </p:spPr>
        </p:sp>
        <p:sp>
          <p:nvSpPr>
            <p:cNvPr name="TextBox 11" id="11"/>
            <p:cNvSpPr txBox="true"/>
            <p:nvPr/>
          </p:nvSpPr>
          <p:spPr>
            <a:xfrm>
              <a:off x="0" y="-47625"/>
              <a:ext cx="1326536" cy="1738208"/>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594409" y="1887817"/>
            <a:ext cx="5242527" cy="1195382"/>
            <a:chOff x="0" y="0"/>
            <a:chExt cx="1375952" cy="313739"/>
          </a:xfrm>
        </p:grpSpPr>
        <p:sp>
          <p:nvSpPr>
            <p:cNvPr name="Freeform 13" id="13"/>
            <p:cNvSpPr/>
            <p:nvPr/>
          </p:nvSpPr>
          <p:spPr>
            <a:xfrm flipH="false" flipV="false" rot="0">
              <a:off x="0" y="0"/>
              <a:ext cx="1375952" cy="313739"/>
            </a:xfrm>
            <a:custGeom>
              <a:avLst/>
              <a:gdLst/>
              <a:ahLst/>
              <a:cxnLst/>
              <a:rect r="r" b="b" t="t" l="l"/>
              <a:pathLst>
                <a:path h="313739" w="1375952">
                  <a:moveTo>
                    <a:pt x="75314" y="0"/>
                  </a:moveTo>
                  <a:lnTo>
                    <a:pt x="1300638" y="0"/>
                  </a:lnTo>
                  <a:cubicBezTo>
                    <a:pt x="1342233" y="0"/>
                    <a:pt x="1375952" y="33719"/>
                    <a:pt x="1375952" y="75314"/>
                  </a:cubicBezTo>
                  <a:lnTo>
                    <a:pt x="1375952" y="238425"/>
                  </a:lnTo>
                  <a:cubicBezTo>
                    <a:pt x="1375952" y="258400"/>
                    <a:pt x="1368017" y="277556"/>
                    <a:pt x="1353893" y="291680"/>
                  </a:cubicBezTo>
                  <a:cubicBezTo>
                    <a:pt x="1339769" y="305805"/>
                    <a:pt x="1320613" y="313739"/>
                    <a:pt x="1300638" y="313739"/>
                  </a:cubicBezTo>
                  <a:lnTo>
                    <a:pt x="75314" y="313739"/>
                  </a:lnTo>
                  <a:cubicBezTo>
                    <a:pt x="33719" y="313739"/>
                    <a:pt x="0" y="280020"/>
                    <a:pt x="0" y="238425"/>
                  </a:cubicBezTo>
                  <a:lnTo>
                    <a:pt x="0" y="75314"/>
                  </a:lnTo>
                  <a:cubicBezTo>
                    <a:pt x="0" y="55340"/>
                    <a:pt x="7935" y="36183"/>
                    <a:pt x="22059" y="22059"/>
                  </a:cubicBezTo>
                  <a:cubicBezTo>
                    <a:pt x="36183" y="7935"/>
                    <a:pt x="55340" y="0"/>
                    <a:pt x="75314" y="0"/>
                  </a:cubicBezTo>
                  <a:close/>
                </a:path>
              </a:pathLst>
            </a:custGeom>
            <a:solidFill>
              <a:srgbClr val="C1DFC1"/>
            </a:solidFill>
          </p:spPr>
        </p:sp>
        <p:sp>
          <p:nvSpPr>
            <p:cNvPr name="TextBox 14" id="14"/>
            <p:cNvSpPr txBox="true"/>
            <p:nvPr/>
          </p:nvSpPr>
          <p:spPr>
            <a:xfrm>
              <a:off x="0" y="-47625"/>
              <a:ext cx="1375952" cy="361364"/>
            </a:xfrm>
            <a:prstGeom prst="rect">
              <a:avLst/>
            </a:prstGeom>
          </p:spPr>
          <p:txBody>
            <a:bodyPr anchor="ctr" rtlCol="false" tIns="50800" lIns="50800" bIns="50800" rIns="50800"/>
            <a:lstStyle/>
            <a:p>
              <a:pPr algn="ctr">
                <a:lnSpc>
                  <a:spcPts val="2940"/>
                </a:lnSpc>
              </a:pPr>
            </a:p>
          </p:txBody>
        </p:sp>
      </p:grpSp>
      <p:sp>
        <p:nvSpPr>
          <p:cNvPr name="TextBox 15" id="15"/>
          <p:cNvSpPr txBox="true"/>
          <p:nvPr/>
        </p:nvSpPr>
        <p:spPr>
          <a:xfrm rot="0">
            <a:off x="1028700" y="2217538"/>
            <a:ext cx="6490528" cy="42227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Guild A Display Bold"/>
                <a:ea typeface="Guild A Display Bold"/>
                <a:cs typeface="Guild A Display Bold"/>
                <a:sym typeface="Guild A Display Bold"/>
              </a:rPr>
              <a:t>5.Data Modeling Preparation</a:t>
            </a:r>
          </a:p>
        </p:txBody>
      </p:sp>
      <p:sp>
        <p:nvSpPr>
          <p:cNvPr name="TextBox 16" id="16"/>
          <p:cNvSpPr txBox="true"/>
          <p:nvPr/>
        </p:nvSpPr>
        <p:spPr>
          <a:xfrm rot="0">
            <a:off x="1028700" y="3259206"/>
            <a:ext cx="3462409" cy="1307781"/>
          </a:xfrm>
          <a:prstGeom prst="rect">
            <a:avLst/>
          </a:prstGeom>
        </p:spPr>
        <p:txBody>
          <a:bodyPr anchor="t" rtlCol="false" tIns="0" lIns="0" bIns="0" rIns="0">
            <a:spAutoFit/>
          </a:bodyPr>
          <a:lstStyle/>
          <a:p>
            <a:pPr algn="l">
              <a:lnSpc>
                <a:spcPts val="3517"/>
              </a:lnSpc>
              <a:spcBef>
                <a:spcPct val="0"/>
              </a:spcBef>
            </a:pPr>
            <a:r>
              <a:rPr lang="en-US" sz="2512">
                <a:solidFill>
                  <a:srgbClr val="F5F5EF"/>
                </a:solidFill>
                <a:latin typeface="Guild A Display"/>
                <a:ea typeface="Guild A Display"/>
                <a:cs typeface="Guild A Display"/>
                <a:sym typeface="Guild A Display"/>
              </a:rPr>
              <a:t>Split</a:t>
            </a:r>
            <a:r>
              <a:rPr lang="en-US" sz="2512">
                <a:solidFill>
                  <a:srgbClr val="F5F5EF"/>
                </a:solidFill>
                <a:latin typeface="Guild A Display"/>
                <a:ea typeface="Guild A Display"/>
                <a:cs typeface="Guild A Display"/>
                <a:sym typeface="Guild A Display"/>
              </a:rPr>
              <a:t> the cleaned dataset into 5 related tables for analysis and Power BI.</a:t>
            </a:r>
          </a:p>
        </p:txBody>
      </p:sp>
      <p:grpSp>
        <p:nvGrpSpPr>
          <p:cNvPr name="Group 17" id="17"/>
          <p:cNvGrpSpPr/>
          <p:nvPr/>
        </p:nvGrpSpPr>
        <p:grpSpPr>
          <a:xfrm rot="0">
            <a:off x="12533319" y="1887817"/>
            <a:ext cx="5054245" cy="6441303"/>
            <a:chOff x="0" y="0"/>
            <a:chExt cx="1326536" cy="1690583"/>
          </a:xfrm>
        </p:grpSpPr>
        <p:sp>
          <p:nvSpPr>
            <p:cNvPr name="Freeform 18" id="18"/>
            <p:cNvSpPr/>
            <p:nvPr/>
          </p:nvSpPr>
          <p:spPr>
            <a:xfrm flipH="false" flipV="false" rot="0">
              <a:off x="0" y="0"/>
              <a:ext cx="1326536" cy="1690582"/>
            </a:xfrm>
            <a:custGeom>
              <a:avLst/>
              <a:gdLst/>
              <a:ahLst/>
              <a:cxnLst/>
              <a:rect r="r" b="b" t="t" l="l"/>
              <a:pathLst>
                <a:path h="1690582" w="1326536">
                  <a:moveTo>
                    <a:pt x="78120" y="0"/>
                  </a:moveTo>
                  <a:lnTo>
                    <a:pt x="1248416" y="0"/>
                  </a:lnTo>
                  <a:cubicBezTo>
                    <a:pt x="1269134" y="0"/>
                    <a:pt x="1289004" y="8230"/>
                    <a:pt x="1303655" y="22881"/>
                  </a:cubicBezTo>
                  <a:cubicBezTo>
                    <a:pt x="1318305" y="37531"/>
                    <a:pt x="1326536" y="57401"/>
                    <a:pt x="1326536" y="78120"/>
                  </a:cubicBezTo>
                  <a:lnTo>
                    <a:pt x="1326536" y="1612462"/>
                  </a:lnTo>
                  <a:cubicBezTo>
                    <a:pt x="1326536" y="1633181"/>
                    <a:pt x="1318305" y="1653051"/>
                    <a:pt x="1303655" y="1667702"/>
                  </a:cubicBezTo>
                  <a:cubicBezTo>
                    <a:pt x="1289004" y="1682352"/>
                    <a:pt x="1269134" y="1690582"/>
                    <a:pt x="1248416" y="1690582"/>
                  </a:cubicBezTo>
                  <a:lnTo>
                    <a:pt x="78120" y="1690582"/>
                  </a:lnTo>
                  <a:cubicBezTo>
                    <a:pt x="57401" y="1690582"/>
                    <a:pt x="37531" y="1682352"/>
                    <a:pt x="22881" y="1667702"/>
                  </a:cubicBezTo>
                  <a:cubicBezTo>
                    <a:pt x="8230" y="1653051"/>
                    <a:pt x="0" y="1633181"/>
                    <a:pt x="0" y="1612462"/>
                  </a:cubicBezTo>
                  <a:lnTo>
                    <a:pt x="0" y="78120"/>
                  </a:lnTo>
                  <a:cubicBezTo>
                    <a:pt x="0" y="57401"/>
                    <a:pt x="8230" y="37531"/>
                    <a:pt x="22881" y="22881"/>
                  </a:cubicBezTo>
                  <a:cubicBezTo>
                    <a:pt x="37531" y="8230"/>
                    <a:pt x="57401" y="0"/>
                    <a:pt x="78120" y="0"/>
                  </a:cubicBezTo>
                  <a:close/>
                </a:path>
              </a:pathLst>
            </a:custGeom>
            <a:solidFill>
              <a:srgbClr val="304543"/>
            </a:solidFill>
          </p:spPr>
        </p:sp>
        <p:sp>
          <p:nvSpPr>
            <p:cNvPr name="TextBox 19" id="19"/>
            <p:cNvSpPr txBox="true"/>
            <p:nvPr/>
          </p:nvSpPr>
          <p:spPr>
            <a:xfrm>
              <a:off x="0" y="-47625"/>
              <a:ext cx="1326536" cy="1738208"/>
            </a:xfrm>
            <a:prstGeom prst="rect">
              <a:avLst/>
            </a:prstGeom>
          </p:spPr>
          <p:txBody>
            <a:bodyPr anchor="ctr" rtlCol="false" tIns="50800" lIns="50800" bIns="50800" rIns="50800"/>
            <a:lstStyle/>
            <a:p>
              <a:pPr algn="ctr">
                <a:lnSpc>
                  <a:spcPts val="2940"/>
                </a:lnSpc>
              </a:pPr>
            </a:p>
          </p:txBody>
        </p:sp>
      </p:grpSp>
      <p:grpSp>
        <p:nvGrpSpPr>
          <p:cNvPr name="Group 20" id="20"/>
          <p:cNvGrpSpPr/>
          <p:nvPr/>
        </p:nvGrpSpPr>
        <p:grpSpPr>
          <a:xfrm rot="0">
            <a:off x="12451064" y="1887817"/>
            <a:ext cx="5242527" cy="1195382"/>
            <a:chOff x="0" y="0"/>
            <a:chExt cx="1375952" cy="313739"/>
          </a:xfrm>
        </p:grpSpPr>
        <p:sp>
          <p:nvSpPr>
            <p:cNvPr name="Freeform 21" id="21"/>
            <p:cNvSpPr/>
            <p:nvPr/>
          </p:nvSpPr>
          <p:spPr>
            <a:xfrm flipH="false" flipV="false" rot="0">
              <a:off x="0" y="0"/>
              <a:ext cx="1375952" cy="313739"/>
            </a:xfrm>
            <a:custGeom>
              <a:avLst/>
              <a:gdLst/>
              <a:ahLst/>
              <a:cxnLst/>
              <a:rect r="r" b="b" t="t" l="l"/>
              <a:pathLst>
                <a:path h="313739" w="1375952">
                  <a:moveTo>
                    <a:pt x="75314" y="0"/>
                  </a:moveTo>
                  <a:lnTo>
                    <a:pt x="1300638" y="0"/>
                  </a:lnTo>
                  <a:cubicBezTo>
                    <a:pt x="1342233" y="0"/>
                    <a:pt x="1375952" y="33719"/>
                    <a:pt x="1375952" y="75314"/>
                  </a:cubicBezTo>
                  <a:lnTo>
                    <a:pt x="1375952" y="238425"/>
                  </a:lnTo>
                  <a:cubicBezTo>
                    <a:pt x="1375952" y="258400"/>
                    <a:pt x="1368017" y="277556"/>
                    <a:pt x="1353893" y="291680"/>
                  </a:cubicBezTo>
                  <a:cubicBezTo>
                    <a:pt x="1339769" y="305805"/>
                    <a:pt x="1320613" y="313739"/>
                    <a:pt x="1300638" y="313739"/>
                  </a:cubicBezTo>
                  <a:lnTo>
                    <a:pt x="75314" y="313739"/>
                  </a:lnTo>
                  <a:cubicBezTo>
                    <a:pt x="33719" y="313739"/>
                    <a:pt x="0" y="280020"/>
                    <a:pt x="0" y="238425"/>
                  </a:cubicBezTo>
                  <a:lnTo>
                    <a:pt x="0" y="75314"/>
                  </a:lnTo>
                  <a:cubicBezTo>
                    <a:pt x="0" y="55340"/>
                    <a:pt x="7935" y="36183"/>
                    <a:pt x="22059" y="22059"/>
                  </a:cubicBezTo>
                  <a:cubicBezTo>
                    <a:pt x="36183" y="7935"/>
                    <a:pt x="55340" y="0"/>
                    <a:pt x="75314" y="0"/>
                  </a:cubicBezTo>
                  <a:close/>
                </a:path>
              </a:pathLst>
            </a:custGeom>
            <a:solidFill>
              <a:srgbClr val="C1DFC1"/>
            </a:solidFill>
          </p:spPr>
        </p:sp>
        <p:sp>
          <p:nvSpPr>
            <p:cNvPr name="TextBox 22" id="22"/>
            <p:cNvSpPr txBox="true"/>
            <p:nvPr/>
          </p:nvSpPr>
          <p:spPr>
            <a:xfrm>
              <a:off x="0" y="-47625"/>
              <a:ext cx="1375952" cy="361364"/>
            </a:xfrm>
            <a:prstGeom prst="rect">
              <a:avLst/>
            </a:prstGeom>
          </p:spPr>
          <p:txBody>
            <a:bodyPr anchor="ctr" rtlCol="false" tIns="50800" lIns="50800" bIns="50800" rIns="50800"/>
            <a:lstStyle/>
            <a:p>
              <a:pPr algn="ctr">
                <a:lnSpc>
                  <a:spcPts val="2940"/>
                </a:lnSpc>
              </a:pPr>
            </a:p>
          </p:txBody>
        </p:sp>
      </p:grpSp>
      <p:sp>
        <p:nvSpPr>
          <p:cNvPr name="TextBox 23" id="23"/>
          <p:cNvSpPr txBox="true"/>
          <p:nvPr/>
        </p:nvSpPr>
        <p:spPr>
          <a:xfrm rot="0">
            <a:off x="13097511" y="3259206"/>
            <a:ext cx="3391352" cy="1307781"/>
          </a:xfrm>
          <a:prstGeom prst="rect">
            <a:avLst/>
          </a:prstGeom>
        </p:spPr>
        <p:txBody>
          <a:bodyPr anchor="t" rtlCol="false" tIns="0" lIns="0" bIns="0" rIns="0">
            <a:spAutoFit/>
          </a:bodyPr>
          <a:lstStyle/>
          <a:p>
            <a:pPr algn="l">
              <a:lnSpc>
                <a:spcPts val="3517"/>
              </a:lnSpc>
              <a:spcBef>
                <a:spcPct val="0"/>
              </a:spcBef>
            </a:pPr>
            <a:r>
              <a:rPr lang="en-US" sz="2512">
                <a:solidFill>
                  <a:srgbClr val="F5F5EF"/>
                </a:solidFill>
                <a:latin typeface="Guild A Display"/>
                <a:ea typeface="Guild A Display"/>
                <a:cs typeface="Guild A Display"/>
                <a:sym typeface="Guild A Display"/>
              </a:rPr>
              <a:t>S</a:t>
            </a:r>
            <a:r>
              <a:rPr lang="en-US" sz="2512">
                <a:solidFill>
                  <a:srgbClr val="F5F5EF"/>
                </a:solidFill>
                <a:latin typeface="Guild A Display"/>
                <a:ea typeface="Guild A Display"/>
                <a:cs typeface="Guild A Display"/>
                <a:sym typeface="Guild A Display"/>
              </a:rPr>
              <a:t>aved the cleaned tables as CSV files for use in Power BI.</a:t>
            </a:r>
          </a:p>
        </p:txBody>
      </p:sp>
      <p:grpSp>
        <p:nvGrpSpPr>
          <p:cNvPr name="Group 24" id="24"/>
          <p:cNvGrpSpPr/>
          <p:nvPr/>
        </p:nvGrpSpPr>
        <p:grpSpPr>
          <a:xfrm rot="0">
            <a:off x="6604991" y="1887817"/>
            <a:ext cx="5054245" cy="6441303"/>
            <a:chOff x="0" y="0"/>
            <a:chExt cx="1326536" cy="1690583"/>
          </a:xfrm>
        </p:grpSpPr>
        <p:sp>
          <p:nvSpPr>
            <p:cNvPr name="Freeform 25" id="25"/>
            <p:cNvSpPr/>
            <p:nvPr/>
          </p:nvSpPr>
          <p:spPr>
            <a:xfrm flipH="false" flipV="false" rot="0">
              <a:off x="0" y="0"/>
              <a:ext cx="1326536" cy="1690582"/>
            </a:xfrm>
            <a:custGeom>
              <a:avLst/>
              <a:gdLst/>
              <a:ahLst/>
              <a:cxnLst/>
              <a:rect r="r" b="b" t="t" l="l"/>
              <a:pathLst>
                <a:path h="1690582" w="1326536">
                  <a:moveTo>
                    <a:pt x="78120" y="0"/>
                  </a:moveTo>
                  <a:lnTo>
                    <a:pt x="1248416" y="0"/>
                  </a:lnTo>
                  <a:cubicBezTo>
                    <a:pt x="1269134" y="0"/>
                    <a:pt x="1289004" y="8230"/>
                    <a:pt x="1303655" y="22881"/>
                  </a:cubicBezTo>
                  <a:cubicBezTo>
                    <a:pt x="1318305" y="37531"/>
                    <a:pt x="1326536" y="57401"/>
                    <a:pt x="1326536" y="78120"/>
                  </a:cubicBezTo>
                  <a:lnTo>
                    <a:pt x="1326536" y="1612462"/>
                  </a:lnTo>
                  <a:cubicBezTo>
                    <a:pt x="1326536" y="1633181"/>
                    <a:pt x="1318305" y="1653051"/>
                    <a:pt x="1303655" y="1667702"/>
                  </a:cubicBezTo>
                  <a:cubicBezTo>
                    <a:pt x="1289004" y="1682352"/>
                    <a:pt x="1269134" y="1690582"/>
                    <a:pt x="1248416" y="1690582"/>
                  </a:cubicBezTo>
                  <a:lnTo>
                    <a:pt x="78120" y="1690582"/>
                  </a:lnTo>
                  <a:cubicBezTo>
                    <a:pt x="57401" y="1690582"/>
                    <a:pt x="37531" y="1682352"/>
                    <a:pt x="22881" y="1667702"/>
                  </a:cubicBezTo>
                  <a:cubicBezTo>
                    <a:pt x="8230" y="1653051"/>
                    <a:pt x="0" y="1633181"/>
                    <a:pt x="0" y="1612462"/>
                  </a:cubicBezTo>
                  <a:lnTo>
                    <a:pt x="0" y="78120"/>
                  </a:lnTo>
                  <a:cubicBezTo>
                    <a:pt x="0" y="57401"/>
                    <a:pt x="8230" y="37531"/>
                    <a:pt x="22881" y="22881"/>
                  </a:cubicBezTo>
                  <a:cubicBezTo>
                    <a:pt x="37531" y="8230"/>
                    <a:pt x="57401" y="0"/>
                    <a:pt x="78120" y="0"/>
                  </a:cubicBezTo>
                  <a:close/>
                </a:path>
              </a:pathLst>
            </a:custGeom>
            <a:solidFill>
              <a:srgbClr val="304543"/>
            </a:solidFill>
          </p:spPr>
        </p:sp>
        <p:sp>
          <p:nvSpPr>
            <p:cNvPr name="TextBox 26" id="26"/>
            <p:cNvSpPr txBox="true"/>
            <p:nvPr/>
          </p:nvSpPr>
          <p:spPr>
            <a:xfrm>
              <a:off x="0" y="-47625"/>
              <a:ext cx="1326536" cy="1738208"/>
            </a:xfrm>
            <a:prstGeom prst="rect">
              <a:avLst/>
            </a:prstGeom>
          </p:spPr>
          <p:txBody>
            <a:bodyPr anchor="ctr" rtlCol="false" tIns="50800" lIns="50800" bIns="50800" rIns="50800"/>
            <a:lstStyle/>
            <a:p>
              <a:pPr algn="ctr">
                <a:lnSpc>
                  <a:spcPts val="2940"/>
                </a:lnSpc>
              </a:pPr>
            </a:p>
          </p:txBody>
        </p:sp>
      </p:grpSp>
      <p:grpSp>
        <p:nvGrpSpPr>
          <p:cNvPr name="Group 27" id="27"/>
          <p:cNvGrpSpPr/>
          <p:nvPr/>
        </p:nvGrpSpPr>
        <p:grpSpPr>
          <a:xfrm rot="0">
            <a:off x="6522736" y="1887817"/>
            <a:ext cx="5242527" cy="1195382"/>
            <a:chOff x="0" y="0"/>
            <a:chExt cx="1375952" cy="313739"/>
          </a:xfrm>
        </p:grpSpPr>
        <p:sp>
          <p:nvSpPr>
            <p:cNvPr name="Freeform 28" id="28"/>
            <p:cNvSpPr/>
            <p:nvPr/>
          </p:nvSpPr>
          <p:spPr>
            <a:xfrm flipH="false" flipV="false" rot="0">
              <a:off x="0" y="0"/>
              <a:ext cx="1375952" cy="313739"/>
            </a:xfrm>
            <a:custGeom>
              <a:avLst/>
              <a:gdLst/>
              <a:ahLst/>
              <a:cxnLst/>
              <a:rect r="r" b="b" t="t" l="l"/>
              <a:pathLst>
                <a:path h="313739" w="1375952">
                  <a:moveTo>
                    <a:pt x="75314" y="0"/>
                  </a:moveTo>
                  <a:lnTo>
                    <a:pt x="1300638" y="0"/>
                  </a:lnTo>
                  <a:cubicBezTo>
                    <a:pt x="1342233" y="0"/>
                    <a:pt x="1375952" y="33719"/>
                    <a:pt x="1375952" y="75314"/>
                  </a:cubicBezTo>
                  <a:lnTo>
                    <a:pt x="1375952" y="238425"/>
                  </a:lnTo>
                  <a:cubicBezTo>
                    <a:pt x="1375952" y="258400"/>
                    <a:pt x="1368017" y="277556"/>
                    <a:pt x="1353893" y="291680"/>
                  </a:cubicBezTo>
                  <a:cubicBezTo>
                    <a:pt x="1339769" y="305805"/>
                    <a:pt x="1320613" y="313739"/>
                    <a:pt x="1300638" y="313739"/>
                  </a:cubicBezTo>
                  <a:lnTo>
                    <a:pt x="75314" y="313739"/>
                  </a:lnTo>
                  <a:cubicBezTo>
                    <a:pt x="33719" y="313739"/>
                    <a:pt x="0" y="280020"/>
                    <a:pt x="0" y="238425"/>
                  </a:cubicBezTo>
                  <a:lnTo>
                    <a:pt x="0" y="75314"/>
                  </a:lnTo>
                  <a:cubicBezTo>
                    <a:pt x="0" y="55340"/>
                    <a:pt x="7935" y="36183"/>
                    <a:pt x="22059" y="22059"/>
                  </a:cubicBezTo>
                  <a:cubicBezTo>
                    <a:pt x="36183" y="7935"/>
                    <a:pt x="55340" y="0"/>
                    <a:pt x="75314" y="0"/>
                  </a:cubicBezTo>
                  <a:close/>
                </a:path>
              </a:pathLst>
            </a:custGeom>
            <a:solidFill>
              <a:srgbClr val="C1DFC1"/>
            </a:solidFill>
          </p:spPr>
        </p:sp>
        <p:sp>
          <p:nvSpPr>
            <p:cNvPr name="TextBox 29" id="29"/>
            <p:cNvSpPr txBox="true"/>
            <p:nvPr/>
          </p:nvSpPr>
          <p:spPr>
            <a:xfrm>
              <a:off x="0" y="-47625"/>
              <a:ext cx="1375952" cy="361364"/>
            </a:xfrm>
            <a:prstGeom prst="rect">
              <a:avLst/>
            </a:prstGeom>
          </p:spPr>
          <p:txBody>
            <a:bodyPr anchor="ctr" rtlCol="false" tIns="50800" lIns="50800" bIns="50800" rIns="50800"/>
            <a:lstStyle/>
            <a:p>
              <a:pPr algn="ctr">
                <a:lnSpc>
                  <a:spcPts val="2940"/>
                </a:lnSpc>
              </a:pPr>
            </a:p>
          </p:txBody>
        </p:sp>
      </p:grpSp>
      <p:sp>
        <p:nvSpPr>
          <p:cNvPr name="TextBox 30" id="30"/>
          <p:cNvSpPr txBox="true"/>
          <p:nvPr/>
        </p:nvSpPr>
        <p:spPr>
          <a:xfrm rot="0">
            <a:off x="7167192" y="3268731"/>
            <a:ext cx="3757453" cy="436562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Cre</a:t>
            </a:r>
            <a:r>
              <a:rPr lang="en-US" sz="2499">
                <a:solidFill>
                  <a:srgbClr val="F5F5EF"/>
                </a:solidFill>
                <a:latin typeface="Guild A Display"/>
                <a:ea typeface="Guild A Display"/>
                <a:cs typeface="Guild A Display"/>
                <a:sym typeface="Guild A Display"/>
              </a:rPr>
              <a:t>ated meaningful features such as:</a:t>
            </a:r>
          </a:p>
          <a:p>
            <a:pPr algn="l">
              <a:lnSpc>
                <a:spcPts val="3499"/>
              </a:lnSpc>
              <a:spcBef>
                <a:spcPct val="0"/>
              </a:spcBef>
            </a:pP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Social Media Usage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Addiction Risk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Sleep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Non-Social Screen Time</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Reward Seeking Level</a:t>
            </a:r>
          </a:p>
        </p:txBody>
      </p:sp>
      <p:sp>
        <p:nvSpPr>
          <p:cNvPr name="TextBox 31" id="31"/>
          <p:cNvSpPr txBox="true"/>
          <p:nvPr/>
        </p:nvSpPr>
        <p:spPr>
          <a:xfrm rot="0">
            <a:off x="14014036" y="2208013"/>
            <a:ext cx="6490528"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7.Data Export</a:t>
            </a:r>
          </a:p>
        </p:txBody>
      </p:sp>
      <p:sp>
        <p:nvSpPr>
          <p:cNvPr name="TextBox 32" id="32"/>
          <p:cNvSpPr txBox="true"/>
          <p:nvPr/>
        </p:nvSpPr>
        <p:spPr>
          <a:xfrm rot="0">
            <a:off x="7167192" y="2194092"/>
            <a:ext cx="6490528"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6.Feature Engineering</a:t>
            </a:r>
          </a:p>
        </p:txBody>
      </p:sp>
      <p:grpSp>
        <p:nvGrpSpPr>
          <p:cNvPr name="Group 33" id="33"/>
          <p:cNvGrpSpPr/>
          <p:nvPr/>
        </p:nvGrpSpPr>
        <p:grpSpPr>
          <a:xfrm rot="-5400000">
            <a:off x="5818213" y="5008935"/>
            <a:ext cx="901787" cy="1131805"/>
            <a:chOff x="0" y="0"/>
            <a:chExt cx="812800" cy="1020120"/>
          </a:xfrm>
        </p:grpSpPr>
        <p:sp>
          <p:nvSpPr>
            <p:cNvPr name="Freeform 34" id="34"/>
            <p:cNvSpPr/>
            <p:nvPr/>
          </p:nvSpPr>
          <p:spPr>
            <a:xfrm flipH="false" flipV="false" rot="0">
              <a:off x="0" y="0"/>
              <a:ext cx="812800" cy="1020120"/>
            </a:xfrm>
            <a:custGeom>
              <a:avLst/>
              <a:gdLst/>
              <a:ahLst/>
              <a:cxnLst/>
              <a:rect r="r" b="b" t="t" l="l"/>
              <a:pathLst>
                <a:path h="1020120" w="812800">
                  <a:moveTo>
                    <a:pt x="406400" y="1020120"/>
                  </a:moveTo>
                  <a:lnTo>
                    <a:pt x="0" y="613720"/>
                  </a:lnTo>
                  <a:lnTo>
                    <a:pt x="203200" y="613720"/>
                  </a:lnTo>
                  <a:lnTo>
                    <a:pt x="203200" y="0"/>
                  </a:lnTo>
                  <a:lnTo>
                    <a:pt x="609600" y="0"/>
                  </a:lnTo>
                  <a:lnTo>
                    <a:pt x="609600" y="613720"/>
                  </a:lnTo>
                  <a:lnTo>
                    <a:pt x="812800" y="613720"/>
                  </a:lnTo>
                  <a:lnTo>
                    <a:pt x="406400" y="1020120"/>
                  </a:lnTo>
                  <a:close/>
                </a:path>
              </a:pathLst>
            </a:custGeom>
            <a:solidFill>
              <a:srgbClr val="C1DFC1"/>
            </a:solidFill>
          </p:spPr>
        </p:sp>
        <p:sp>
          <p:nvSpPr>
            <p:cNvPr name="TextBox 35" id="35"/>
            <p:cNvSpPr txBox="true"/>
            <p:nvPr/>
          </p:nvSpPr>
          <p:spPr>
            <a:xfrm>
              <a:off x="203200" y="-47625"/>
              <a:ext cx="406400" cy="966145"/>
            </a:xfrm>
            <a:prstGeom prst="rect">
              <a:avLst/>
            </a:prstGeom>
          </p:spPr>
          <p:txBody>
            <a:bodyPr anchor="ctr" rtlCol="false" tIns="50800" lIns="50800" bIns="50800" rIns="50800"/>
            <a:lstStyle/>
            <a:p>
              <a:pPr algn="ctr">
                <a:lnSpc>
                  <a:spcPts val="2940"/>
                </a:lnSpc>
              </a:pPr>
            </a:p>
          </p:txBody>
        </p:sp>
      </p:grpSp>
      <p:grpSp>
        <p:nvGrpSpPr>
          <p:cNvPr name="Group 36" id="36"/>
          <p:cNvGrpSpPr/>
          <p:nvPr/>
        </p:nvGrpSpPr>
        <p:grpSpPr>
          <a:xfrm rot="-5400000">
            <a:off x="11774245" y="5008935"/>
            <a:ext cx="901787" cy="1131805"/>
            <a:chOff x="0" y="0"/>
            <a:chExt cx="812800" cy="1020120"/>
          </a:xfrm>
        </p:grpSpPr>
        <p:sp>
          <p:nvSpPr>
            <p:cNvPr name="Freeform 37" id="37"/>
            <p:cNvSpPr/>
            <p:nvPr/>
          </p:nvSpPr>
          <p:spPr>
            <a:xfrm flipH="false" flipV="false" rot="0">
              <a:off x="0" y="0"/>
              <a:ext cx="812800" cy="1020120"/>
            </a:xfrm>
            <a:custGeom>
              <a:avLst/>
              <a:gdLst/>
              <a:ahLst/>
              <a:cxnLst/>
              <a:rect r="r" b="b" t="t" l="l"/>
              <a:pathLst>
                <a:path h="1020120" w="812800">
                  <a:moveTo>
                    <a:pt x="406400" y="1020120"/>
                  </a:moveTo>
                  <a:lnTo>
                    <a:pt x="0" y="613720"/>
                  </a:lnTo>
                  <a:lnTo>
                    <a:pt x="203200" y="613720"/>
                  </a:lnTo>
                  <a:lnTo>
                    <a:pt x="203200" y="0"/>
                  </a:lnTo>
                  <a:lnTo>
                    <a:pt x="609600" y="0"/>
                  </a:lnTo>
                  <a:lnTo>
                    <a:pt x="609600" y="613720"/>
                  </a:lnTo>
                  <a:lnTo>
                    <a:pt x="812800" y="613720"/>
                  </a:lnTo>
                  <a:lnTo>
                    <a:pt x="406400" y="1020120"/>
                  </a:lnTo>
                  <a:close/>
                </a:path>
              </a:pathLst>
            </a:custGeom>
            <a:solidFill>
              <a:srgbClr val="C1DFC1"/>
            </a:solidFill>
          </p:spPr>
        </p:sp>
        <p:sp>
          <p:nvSpPr>
            <p:cNvPr name="TextBox 38" id="38"/>
            <p:cNvSpPr txBox="true"/>
            <p:nvPr/>
          </p:nvSpPr>
          <p:spPr>
            <a:xfrm>
              <a:off x="203200" y="-47625"/>
              <a:ext cx="406400" cy="966145"/>
            </a:xfrm>
            <a:prstGeom prst="rect">
              <a:avLst/>
            </a:prstGeom>
          </p:spPr>
          <p:txBody>
            <a:bodyPr anchor="ctr" rtlCol="false" tIns="50800" lIns="50800" bIns="50800" rIns="50800"/>
            <a:lstStyle/>
            <a:p>
              <a:pPr algn="ctr">
                <a:lnSpc>
                  <a:spcPts val="294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4994768" y="1139021"/>
            <a:ext cx="8008958" cy="8008958"/>
            <a:chOff x="0" y="0"/>
            <a:chExt cx="635000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grpSp>
        <p:nvGrpSpPr>
          <p:cNvPr name="Group 4" id="4"/>
          <p:cNvGrpSpPr/>
          <p:nvPr/>
        </p:nvGrpSpPr>
        <p:grpSpPr>
          <a:xfrm rot="0">
            <a:off x="3852810" y="4008238"/>
            <a:ext cx="10292874" cy="3394934"/>
            <a:chOff x="0" y="0"/>
            <a:chExt cx="13723832" cy="4526579"/>
          </a:xfrm>
        </p:grpSpPr>
        <p:sp>
          <p:nvSpPr>
            <p:cNvPr name="TextBox 5" id="5"/>
            <p:cNvSpPr txBox="true"/>
            <p:nvPr/>
          </p:nvSpPr>
          <p:spPr>
            <a:xfrm rot="0">
              <a:off x="0" y="-219075"/>
              <a:ext cx="13723832" cy="2537643"/>
            </a:xfrm>
            <a:prstGeom prst="rect">
              <a:avLst/>
            </a:prstGeom>
          </p:spPr>
          <p:txBody>
            <a:bodyPr anchor="t" rtlCol="false" tIns="0" lIns="0" bIns="0" rIns="0">
              <a:spAutoFit/>
            </a:bodyPr>
            <a:lstStyle/>
            <a:p>
              <a:pPr algn="ctr" marL="0" indent="0" lvl="0">
                <a:lnSpc>
                  <a:spcPts val="15978"/>
                </a:lnSpc>
                <a:spcBef>
                  <a:spcPct val="0"/>
                </a:spcBef>
              </a:pPr>
              <a:r>
                <a:rPr lang="en-US" b="true" sz="11413">
                  <a:solidFill>
                    <a:srgbClr val="F5F5EF"/>
                  </a:solidFill>
                  <a:latin typeface="Cormorant Garamond Bold"/>
                  <a:ea typeface="Cormorant Garamond Bold"/>
                  <a:cs typeface="Cormorant Garamond Bold"/>
                  <a:sym typeface="Cormorant Garamond Bold"/>
                </a:rPr>
                <a:t>SQL</a:t>
              </a:r>
              <a:r>
                <a:rPr lang="en-US" b="true" sz="11413" u="none">
                  <a:solidFill>
                    <a:srgbClr val="F5F5EF"/>
                  </a:solidFill>
                  <a:latin typeface="Cormorant Garamond Bold"/>
                  <a:ea typeface="Cormorant Garamond Bold"/>
                  <a:cs typeface="Cormorant Garamond Bold"/>
                  <a:sym typeface="Cormorant Garamond Bold"/>
                </a:rPr>
                <a:t> Analysis</a:t>
              </a:r>
            </a:p>
          </p:txBody>
        </p:sp>
        <p:sp>
          <p:nvSpPr>
            <p:cNvPr name="TextBox 6" id="6"/>
            <p:cNvSpPr txBox="true"/>
            <p:nvPr/>
          </p:nvSpPr>
          <p:spPr>
            <a:xfrm rot="0">
              <a:off x="2680423" y="2431310"/>
              <a:ext cx="8362987" cy="2095269"/>
            </a:xfrm>
            <a:prstGeom prst="rect">
              <a:avLst/>
            </a:prstGeom>
          </p:spPr>
          <p:txBody>
            <a:bodyPr anchor="t" rtlCol="false" tIns="0" lIns="0" bIns="0" rIns="0">
              <a:spAutoFit/>
            </a:bodyPr>
            <a:lstStyle/>
            <a:p>
              <a:pPr algn="ctr">
                <a:lnSpc>
                  <a:spcPts val="13265"/>
                </a:lnSpc>
                <a:spcBef>
                  <a:spcPct val="0"/>
                </a:spcBef>
              </a:pPr>
            </a:p>
          </p:txBody>
        </p:sp>
      </p:grpSp>
      <p:sp>
        <p:nvSpPr>
          <p:cNvPr name="TextBox 7" id="7"/>
          <p:cNvSpPr txBox="true"/>
          <p:nvPr/>
        </p:nvSpPr>
        <p:spPr>
          <a:xfrm rot="0">
            <a:off x="178903" y="9558210"/>
            <a:ext cx="6885533" cy="240665"/>
          </a:xfrm>
          <a:prstGeom prst="rect">
            <a:avLst/>
          </a:prstGeom>
        </p:spPr>
        <p:txBody>
          <a:bodyPr anchor="t" rtlCol="false" tIns="0" lIns="0" bIns="0" rIns="0">
            <a:spAutoFit/>
          </a:bodyPr>
          <a:lstStyle/>
          <a:p>
            <a:pPr algn="ctr">
              <a:lnSpc>
                <a:spcPts val="1960"/>
              </a:lnSpc>
              <a:spcBef>
                <a:spcPct val="0"/>
              </a:spcBef>
            </a:pPr>
            <a:r>
              <a:rPr lang="en-US" sz="1400" spc="168">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5F5EF"/>
                </a:solidFill>
                <a:latin typeface="Guild A Display"/>
                <a:ea typeface="Guild A Display"/>
                <a:cs typeface="Guild A Display"/>
                <a:sym typeface="Guild A Display"/>
              </a:rPr>
              <a:t>7</a:t>
            </a:r>
          </a:p>
        </p:txBody>
      </p:sp>
      <p:grpSp>
        <p:nvGrpSpPr>
          <p:cNvPr name="Group 9" id="9"/>
          <p:cNvGrpSpPr/>
          <p:nvPr/>
        </p:nvGrpSpPr>
        <p:grpSpPr>
          <a:xfrm rot="0">
            <a:off x="1985288" y="-811214"/>
            <a:ext cx="13375335" cy="10610089"/>
            <a:chOff x="0" y="0"/>
            <a:chExt cx="8004964" cy="6350000"/>
          </a:xfrm>
        </p:grpSpPr>
        <p:sp>
          <p:nvSpPr>
            <p:cNvPr name="Freeform 10" id="10"/>
            <p:cNvSpPr/>
            <p:nvPr/>
          </p:nvSpPr>
          <p:spPr>
            <a:xfrm flipH="false" flipV="false" rot="0">
              <a:off x="0" y="0"/>
              <a:ext cx="8004964" cy="6350000"/>
            </a:xfrm>
            <a:custGeom>
              <a:avLst/>
              <a:gdLst/>
              <a:ahLst/>
              <a:cxnLst/>
              <a:rect r="r" b="b" t="t" l="l"/>
              <a:pathLst>
                <a:path h="6350000" w="8004964">
                  <a:moveTo>
                    <a:pt x="4003628" y="0"/>
                  </a:moveTo>
                  <a:cubicBezTo>
                    <a:pt x="6214108" y="0"/>
                    <a:pt x="8004964" y="993140"/>
                    <a:pt x="8004964" y="2217420"/>
                  </a:cubicBezTo>
                  <a:lnTo>
                    <a:pt x="8004964" y="6350000"/>
                  </a:lnTo>
                  <a:lnTo>
                    <a:pt x="0" y="6350000"/>
                  </a:lnTo>
                  <a:lnTo>
                    <a:pt x="0" y="2217420"/>
                  </a:lnTo>
                  <a:cubicBezTo>
                    <a:pt x="0" y="993140"/>
                    <a:pt x="1793148" y="0"/>
                    <a:pt x="4003628" y="0"/>
                  </a:cubicBezTo>
                  <a:close/>
                </a:path>
              </a:pathLst>
            </a:custGeom>
            <a:blipFill>
              <a:blip r:embed="rId2">
                <a:alphaModFix amt="4000"/>
              </a:blip>
              <a:stretch>
                <a:fillRect l="0" t="-13031" r="0" b="-1303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9417368"/>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grpSp>
        <p:nvGrpSpPr>
          <p:cNvPr name="Group 6" id="6"/>
          <p:cNvGrpSpPr/>
          <p:nvPr/>
        </p:nvGrpSpPr>
        <p:grpSpPr>
          <a:xfrm rot="0">
            <a:off x="187900" y="1419392"/>
            <a:ext cx="5694268" cy="3724108"/>
            <a:chOff x="0" y="0"/>
            <a:chExt cx="1499725" cy="980835"/>
          </a:xfrm>
        </p:grpSpPr>
        <p:sp>
          <p:nvSpPr>
            <p:cNvPr name="Freeform 7" id="7"/>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8" id="8"/>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87900" y="5561255"/>
            <a:ext cx="5694268" cy="3715256"/>
            <a:chOff x="0" y="0"/>
            <a:chExt cx="1499725" cy="978504"/>
          </a:xfrm>
        </p:grpSpPr>
        <p:sp>
          <p:nvSpPr>
            <p:cNvPr name="Freeform 10" id="10"/>
            <p:cNvSpPr/>
            <p:nvPr/>
          </p:nvSpPr>
          <p:spPr>
            <a:xfrm flipH="false" flipV="false" rot="0">
              <a:off x="0" y="0"/>
              <a:ext cx="1499725" cy="978504"/>
            </a:xfrm>
            <a:custGeom>
              <a:avLst/>
              <a:gdLst/>
              <a:ahLst/>
              <a:cxnLst/>
              <a:rect r="r" b="b" t="t" l="l"/>
              <a:pathLst>
                <a:path h="978504" w="1499725">
                  <a:moveTo>
                    <a:pt x="69340" y="0"/>
                  </a:moveTo>
                  <a:lnTo>
                    <a:pt x="1430385" y="0"/>
                  </a:lnTo>
                  <a:cubicBezTo>
                    <a:pt x="1448775" y="0"/>
                    <a:pt x="1466412" y="7305"/>
                    <a:pt x="1479416" y="20309"/>
                  </a:cubicBezTo>
                  <a:cubicBezTo>
                    <a:pt x="1492420" y="33313"/>
                    <a:pt x="1499725" y="50950"/>
                    <a:pt x="1499725" y="69340"/>
                  </a:cubicBezTo>
                  <a:lnTo>
                    <a:pt x="1499725" y="909164"/>
                  </a:lnTo>
                  <a:cubicBezTo>
                    <a:pt x="1499725" y="927554"/>
                    <a:pt x="1492420" y="945191"/>
                    <a:pt x="1479416" y="958194"/>
                  </a:cubicBezTo>
                  <a:cubicBezTo>
                    <a:pt x="1466412" y="971198"/>
                    <a:pt x="1448775" y="978504"/>
                    <a:pt x="1430385" y="978504"/>
                  </a:cubicBezTo>
                  <a:lnTo>
                    <a:pt x="69340" y="978504"/>
                  </a:lnTo>
                  <a:cubicBezTo>
                    <a:pt x="50950" y="978504"/>
                    <a:pt x="33313" y="971198"/>
                    <a:pt x="20309" y="958194"/>
                  </a:cubicBezTo>
                  <a:cubicBezTo>
                    <a:pt x="7305" y="945191"/>
                    <a:pt x="0" y="927554"/>
                    <a:pt x="0" y="909164"/>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1" id="11"/>
            <p:cNvSpPr txBox="true"/>
            <p:nvPr/>
          </p:nvSpPr>
          <p:spPr>
            <a:xfrm>
              <a:off x="0" y="-47625"/>
              <a:ext cx="1499725" cy="1026129"/>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6299067" y="1419392"/>
            <a:ext cx="5694268" cy="3722763"/>
            <a:chOff x="0" y="0"/>
            <a:chExt cx="1499725" cy="980481"/>
          </a:xfrm>
        </p:grpSpPr>
        <p:sp>
          <p:nvSpPr>
            <p:cNvPr name="Freeform 13" id="13"/>
            <p:cNvSpPr/>
            <p:nvPr/>
          </p:nvSpPr>
          <p:spPr>
            <a:xfrm flipH="false" flipV="false" rot="0">
              <a:off x="0" y="0"/>
              <a:ext cx="1499725" cy="980481"/>
            </a:xfrm>
            <a:custGeom>
              <a:avLst/>
              <a:gdLst/>
              <a:ahLst/>
              <a:cxnLst/>
              <a:rect r="r" b="b" t="t" l="l"/>
              <a:pathLst>
                <a:path h="980481" w="1499725">
                  <a:moveTo>
                    <a:pt x="69340" y="0"/>
                  </a:moveTo>
                  <a:lnTo>
                    <a:pt x="1430385" y="0"/>
                  </a:lnTo>
                  <a:cubicBezTo>
                    <a:pt x="1448775" y="0"/>
                    <a:pt x="1466412" y="7305"/>
                    <a:pt x="1479416" y="20309"/>
                  </a:cubicBezTo>
                  <a:cubicBezTo>
                    <a:pt x="1492420" y="33313"/>
                    <a:pt x="1499725" y="50950"/>
                    <a:pt x="1499725" y="69340"/>
                  </a:cubicBezTo>
                  <a:lnTo>
                    <a:pt x="1499725" y="911141"/>
                  </a:lnTo>
                  <a:cubicBezTo>
                    <a:pt x="1499725" y="929531"/>
                    <a:pt x="1492420" y="947168"/>
                    <a:pt x="1479416" y="960172"/>
                  </a:cubicBezTo>
                  <a:cubicBezTo>
                    <a:pt x="1466412" y="973175"/>
                    <a:pt x="1448775" y="980481"/>
                    <a:pt x="1430385" y="980481"/>
                  </a:cubicBezTo>
                  <a:lnTo>
                    <a:pt x="69340" y="980481"/>
                  </a:lnTo>
                  <a:cubicBezTo>
                    <a:pt x="50950" y="980481"/>
                    <a:pt x="33313" y="973175"/>
                    <a:pt x="20309" y="960172"/>
                  </a:cubicBezTo>
                  <a:cubicBezTo>
                    <a:pt x="7305" y="947168"/>
                    <a:pt x="0" y="929531"/>
                    <a:pt x="0" y="911141"/>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4" id="14"/>
            <p:cNvSpPr txBox="true"/>
            <p:nvPr/>
          </p:nvSpPr>
          <p:spPr>
            <a:xfrm>
              <a:off x="0" y="-47625"/>
              <a:ext cx="1499725" cy="1028106"/>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2477119" y="1254074"/>
            <a:ext cx="5583374" cy="3722763"/>
            <a:chOff x="0" y="0"/>
            <a:chExt cx="1470518" cy="980481"/>
          </a:xfrm>
        </p:grpSpPr>
        <p:sp>
          <p:nvSpPr>
            <p:cNvPr name="Freeform 16" id="16"/>
            <p:cNvSpPr/>
            <p:nvPr/>
          </p:nvSpPr>
          <p:spPr>
            <a:xfrm flipH="false" flipV="false" rot="0">
              <a:off x="0" y="0"/>
              <a:ext cx="1470518" cy="980481"/>
            </a:xfrm>
            <a:custGeom>
              <a:avLst/>
              <a:gdLst/>
              <a:ahLst/>
              <a:cxnLst/>
              <a:rect r="r" b="b" t="t" l="l"/>
              <a:pathLst>
                <a:path h="980481" w="1470518">
                  <a:moveTo>
                    <a:pt x="70717" y="0"/>
                  </a:moveTo>
                  <a:lnTo>
                    <a:pt x="1399802" y="0"/>
                  </a:lnTo>
                  <a:cubicBezTo>
                    <a:pt x="1418557" y="0"/>
                    <a:pt x="1436544" y="7450"/>
                    <a:pt x="1449806" y="20712"/>
                  </a:cubicBezTo>
                  <a:cubicBezTo>
                    <a:pt x="1463068" y="33974"/>
                    <a:pt x="1470518" y="51961"/>
                    <a:pt x="1470518" y="70717"/>
                  </a:cubicBezTo>
                  <a:lnTo>
                    <a:pt x="1470518" y="909764"/>
                  </a:lnTo>
                  <a:cubicBezTo>
                    <a:pt x="1470518" y="948820"/>
                    <a:pt x="1438857" y="980481"/>
                    <a:pt x="1399802" y="980481"/>
                  </a:cubicBezTo>
                  <a:lnTo>
                    <a:pt x="70717" y="980481"/>
                  </a:lnTo>
                  <a:cubicBezTo>
                    <a:pt x="51961" y="980481"/>
                    <a:pt x="33974" y="973030"/>
                    <a:pt x="20712" y="959768"/>
                  </a:cubicBezTo>
                  <a:cubicBezTo>
                    <a:pt x="7450" y="946506"/>
                    <a:pt x="0" y="928519"/>
                    <a:pt x="0" y="909764"/>
                  </a:cubicBezTo>
                  <a:lnTo>
                    <a:pt x="0" y="70717"/>
                  </a:lnTo>
                  <a:cubicBezTo>
                    <a:pt x="0" y="31661"/>
                    <a:pt x="31661" y="0"/>
                    <a:pt x="70717" y="0"/>
                  </a:cubicBezTo>
                  <a:close/>
                </a:path>
              </a:pathLst>
            </a:custGeom>
            <a:solidFill>
              <a:srgbClr val="304543"/>
            </a:solidFill>
          </p:spPr>
        </p:sp>
        <p:sp>
          <p:nvSpPr>
            <p:cNvPr name="TextBox 17" id="17"/>
            <p:cNvSpPr txBox="true"/>
            <p:nvPr/>
          </p:nvSpPr>
          <p:spPr>
            <a:xfrm>
              <a:off x="0" y="0"/>
              <a:ext cx="1470518" cy="980481"/>
            </a:xfrm>
            <a:prstGeom prst="rect">
              <a:avLst/>
            </a:prstGeom>
          </p:spPr>
          <p:txBody>
            <a:bodyPr anchor="ctr" rtlCol="false" tIns="139700" lIns="139700" bIns="139700" rIns="139700"/>
            <a:lstStyle/>
            <a:p>
              <a:pPr algn="l">
                <a:lnSpc>
                  <a:spcPts val="2415"/>
                </a:lnSpc>
              </a:pPr>
            </a:p>
          </p:txBody>
        </p:sp>
      </p:grpSp>
      <p:grpSp>
        <p:nvGrpSpPr>
          <p:cNvPr name="Group 18" id="18"/>
          <p:cNvGrpSpPr/>
          <p:nvPr/>
        </p:nvGrpSpPr>
        <p:grpSpPr>
          <a:xfrm rot="0">
            <a:off x="6299067" y="5579465"/>
            <a:ext cx="5694268" cy="3697045"/>
            <a:chOff x="0" y="0"/>
            <a:chExt cx="1499725" cy="973707"/>
          </a:xfrm>
        </p:grpSpPr>
        <p:sp>
          <p:nvSpPr>
            <p:cNvPr name="Freeform 19" id="19"/>
            <p:cNvSpPr/>
            <p:nvPr/>
          </p:nvSpPr>
          <p:spPr>
            <a:xfrm flipH="false" flipV="false" rot="0">
              <a:off x="0" y="0"/>
              <a:ext cx="1499725" cy="973707"/>
            </a:xfrm>
            <a:custGeom>
              <a:avLst/>
              <a:gdLst/>
              <a:ahLst/>
              <a:cxnLst/>
              <a:rect r="r" b="b" t="t" l="l"/>
              <a:pathLst>
                <a:path h="973707" w="1499725">
                  <a:moveTo>
                    <a:pt x="69340" y="0"/>
                  </a:moveTo>
                  <a:lnTo>
                    <a:pt x="1430385" y="0"/>
                  </a:lnTo>
                  <a:cubicBezTo>
                    <a:pt x="1448775" y="0"/>
                    <a:pt x="1466412" y="7305"/>
                    <a:pt x="1479416" y="20309"/>
                  </a:cubicBezTo>
                  <a:cubicBezTo>
                    <a:pt x="1492420" y="33313"/>
                    <a:pt x="1499725" y="50950"/>
                    <a:pt x="1499725" y="69340"/>
                  </a:cubicBezTo>
                  <a:lnTo>
                    <a:pt x="1499725" y="904368"/>
                  </a:lnTo>
                  <a:cubicBezTo>
                    <a:pt x="1499725" y="922758"/>
                    <a:pt x="1492420" y="940395"/>
                    <a:pt x="1479416" y="953398"/>
                  </a:cubicBezTo>
                  <a:cubicBezTo>
                    <a:pt x="1466412" y="966402"/>
                    <a:pt x="1448775" y="973707"/>
                    <a:pt x="1430385" y="973707"/>
                  </a:cubicBezTo>
                  <a:lnTo>
                    <a:pt x="69340" y="973707"/>
                  </a:lnTo>
                  <a:cubicBezTo>
                    <a:pt x="50950" y="973707"/>
                    <a:pt x="33313" y="966402"/>
                    <a:pt x="20309" y="953398"/>
                  </a:cubicBezTo>
                  <a:cubicBezTo>
                    <a:pt x="7305" y="940395"/>
                    <a:pt x="0" y="922758"/>
                    <a:pt x="0" y="904368"/>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20" id="20"/>
            <p:cNvSpPr txBox="true"/>
            <p:nvPr/>
          </p:nvSpPr>
          <p:spPr>
            <a:xfrm>
              <a:off x="0" y="-47625"/>
              <a:ext cx="1499725" cy="1021332"/>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12410234" y="5534192"/>
            <a:ext cx="5696469" cy="3724108"/>
            <a:chOff x="0" y="0"/>
            <a:chExt cx="1500305" cy="980835"/>
          </a:xfrm>
        </p:grpSpPr>
        <p:sp>
          <p:nvSpPr>
            <p:cNvPr name="Freeform 22" id="22"/>
            <p:cNvSpPr/>
            <p:nvPr/>
          </p:nvSpPr>
          <p:spPr>
            <a:xfrm flipH="false" flipV="false" rot="0">
              <a:off x="0" y="0"/>
              <a:ext cx="1500305" cy="980835"/>
            </a:xfrm>
            <a:custGeom>
              <a:avLst/>
              <a:gdLst/>
              <a:ahLst/>
              <a:cxnLst/>
              <a:rect r="r" b="b" t="t" l="l"/>
              <a:pathLst>
                <a:path h="980835" w="1500305">
                  <a:moveTo>
                    <a:pt x="69313" y="0"/>
                  </a:moveTo>
                  <a:lnTo>
                    <a:pt x="1430992" y="0"/>
                  </a:lnTo>
                  <a:cubicBezTo>
                    <a:pt x="1449375" y="0"/>
                    <a:pt x="1467005" y="7303"/>
                    <a:pt x="1480003" y="20301"/>
                  </a:cubicBezTo>
                  <a:cubicBezTo>
                    <a:pt x="1493002" y="33300"/>
                    <a:pt x="1500305" y="50930"/>
                    <a:pt x="1500305" y="69313"/>
                  </a:cubicBezTo>
                  <a:lnTo>
                    <a:pt x="1500305" y="911522"/>
                  </a:lnTo>
                  <a:cubicBezTo>
                    <a:pt x="1500305" y="949803"/>
                    <a:pt x="1469272" y="980835"/>
                    <a:pt x="1430992" y="980835"/>
                  </a:cubicBezTo>
                  <a:lnTo>
                    <a:pt x="69313" y="980835"/>
                  </a:lnTo>
                  <a:cubicBezTo>
                    <a:pt x="31032" y="980835"/>
                    <a:pt x="0" y="949803"/>
                    <a:pt x="0" y="911522"/>
                  </a:cubicBezTo>
                  <a:lnTo>
                    <a:pt x="0" y="69313"/>
                  </a:lnTo>
                  <a:cubicBezTo>
                    <a:pt x="0" y="31032"/>
                    <a:pt x="31032" y="0"/>
                    <a:pt x="69313" y="0"/>
                  </a:cubicBezTo>
                  <a:close/>
                </a:path>
              </a:pathLst>
            </a:custGeom>
            <a:solidFill>
              <a:srgbClr val="304543"/>
            </a:solidFill>
          </p:spPr>
        </p:sp>
        <p:sp>
          <p:nvSpPr>
            <p:cNvPr name="TextBox 23" id="23"/>
            <p:cNvSpPr txBox="true"/>
            <p:nvPr/>
          </p:nvSpPr>
          <p:spPr>
            <a:xfrm>
              <a:off x="0" y="-47625"/>
              <a:ext cx="1500305" cy="1028460"/>
            </a:xfrm>
            <a:prstGeom prst="rect">
              <a:avLst/>
            </a:prstGeom>
          </p:spPr>
          <p:txBody>
            <a:bodyPr anchor="ctr" rtlCol="false" tIns="50800" lIns="50800" bIns="50800" rIns="50800"/>
            <a:lstStyle/>
            <a:p>
              <a:pPr algn="ctr">
                <a:lnSpc>
                  <a:spcPts val="2940"/>
                </a:lnSpc>
              </a:pPr>
            </a:p>
          </p:txBody>
        </p:sp>
      </p:grpSp>
      <p:graphicFrame>
        <p:nvGraphicFramePr>
          <p:cNvPr name="Object 24" id="24"/>
          <p:cNvGraphicFramePr/>
          <p:nvPr/>
        </p:nvGraphicFramePr>
        <p:xfrm>
          <a:off x="6504138" y="5672221"/>
          <a:ext cx="3771900" cy="6286500"/>
        </p:xfrm>
        <a:graphic>
          <a:graphicData uri="http://schemas.openxmlformats.org/presentationml/2006/ole">
            <p:oleObj imgW="5029200" imgH="7543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12621985" y="5780163"/>
          <a:ext cx="3771900" cy="10477500"/>
        </p:xfrm>
        <a:graphic>
          <a:graphicData uri="http://schemas.openxmlformats.org/presentationml/2006/ole">
            <p:oleObj imgW="5867400" imgH="125730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pSp>
        <p:nvGrpSpPr>
          <p:cNvPr name="Group 26" id="26"/>
          <p:cNvGrpSpPr/>
          <p:nvPr/>
        </p:nvGrpSpPr>
        <p:grpSpPr>
          <a:xfrm rot="0">
            <a:off x="2699149" y="5041718"/>
            <a:ext cx="671770" cy="67177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28" id="28"/>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29" id="29"/>
          <p:cNvGrpSpPr/>
          <p:nvPr/>
        </p:nvGrpSpPr>
        <p:grpSpPr>
          <a:xfrm rot="0">
            <a:off x="8957111" y="4976837"/>
            <a:ext cx="671770" cy="67177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31" id="31"/>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32" id="32"/>
          <p:cNvGrpSpPr/>
          <p:nvPr/>
        </p:nvGrpSpPr>
        <p:grpSpPr>
          <a:xfrm rot="0">
            <a:off x="14932922" y="4976837"/>
            <a:ext cx="671770" cy="67177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34" id="34"/>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aphicFrame>
        <p:nvGraphicFramePr>
          <p:cNvPr name="Object 35" id="35"/>
          <p:cNvGraphicFramePr/>
          <p:nvPr/>
        </p:nvGraphicFramePr>
        <p:xfrm>
          <a:off x="258070" y="5648606"/>
          <a:ext cx="3771900" cy="5029200"/>
        </p:xfrm>
        <a:graphic>
          <a:graphicData uri="http://schemas.openxmlformats.org/presentationml/2006/ole">
            <p:oleObj imgW="4775200" imgH="60325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36" id="36"/>
          <p:cNvSpPr txBox="true"/>
          <p:nvPr/>
        </p:nvSpPr>
        <p:spPr>
          <a:xfrm rot="0">
            <a:off x="326038" y="252897"/>
            <a:ext cx="15125468" cy="946149"/>
          </a:xfrm>
          <a:prstGeom prst="rect">
            <a:avLst/>
          </a:prstGeom>
        </p:spPr>
        <p:txBody>
          <a:bodyPr anchor="t" rtlCol="false" tIns="0" lIns="0" bIns="0" rIns="0">
            <a:spAutoFit/>
          </a:bodyPr>
          <a:lstStyle/>
          <a:p>
            <a:pPr algn="l">
              <a:lnSpc>
                <a:spcPts val="7700"/>
              </a:lnSpc>
              <a:spcBef>
                <a:spcPct val="0"/>
              </a:spcBef>
            </a:pPr>
            <a:r>
              <a:rPr lang="en-US" b="true" sz="5500">
                <a:solidFill>
                  <a:srgbClr val="000000"/>
                </a:solidFill>
                <a:latin typeface="Cormorant Garamond Bold"/>
                <a:ea typeface="Cormorant Garamond Bold"/>
                <a:cs typeface="Cormorant Garamond Bold"/>
                <a:sym typeface="Cormorant Garamond Bold"/>
              </a:rPr>
              <a:t> </a:t>
            </a:r>
            <a:r>
              <a:rPr lang="en-US" b="true" sz="5500">
                <a:solidFill>
                  <a:srgbClr val="000000"/>
                </a:solidFill>
                <a:latin typeface="Cormorant Garamond Bold"/>
                <a:ea typeface="Cormorant Garamond Bold"/>
                <a:cs typeface="Cormorant Garamond Bold"/>
                <a:sym typeface="Cormorant Garamond Bold"/>
              </a:rPr>
              <a:t>Social </a:t>
            </a:r>
            <a:r>
              <a:rPr lang="en-US" b="true" sz="5500">
                <a:solidFill>
                  <a:srgbClr val="000000"/>
                </a:solidFill>
                <a:latin typeface="Cormorant Garamond Bold"/>
                <a:ea typeface="Cormorant Garamond Bold"/>
                <a:cs typeface="Cormorant Garamond Bold"/>
                <a:sym typeface="Cormorant Garamond Bold"/>
              </a:rPr>
              <a:t>Media Usage &amp; Habits</a:t>
            </a:r>
          </a:p>
        </p:txBody>
      </p:sp>
      <p:sp>
        <p:nvSpPr>
          <p:cNvPr name="TextBox 37" id="37"/>
          <p:cNvSpPr txBox="true"/>
          <p:nvPr/>
        </p:nvSpPr>
        <p:spPr>
          <a:xfrm rot="0">
            <a:off x="17259300" y="953452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8</a:t>
            </a:r>
          </a:p>
        </p:txBody>
      </p:sp>
      <p:sp>
        <p:nvSpPr>
          <p:cNvPr name="TextBox 38" id="38"/>
          <p:cNvSpPr txBox="true"/>
          <p:nvPr/>
        </p:nvSpPr>
        <p:spPr>
          <a:xfrm rot="0">
            <a:off x="326038" y="9645968"/>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39" id="39"/>
          <p:cNvSpPr txBox="true"/>
          <p:nvPr/>
        </p:nvSpPr>
        <p:spPr>
          <a:xfrm rot="0">
            <a:off x="6445862" y="2533276"/>
            <a:ext cx="5694268" cy="1664335"/>
          </a:xfrm>
          <a:prstGeom prst="rect">
            <a:avLst/>
          </a:prstGeom>
        </p:spPr>
        <p:txBody>
          <a:bodyPr anchor="t" rtlCol="false" tIns="0" lIns="0" bIns="0" rIns="0">
            <a:spAutoFit/>
          </a:bodyPr>
          <a:lstStyle/>
          <a:p>
            <a:pPr algn="l">
              <a:lnSpc>
                <a:spcPts val="2239"/>
              </a:lnSpc>
              <a:spcBef>
                <a:spcPct val="0"/>
              </a:spcBef>
            </a:pPr>
            <a:r>
              <a:rPr lang="en-US" sz="1599">
                <a:solidFill>
                  <a:srgbClr val="0CC0DF"/>
                </a:solidFill>
                <a:latin typeface="Roboto"/>
                <a:ea typeface="Roboto"/>
                <a:cs typeface="Roboto"/>
                <a:sym typeface="Roboto"/>
              </a:rPr>
              <a:t>SELECT </a:t>
            </a:r>
          </a:p>
          <a:p>
            <a:pPr algn="l">
              <a:lnSpc>
                <a:spcPts val="2239"/>
              </a:lnSpc>
              <a:spcBef>
                <a:spcPct val="0"/>
              </a:spcBef>
            </a:pPr>
            <a:r>
              <a:rPr lang="en-US" sz="1599">
                <a:solidFill>
                  <a:srgbClr val="F5F5EF"/>
                </a:solidFill>
                <a:latin typeface="Roboto"/>
                <a:ea typeface="Roboto"/>
                <a:cs typeface="Roboto"/>
                <a:sym typeface="Roboto"/>
              </a:rPr>
              <a:t>    primary_platform,</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AS number_of_users</a:t>
            </a:r>
          </a:p>
          <a:p>
            <a:pPr algn="l">
              <a:lnSpc>
                <a:spcPts val="2239"/>
              </a:lnSpc>
              <a:spcBef>
                <a:spcPct val="0"/>
              </a:spcBef>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l">
              <a:lnSpc>
                <a:spcPts val="2239"/>
              </a:lnSpc>
              <a:spcBef>
                <a:spcPct val="0"/>
              </a:spcBef>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primary_platform</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number_of_users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40" id="40"/>
          <p:cNvSpPr txBox="true"/>
          <p:nvPr/>
        </p:nvSpPr>
        <p:spPr>
          <a:xfrm rot="0">
            <a:off x="326038" y="1486114"/>
            <a:ext cx="5594849" cy="3490722"/>
          </a:xfrm>
          <a:prstGeom prst="rect">
            <a:avLst/>
          </a:prstGeom>
        </p:spPr>
        <p:txBody>
          <a:bodyPr anchor="t" rtlCol="false" tIns="0" lIns="0" bIns="0" rIns="0">
            <a:spAutoFit/>
          </a:bodyPr>
          <a:lstStyle/>
          <a:p>
            <a:pPr algn="ctr">
              <a:lnSpc>
                <a:spcPts val="2783"/>
              </a:lnSpc>
            </a:pPr>
            <a:r>
              <a:rPr lang="en-US" sz="1599">
                <a:solidFill>
                  <a:srgbClr val="C1DFC1"/>
                </a:solidFill>
                <a:latin typeface="Guild A Display"/>
                <a:ea typeface="Guild A Display"/>
                <a:cs typeface="Guild A Display"/>
                <a:sym typeface="Guild A Display"/>
              </a:rPr>
              <a:t>--1. Average daily social media usage by age group</a:t>
            </a:r>
          </a:p>
          <a:p>
            <a:pPr algn="l">
              <a:lnSpc>
                <a:spcPts val="2783"/>
              </a:lnSpc>
            </a:pPr>
            <a:r>
              <a:rPr lang="en-US" sz="1599">
                <a:solidFill>
                  <a:srgbClr val="0CC0DF"/>
                </a:solidFill>
                <a:latin typeface="Roboto"/>
                <a:ea typeface="Roboto"/>
                <a:cs typeface="Roboto"/>
                <a:sym typeface="Roboto"/>
              </a:rPr>
              <a:t>SELECT </a:t>
            </a:r>
          </a:p>
          <a:p>
            <a:pPr algn="l">
              <a:lnSpc>
                <a:spcPts val="2783"/>
              </a:lnSpc>
            </a:pPr>
            <a:r>
              <a:rPr lang="en-US" sz="1599">
                <a:solidFill>
                  <a:srgbClr val="F5F5EF"/>
                </a:solidFill>
                <a:latin typeface="Roboto"/>
                <a:ea typeface="Roboto"/>
                <a:cs typeface="Roboto"/>
                <a:sym typeface="Roboto"/>
              </a:rPr>
              <a:t>    p.age_group,</a:t>
            </a:r>
          </a:p>
          <a:p>
            <a:pPr algn="l">
              <a:lnSpc>
                <a:spcPts val="2783"/>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(m.avg_daily_sm_hours)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avg_daily_social_media_hours</a:t>
            </a:r>
          </a:p>
          <a:p>
            <a:pPr algn="l">
              <a:lnSpc>
                <a:spcPts val="2783"/>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783"/>
              </a:lnSpc>
            </a:pPr>
            <a:r>
              <a:rPr lang="en-US" sz="1599">
                <a:solidFill>
                  <a:srgbClr val="0CC0DF"/>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783"/>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783"/>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l">
              <a:lnSpc>
                <a:spcPts val="2783"/>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avg_daily_social_media_hours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41" id="41"/>
          <p:cNvSpPr txBox="true"/>
          <p:nvPr/>
        </p:nvSpPr>
        <p:spPr>
          <a:xfrm rot="0">
            <a:off x="6445862" y="1535691"/>
            <a:ext cx="5675754" cy="540385"/>
          </a:xfrm>
          <a:prstGeom prst="rect">
            <a:avLst/>
          </a:prstGeom>
        </p:spPr>
        <p:txBody>
          <a:bodyPr anchor="t" rtlCol="false" tIns="0" lIns="0" bIns="0" rIns="0">
            <a:spAutoFit/>
          </a:bodyPr>
          <a:lstStyle/>
          <a:p>
            <a:pPr algn="ctr">
              <a:lnSpc>
                <a:spcPts val="2239"/>
              </a:lnSpc>
            </a:pPr>
            <a:r>
              <a:rPr lang="en-US" sz="1599" b="true">
                <a:solidFill>
                  <a:srgbClr val="C1DFC1"/>
                </a:solidFill>
                <a:latin typeface="Canva Sans Bold"/>
                <a:ea typeface="Canva Sans Bold"/>
                <a:cs typeface="Canva Sans Bold"/>
                <a:sym typeface="Canva Sans Bold"/>
              </a:rPr>
              <a:t>--2. Which social me</a:t>
            </a:r>
            <a:r>
              <a:rPr lang="en-US" b="true" sz="1599">
                <a:solidFill>
                  <a:srgbClr val="C1DFC1"/>
                </a:solidFill>
                <a:latin typeface="Canva Sans Bold"/>
                <a:ea typeface="Canva Sans Bold"/>
                <a:cs typeface="Canva Sans Bold"/>
                <a:sym typeface="Canva Sans Bold"/>
              </a:rPr>
              <a:t>dia platform is the</a:t>
            </a:r>
          </a:p>
          <a:p>
            <a:pPr algn="ctr">
              <a:lnSpc>
                <a:spcPts val="2239"/>
              </a:lnSpc>
            </a:pPr>
            <a:r>
              <a:rPr lang="en-US" b="true" sz="1599">
                <a:solidFill>
                  <a:srgbClr val="C1DFC1"/>
                </a:solidFill>
                <a:latin typeface="Canva Sans Bold"/>
                <a:ea typeface="Canva Sans Bold"/>
                <a:cs typeface="Canva Sans Bold"/>
                <a:sym typeface="Canva Sans Bold"/>
              </a:rPr>
              <a:t> most preferred?</a:t>
            </a:r>
          </a:p>
        </p:txBody>
      </p:sp>
      <p:sp>
        <p:nvSpPr>
          <p:cNvPr name="TextBox 42" id="42"/>
          <p:cNvSpPr txBox="true"/>
          <p:nvPr/>
        </p:nvSpPr>
        <p:spPr>
          <a:xfrm rot="0">
            <a:off x="10712174" y="1467381"/>
            <a:ext cx="9067289" cy="816610"/>
          </a:xfrm>
          <a:prstGeom prst="rect">
            <a:avLst/>
          </a:prstGeom>
        </p:spPr>
        <p:txBody>
          <a:bodyPr anchor="t" rtlCol="false" tIns="0" lIns="0" bIns="0" rIns="0">
            <a:spAutoFit/>
          </a:bodyPr>
          <a:lstStyle/>
          <a:p>
            <a:pPr algn="ctr">
              <a:lnSpc>
                <a:spcPts val="2239"/>
              </a:lnSpc>
            </a:pPr>
            <a:r>
              <a:rPr lang="en-US" sz="1599">
                <a:solidFill>
                  <a:srgbClr val="C1DFC1"/>
                </a:solidFill>
                <a:latin typeface="Canva Sans"/>
                <a:ea typeface="Canva Sans"/>
                <a:cs typeface="Canva Sans"/>
                <a:sym typeface="Canva Sans"/>
              </a:rPr>
              <a:t>3. How frequently do users check social media across</a:t>
            </a:r>
          </a:p>
          <a:p>
            <a:pPr algn="ctr">
              <a:lnSpc>
                <a:spcPts val="2239"/>
              </a:lnSpc>
            </a:pPr>
            <a:r>
              <a:rPr lang="en-US" sz="1599">
                <a:solidFill>
                  <a:srgbClr val="C1DFC1"/>
                </a:solidFill>
                <a:latin typeface="Canva Sans"/>
                <a:ea typeface="Canva Sans"/>
                <a:cs typeface="Canva Sans"/>
                <a:sym typeface="Canva Sans"/>
              </a:rPr>
              <a:t> different primary platforms?</a:t>
            </a:r>
          </a:p>
          <a:p>
            <a:pPr algn="ctr">
              <a:lnSpc>
                <a:spcPts val="2239"/>
              </a:lnSpc>
            </a:pPr>
          </a:p>
        </p:txBody>
      </p:sp>
      <p:sp>
        <p:nvSpPr>
          <p:cNvPr name="TextBox 43" id="43"/>
          <p:cNvSpPr txBox="true"/>
          <p:nvPr/>
        </p:nvSpPr>
        <p:spPr>
          <a:xfrm rot="0">
            <a:off x="12702105" y="2138702"/>
            <a:ext cx="5358389" cy="2100072"/>
          </a:xfrm>
          <a:prstGeom prst="rect">
            <a:avLst/>
          </a:prstGeom>
        </p:spPr>
        <p:txBody>
          <a:bodyPr anchor="t" rtlCol="false" tIns="0" lIns="0" bIns="0" rIns="0">
            <a:spAutoFit/>
          </a:bodyPr>
          <a:lstStyle/>
          <a:p>
            <a:pPr algn="just">
              <a:lnSpc>
                <a:spcPts val="2783"/>
              </a:lnSpc>
            </a:pPr>
            <a:r>
              <a:rPr lang="en-US" sz="1599">
                <a:solidFill>
                  <a:srgbClr val="0CC0DF"/>
                </a:solidFill>
                <a:latin typeface="Roboto"/>
                <a:ea typeface="Roboto"/>
                <a:cs typeface="Roboto"/>
                <a:sym typeface="Roboto"/>
              </a:rPr>
              <a:t>SELECT </a:t>
            </a:r>
            <a:r>
              <a:rPr lang="en-US" sz="1599">
                <a:solidFill>
                  <a:srgbClr val="F5F5EF"/>
                </a:solidFill>
                <a:latin typeface="Roboto"/>
                <a:ea typeface="Roboto"/>
                <a:cs typeface="Roboto"/>
                <a:sym typeface="Roboto"/>
              </a:rPr>
              <a:t>primary_platform,</a:t>
            </a:r>
          </a:p>
          <a:p>
            <a:pPr algn="just">
              <a:lnSpc>
                <a:spcPts val="2783"/>
              </a:lnSpc>
            </a:pPr>
            <a:r>
              <a:rPr lang="en-US" sz="1599">
                <a:solidFill>
                  <a:srgbClr val="F5F5EF"/>
                </a:solidFill>
                <a:latin typeface="Roboto"/>
                <a:ea typeface="Roboto"/>
                <a:cs typeface="Roboto"/>
                <a:sym typeface="Roboto"/>
              </a:rPr>
              <a:t>    daily_check_frequency,</a:t>
            </a:r>
          </a:p>
          <a:p>
            <a:pPr algn="just">
              <a:lnSpc>
                <a:spcPts val="2783"/>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AS number_of_participants</a:t>
            </a:r>
          </a:p>
          <a:p>
            <a:pPr algn="just">
              <a:lnSpc>
                <a:spcPts val="2783"/>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just">
              <a:lnSpc>
                <a:spcPts val="2783"/>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primary_platform, daily_check_frequency</a:t>
            </a:r>
          </a:p>
          <a:p>
            <a:pPr algn="just">
              <a:lnSpc>
                <a:spcPts val="2783"/>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primary_platform,number_of_participants DESC;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2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61645" y="22183"/>
            <a:ext cx="15125468" cy="946149"/>
          </a:xfrm>
          <a:prstGeom prst="rect">
            <a:avLst/>
          </a:prstGeom>
        </p:spPr>
        <p:txBody>
          <a:bodyPr anchor="t" rtlCol="false" tIns="0" lIns="0" bIns="0" rIns="0">
            <a:spAutoFit/>
          </a:bodyPr>
          <a:lstStyle/>
          <a:p>
            <a:pPr algn="l">
              <a:lnSpc>
                <a:spcPts val="7700"/>
              </a:lnSpc>
              <a:spcBef>
                <a:spcPct val="0"/>
              </a:spcBef>
            </a:pPr>
            <a:r>
              <a:rPr lang="en-US" b="true" sz="5500">
                <a:solidFill>
                  <a:srgbClr val="000000"/>
                </a:solidFill>
                <a:latin typeface="Cormorant Garamond Bold"/>
                <a:ea typeface="Cormorant Garamond Bold"/>
                <a:cs typeface="Cormorant Garamond Bold"/>
                <a:sym typeface="Cormorant Garamond Bold"/>
              </a:rPr>
              <a:t> </a:t>
            </a:r>
            <a:r>
              <a:rPr lang="en-US" b="true" sz="5500">
                <a:solidFill>
                  <a:srgbClr val="000000"/>
                </a:solidFill>
                <a:latin typeface="Cormorant Garamond Bold"/>
                <a:ea typeface="Cormorant Garamond Bold"/>
                <a:cs typeface="Cormorant Garamond Bold"/>
                <a:sym typeface="Cormorant Garamond Bold"/>
              </a:rPr>
              <a:t>Social </a:t>
            </a:r>
            <a:r>
              <a:rPr lang="en-US" b="true" sz="5500">
                <a:solidFill>
                  <a:srgbClr val="000000"/>
                </a:solidFill>
                <a:latin typeface="Cormorant Garamond Bold"/>
                <a:ea typeface="Cormorant Garamond Bold"/>
                <a:cs typeface="Cormorant Garamond Bold"/>
                <a:sym typeface="Cormorant Garamond Bold"/>
              </a:rPr>
              <a:t>Media Usage &amp; Habits</a:t>
            </a:r>
          </a:p>
        </p:txBody>
      </p:sp>
      <p:grpSp>
        <p:nvGrpSpPr>
          <p:cNvPr name="Group 7" id="7"/>
          <p:cNvGrpSpPr/>
          <p:nvPr/>
        </p:nvGrpSpPr>
        <p:grpSpPr>
          <a:xfrm rot="0">
            <a:off x="634562" y="1204253"/>
            <a:ext cx="5881514" cy="3746240"/>
            <a:chOff x="0" y="0"/>
            <a:chExt cx="1549041" cy="986664"/>
          </a:xfrm>
        </p:grpSpPr>
        <p:sp>
          <p:nvSpPr>
            <p:cNvPr name="Freeform 8" id="8"/>
            <p:cNvSpPr/>
            <p:nvPr/>
          </p:nvSpPr>
          <p:spPr>
            <a:xfrm flipH="false" flipV="false" rot="0">
              <a:off x="0" y="0"/>
              <a:ext cx="1549041" cy="986664"/>
            </a:xfrm>
            <a:custGeom>
              <a:avLst/>
              <a:gdLst/>
              <a:ahLst/>
              <a:cxnLst/>
              <a:rect r="r" b="b" t="t" l="l"/>
              <a:pathLst>
                <a:path h="986664" w="1549041">
                  <a:moveTo>
                    <a:pt x="67132" y="0"/>
                  </a:moveTo>
                  <a:lnTo>
                    <a:pt x="1481909" y="0"/>
                  </a:lnTo>
                  <a:cubicBezTo>
                    <a:pt x="1499713" y="0"/>
                    <a:pt x="1516788" y="7073"/>
                    <a:pt x="1529378" y="19663"/>
                  </a:cubicBezTo>
                  <a:cubicBezTo>
                    <a:pt x="1541968" y="32252"/>
                    <a:pt x="1549041" y="49328"/>
                    <a:pt x="1549041" y="67132"/>
                  </a:cubicBezTo>
                  <a:lnTo>
                    <a:pt x="1549041" y="919532"/>
                  </a:lnTo>
                  <a:cubicBezTo>
                    <a:pt x="1549041" y="956608"/>
                    <a:pt x="1518985" y="986664"/>
                    <a:pt x="1481909" y="986664"/>
                  </a:cubicBezTo>
                  <a:lnTo>
                    <a:pt x="67132" y="986664"/>
                  </a:lnTo>
                  <a:cubicBezTo>
                    <a:pt x="30056" y="986664"/>
                    <a:pt x="0" y="956608"/>
                    <a:pt x="0" y="919532"/>
                  </a:cubicBezTo>
                  <a:lnTo>
                    <a:pt x="0" y="67132"/>
                  </a:lnTo>
                  <a:cubicBezTo>
                    <a:pt x="0" y="30056"/>
                    <a:pt x="30056" y="0"/>
                    <a:pt x="67132" y="0"/>
                  </a:cubicBezTo>
                  <a:close/>
                </a:path>
              </a:pathLst>
            </a:custGeom>
            <a:solidFill>
              <a:srgbClr val="304543"/>
            </a:solidFill>
          </p:spPr>
        </p:sp>
        <p:sp>
          <p:nvSpPr>
            <p:cNvPr name="TextBox 9" id="9"/>
            <p:cNvSpPr txBox="true"/>
            <p:nvPr/>
          </p:nvSpPr>
          <p:spPr>
            <a:xfrm>
              <a:off x="0" y="-47625"/>
              <a:ext cx="1549041" cy="103428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8819554" y="842879"/>
            <a:ext cx="5694268" cy="3724108"/>
            <a:chOff x="0" y="0"/>
            <a:chExt cx="1499725" cy="980835"/>
          </a:xfrm>
        </p:grpSpPr>
        <p:sp>
          <p:nvSpPr>
            <p:cNvPr name="Freeform 11" id="11"/>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2" id="12"/>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11105218" y="4773826"/>
            <a:ext cx="6721958" cy="3915694"/>
            <a:chOff x="0" y="0"/>
            <a:chExt cx="1770392" cy="1031294"/>
          </a:xfrm>
        </p:grpSpPr>
        <p:sp>
          <p:nvSpPr>
            <p:cNvPr name="Freeform 14" id="14"/>
            <p:cNvSpPr/>
            <p:nvPr/>
          </p:nvSpPr>
          <p:spPr>
            <a:xfrm flipH="false" flipV="false" rot="0">
              <a:off x="0" y="0"/>
              <a:ext cx="1770392" cy="1031294"/>
            </a:xfrm>
            <a:custGeom>
              <a:avLst/>
              <a:gdLst/>
              <a:ahLst/>
              <a:cxnLst/>
              <a:rect r="r" b="b" t="t" l="l"/>
              <a:pathLst>
                <a:path h="1031294" w="1770392">
                  <a:moveTo>
                    <a:pt x="58739" y="0"/>
                  </a:moveTo>
                  <a:lnTo>
                    <a:pt x="1711654" y="0"/>
                  </a:lnTo>
                  <a:cubicBezTo>
                    <a:pt x="1744094" y="0"/>
                    <a:pt x="1770392" y="26298"/>
                    <a:pt x="1770392" y="58739"/>
                  </a:cubicBezTo>
                  <a:lnTo>
                    <a:pt x="1770392" y="972555"/>
                  </a:lnTo>
                  <a:cubicBezTo>
                    <a:pt x="1770392" y="1004996"/>
                    <a:pt x="1744094" y="1031294"/>
                    <a:pt x="1711654" y="1031294"/>
                  </a:cubicBezTo>
                  <a:lnTo>
                    <a:pt x="58739" y="1031294"/>
                  </a:lnTo>
                  <a:cubicBezTo>
                    <a:pt x="26298" y="1031294"/>
                    <a:pt x="0" y="1004996"/>
                    <a:pt x="0" y="972555"/>
                  </a:cubicBezTo>
                  <a:lnTo>
                    <a:pt x="0" y="58739"/>
                  </a:lnTo>
                  <a:cubicBezTo>
                    <a:pt x="0" y="26298"/>
                    <a:pt x="26298" y="0"/>
                    <a:pt x="58739" y="0"/>
                  </a:cubicBezTo>
                  <a:close/>
                </a:path>
              </a:pathLst>
            </a:custGeom>
            <a:solidFill>
              <a:srgbClr val="304543"/>
            </a:solidFill>
          </p:spPr>
        </p:sp>
        <p:sp>
          <p:nvSpPr>
            <p:cNvPr name="TextBox 15" id="15"/>
            <p:cNvSpPr txBox="true"/>
            <p:nvPr/>
          </p:nvSpPr>
          <p:spPr>
            <a:xfrm>
              <a:off x="0" y="-47625"/>
              <a:ext cx="1770392" cy="1078919"/>
            </a:xfrm>
            <a:prstGeom prst="rect">
              <a:avLst/>
            </a:prstGeom>
          </p:spPr>
          <p:txBody>
            <a:bodyPr anchor="ctr" rtlCol="false" tIns="50800" lIns="50800" bIns="50800" rIns="50800"/>
            <a:lstStyle/>
            <a:p>
              <a:pPr algn="ctr">
                <a:lnSpc>
                  <a:spcPts val="2940"/>
                </a:lnSpc>
              </a:pPr>
            </a:p>
          </p:txBody>
        </p:sp>
      </p:grpSp>
      <p:graphicFrame>
        <p:nvGraphicFramePr>
          <p:cNvPr name="Object 16" id="16"/>
          <p:cNvGraphicFramePr/>
          <p:nvPr/>
        </p:nvGraphicFramePr>
        <p:xfrm>
          <a:off x="9023641" y="1038225"/>
          <a:ext cx="4356847" cy="8229600"/>
        </p:xfrm>
        <a:graphic>
          <a:graphicData uri="http://schemas.openxmlformats.org/presentationml/2006/ole">
            <p:oleObj imgW="59944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7" id="17"/>
          <p:cNvSpPr txBox="true"/>
          <p:nvPr/>
        </p:nvSpPr>
        <p:spPr>
          <a:xfrm rot="0">
            <a:off x="1001415" y="1254692"/>
            <a:ext cx="5147807" cy="3424181"/>
          </a:xfrm>
          <a:prstGeom prst="rect">
            <a:avLst/>
          </a:prstGeom>
        </p:spPr>
        <p:txBody>
          <a:bodyPr anchor="t" rtlCol="false" tIns="0" lIns="0" bIns="0" rIns="0">
            <a:spAutoFit/>
          </a:bodyPr>
          <a:lstStyle/>
          <a:p>
            <a:pPr algn="ctr">
              <a:lnSpc>
                <a:spcPts val="2497"/>
              </a:lnSpc>
            </a:pPr>
            <a:r>
              <a:rPr lang="en-US" sz="1560" spc="129">
                <a:solidFill>
                  <a:srgbClr val="C1DFC1"/>
                </a:solidFill>
                <a:latin typeface="Guild A Display"/>
                <a:ea typeface="Guild A Display"/>
                <a:cs typeface="Guild A Display"/>
                <a:sym typeface="Guild A Display"/>
              </a:rPr>
              <a:t>--4. How does first-check-of-day behavior vary by age group</a:t>
            </a:r>
            <a:r>
              <a:rPr lang="en-US" sz="1560" spc="129">
                <a:solidFill>
                  <a:srgbClr val="F5F5EF"/>
                </a:solidFill>
                <a:latin typeface="Guild A Display"/>
                <a:ea typeface="Guild A Display"/>
                <a:cs typeface="Guild A Display"/>
                <a:sym typeface="Guild A Display"/>
              </a:rPr>
              <a:t>?</a:t>
            </a:r>
          </a:p>
          <a:p>
            <a:pPr algn="l">
              <a:lnSpc>
                <a:spcPts val="2497"/>
              </a:lnSpc>
            </a:pPr>
            <a:r>
              <a:rPr lang="en-US" sz="1560" spc="129">
                <a:solidFill>
                  <a:srgbClr val="0CC0DF"/>
                </a:solidFill>
                <a:latin typeface="Roboto"/>
                <a:ea typeface="Roboto"/>
                <a:cs typeface="Roboto"/>
                <a:sym typeface="Roboto"/>
              </a:rPr>
              <a:t>SELECT </a:t>
            </a:r>
          </a:p>
          <a:p>
            <a:pPr algn="l">
              <a:lnSpc>
                <a:spcPts val="2497"/>
              </a:lnSpc>
            </a:pPr>
            <a:r>
              <a:rPr lang="en-US" sz="1560" spc="129">
                <a:solidFill>
                  <a:srgbClr val="F5F5EF"/>
                </a:solidFill>
                <a:latin typeface="Roboto"/>
                <a:ea typeface="Roboto"/>
                <a:cs typeface="Roboto"/>
                <a:sym typeface="Roboto"/>
              </a:rPr>
              <a:t>    p.age_group,</a:t>
            </a:r>
          </a:p>
          <a:p>
            <a:pPr algn="l">
              <a:lnSpc>
                <a:spcPts val="2497"/>
              </a:lnSpc>
            </a:pPr>
            <a:r>
              <a:rPr lang="en-US" sz="1560" spc="129">
                <a:solidFill>
                  <a:srgbClr val="F5F5EF"/>
                </a:solidFill>
                <a:latin typeface="Roboto"/>
                <a:ea typeface="Roboto"/>
                <a:cs typeface="Roboto"/>
                <a:sym typeface="Roboto"/>
              </a:rPr>
              <a:t>   </a:t>
            </a:r>
            <a:r>
              <a:rPr lang="en-US" sz="1560" spc="129">
                <a:solidFill>
                  <a:srgbClr val="FF66C4"/>
                </a:solidFill>
                <a:latin typeface="Roboto"/>
                <a:ea typeface="Roboto"/>
                <a:cs typeface="Roboto"/>
                <a:sym typeface="Roboto"/>
              </a:rPr>
              <a:t> AVG</a:t>
            </a:r>
            <a:r>
              <a:rPr lang="en-US" sz="1560" spc="129">
                <a:solidFill>
                  <a:srgbClr val="F5F5EF"/>
                </a:solidFill>
                <a:latin typeface="Roboto"/>
                <a:ea typeface="Roboto"/>
                <a:cs typeface="Roboto"/>
                <a:sym typeface="Roboto"/>
              </a:rPr>
              <a:t>(m.avg_daily_sm_hours) AS avg_daily_social_media_hours</a:t>
            </a:r>
          </a:p>
          <a:p>
            <a:pPr algn="l">
              <a:lnSpc>
                <a:spcPts val="2497"/>
              </a:lnSpc>
            </a:pPr>
            <a:r>
              <a:rPr lang="en-US" sz="1560" spc="129">
                <a:solidFill>
                  <a:srgbClr val="0CC0DF"/>
                </a:solidFill>
                <a:latin typeface="Roboto"/>
                <a:ea typeface="Roboto"/>
                <a:cs typeface="Roboto"/>
                <a:sym typeface="Roboto"/>
              </a:rPr>
              <a:t>FROM </a:t>
            </a:r>
            <a:r>
              <a:rPr lang="en-US" sz="1560" spc="129">
                <a:solidFill>
                  <a:srgbClr val="F5F5EF"/>
                </a:solidFill>
                <a:latin typeface="Roboto"/>
                <a:ea typeface="Roboto"/>
                <a:cs typeface="Roboto"/>
                <a:sym typeface="Roboto"/>
              </a:rPr>
              <a:t>Participant p</a:t>
            </a:r>
          </a:p>
          <a:p>
            <a:pPr algn="l">
              <a:lnSpc>
                <a:spcPts val="2497"/>
              </a:lnSpc>
            </a:pPr>
            <a:r>
              <a:rPr lang="en-US" sz="1560" spc="129">
                <a:solidFill>
                  <a:srgbClr val="0CC0DF"/>
                </a:solidFill>
                <a:latin typeface="Roboto"/>
                <a:ea typeface="Roboto"/>
                <a:cs typeface="Roboto"/>
                <a:sym typeface="Roboto"/>
              </a:rPr>
              <a:t>JOIN</a:t>
            </a:r>
            <a:r>
              <a:rPr lang="en-US" sz="1560" spc="129">
                <a:solidFill>
                  <a:srgbClr val="F5F5EF"/>
                </a:solidFill>
                <a:latin typeface="Roboto"/>
                <a:ea typeface="Roboto"/>
                <a:cs typeface="Roboto"/>
                <a:sym typeface="Roboto"/>
              </a:rPr>
              <a:t> Fact_User_Metrics m</a:t>
            </a:r>
          </a:p>
          <a:p>
            <a:pPr algn="l">
              <a:lnSpc>
                <a:spcPts val="2497"/>
              </a:lnSpc>
            </a:pPr>
            <a:r>
              <a:rPr lang="en-US" sz="1560" spc="129">
                <a:solidFill>
                  <a:srgbClr val="F5F5EF"/>
                </a:solidFill>
                <a:latin typeface="Roboto"/>
                <a:ea typeface="Roboto"/>
                <a:cs typeface="Roboto"/>
                <a:sym typeface="Roboto"/>
              </a:rPr>
              <a:t>  </a:t>
            </a:r>
            <a:r>
              <a:rPr lang="en-US" sz="1560" spc="129">
                <a:solidFill>
                  <a:srgbClr val="0CC0DF"/>
                </a:solidFill>
                <a:latin typeface="Roboto"/>
                <a:ea typeface="Roboto"/>
                <a:cs typeface="Roboto"/>
                <a:sym typeface="Roboto"/>
              </a:rPr>
              <a:t>  ON</a:t>
            </a:r>
            <a:r>
              <a:rPr lang="en-US" sz="1560" spc="129">
                <a:solidFill>
                  <a:srgbClr val="F5F5EF"/>
                </a:solidFill>
                <a:latin typeface="Roboto"/>
                <a:ea typeface="Roboto"/>
                <a:cs typeface="Roboto"/>
                <a:sym typeface="Roboto"/>
              </a:rPr>
              <a:t> p.participant_id = m.participant_id</a:t>
            </a:r>
          </a:p>
          <a:p>
            <a:pPr algn="l">
              <a:lnSpc>
                <a:spcPts val="2497"/>
              </a:lnSpc>
            </a:pPr>
            <a:r>
              <a:rPr lang="en-US" sz="1560" spc="129">
                <a:solidFill>
                  <a:srgbClr val="0CC0DF"/>
                </a:solidFill>
                <a:latin typeface="Roboto"/>
                <a:ea typeface="Roboto"/>
                <a:cs typeface="Roboto"/>
                <a:sym typeface="Roboto"/>
              </a:rPr>
              <a:t>GROUP BY </a:t>
            </a:r>
            <a:r>
              <a:rPr lang="en-US" sz="1560" spc="129">
                <a:solidFill>
                  <a:srgbClr val="F5F5EF"/>
                </a:solidFill>
                <a:latin typeface="Roboto"/>
                <a:ea typeface="Roboto"/>
                <a:cs typeface="Roboto"/>
                <a:sym typeface="Roboto"/>
              </a:rPr>
              <a:t>p.age_group</a:t>
            </a:r>
          </a:p>
          <a:p>
            <a:pPr algn="l">
              <a:lnSpc>
                <a:spcPts val="2497"/>
              </a:lnSpc>
            </a:pPr>
            <a:r>
              <a:rPr lang="en-US" sz="1560" spc="129">
                <a:solidFill>
                  <a:srgbClr val="0CC0DF"/>
                </a:solidFill>
                <a:latin typeface="Roboto"/>
                <a:ea typeface="Roboto"/>
                <a:cs typeface="Roboto"/>
                <a:sym typeface="Roboto"/>
              </a:rPr>
              <a:t>ORDER BY</a:t>
            </a:r>
            <a:r>
              <a:rPr lang="en-US" sz="1560" spc="129">
                <a:solidFill>
                  <a:srgbClr val="F5F5EF"/>
                </a:solidFill>
                <a:latin typeface="Roboto"/>
                <a:ea typeface="Roboto"/>
                <a:cs typeface="Roboto"/>
                <a:sym typeface="Roboto"/>
              </a:rPr>
              <a:t> avg_daily_social_media_hours</a:t>
            </a:r>
            <a:r>
              <a:rPr lang="en-US" sz="1560" spc="129">
                <a:solidFill>
                  <a:srgbClr val="4F50C9"/>
                </a:solidFill>
                <a:latin typeface="Roboto"/>
                <a:ea typeface="Roboto"/>
                <a:cs typeface="Roboto"/>
                <a:sym typeface="Roboto"/>
              </a:rPr>
              <a:t> </a:t>
            </a:r>
            <a:r>
              <a:rPr lang="en-US" sz="1560" spc="129">
                <a:solidFill>
                  <a:srgbClr val="0CC0DF"/>
                </a:solidFill>
                <a:latin typeface="Roboto"/>
                <a:ea typeface="Roboto"/>
                <a:cs typeface="Roboto"/>
                <a:sym typeface="Roboto"/>
              </a:rPr>
              <a:t>DESC</a:t>
            </a:r>
            <a:r>
              <a:rPr lang="en-US" sz="1560" spc="129">
                <a:solidFill>
                  <a:srgbClr val="F5F5EF"/>
                </a:solidFill>
                <a:latin typeface="Roboto"/>
                <a:ea typeface="Roboto"/>
                <a:cs typeface="Roboto"/>
                <a:sym typeface="Roboto"/>
              </a:rPr>
              <a:t>;</a:t>
            </a:r>
          </a:p>
        </p:txBody>
      </p:sp>
      <p:grpSp>
        <p:nvGrpSpPr>
          <p:cNvPr name="Group 18" id="18"/>
          <p:cNvGrpSpPr/>
          <p:nvPr/>
        </p:nvGrpSpPr>
        <p:grpSpPr>
          <a:xfrm rot="0">
            <a:off x="3329373" y="5127159"/>
            <a:ext cx="5694268" cy="3724108"/>
            <a:chOff x="0" y="0"/>
            <a:chExt cx="1499725" cy="980835"/>
          </a:xfrm>
        </p:grpSpPr>
        <p:sp>
          <p:nvSpPr>
            <p:cNvPr name="Freeform 19" id="19"/>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20" id="20"/>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aphicFrame>
        <p:nvGraphicFramePr>
          <p:cNvPr name="Object 21" id="21"/>
          <p:cNvGraphicFramePr/>
          <p:nvPr/>
        </p:nvGraphicFramePr>
        <p:xfrm>
          <a:off x="3575319" y="5379517"/>
          <a:ext cx="5657850" cy="3771900"/>
        </p:xfrm>
        <a:graphic>
          <a:graphicData uri="http://schemas.openxmlformats.org/presentationml/2006/ole">
            <p:oleObj imgW="6781800" imgH="4902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9</a:t>
            </a:r>
          </a:p>
        </p:txBody>
      </p:sp>
      <p:sp>
        <p:nvSpPr>
          <p:cNvPr name="TextBox 23" id="23"/>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11619063" y="4921917"/>
            <a:ext cx="5592612" cy="540397"/>
          </a:xfrm>
          <a:prstGeom prst="rect">
            <a:avLst/>
          </a:prstGeom>
        </p:spPr>
        <p:txBody>
          <a:bodyPr anchor="t" rtlCol="false" tIns="0" lIns="0" bIns="0" rIns="0">
            <a:spAutoFit/>
          </a:bodyPr>
          <a:lstStyle/>
          <a:p>
            <a:pPr algn="ctr">
              <a:lnSpc>
                <a:spcPts val="2239"/>
              </a:lnSpc>
              <a:spcBef>
                <a:spcPct val="0"/>
              </a:spcBef>
            </a:pPr>
            <a:r>
              <a:rPr lang="en-US" sz="1599">
                <a:solidFill>
                  <a:srgbClr val="C1DFC1"/>
                </a:solidFill>
                <a:latin typeface="Guild A Display"/>
                <a:ea typeface="Guild A Display"/>
                <a:cs typeface="Guild A Display"/>
                <a:sym typeface="Guild A Display"/>
              </a:rPr>
              <a:t>--5. How common is late-night scrolling across participants?</a:t>
            </a:r>
          </a:p>
          <a:p>
            <a:pPr algn="ctr">
              <a:lnSpc>
                <a:spcPts val="2239"/>
              </a:lnSpc>
              <a:spcBef>
                <a:spcPct val="0"/>
              </a:spcBef>
            </a:pPr>
          </a:p>
        </p:txBody>
      </p:sp>
      <p:grpSp>
        <p:nvGrpSpPr>
          <p:cNvPr name="Group 25" id="25"/>
          <p:cNvGrpSpPr/>
          <p:nvPr/>
        </p:nvGrpSpPr>
        <p:grpSpPr>
          <a:xfrm rot="0">
            <a:off x="7096975" y="2420594"/>
            <a:ext cx="1159053" cy="115905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1DFC1"/>
            </a:solidFill>
          </p:spPr>
        </p:sp>
        <p:sp>
          <p:nvSpPr>
            <p:cNvPr name="TextBox 27" id="27"/>
            <p:cNvSpPr txBox="true"/>
            <p:nvPr/>
          </p:nvSpPr>
          <p:spPr>
            <a:xfrm>
              <a:off x="0" y="155575"/>
              <a:ext cx="711200" cy="454025"/>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9511030" y="6251708"/>
            <a:ext cx="1180710" cy="1180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C1DFC1"/>
            </a:solidFill>
          </p:spPr>
        </p:sp>
        <p:sp>
          <p:nvSpPr>
            <p:cNvPr name="TextBox 30" id="30"/>
            <p:cNvSpPr txBox="true"/>
            <p:nvPr/>
          </p:nvSpPr>
          <p:spPr>
            <a:xfrm>
              <a:off x="101600" y="155575"/>
              <a:ext cx="711200" cy="454025"/>
            </a:xfrm>
            <a:prstGeom prst="rect">
              <a:avLst/>
            </a:prstGeom>
          </p:spPr>
          <p:txBody>
            <a:bodyPr anchor="ctr" rtlCol="false" tIns="50800" lIns="50800" bIns="50800" rIns="50800"/>
            <a:lstStyle/>
            <a:p>
              <a:pPr algn="ctr">
                <a:lnSpc>
                  <a:spcPts val="2940"/>
                </a:lnSpc>
              </a:pPr>
            </a:p>
          </p:txBody>
        </p:sp>
      </p:grpSp>
      <p:sp>
        <p:nvSpPr>
          <p:cNvPr name="TextBox 31" id="31"/>
          <p:cNvSpPr txBox="true"/>
          <p:nvPr/>
        </p:nvSpPr>
        <p:spPr>
          <a:xfrm rot="0">
            <a:off x="11619063" y="5414689"/>
            <a:ext cx="7967767"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r>
              <a:rPr lang="en-US" sz="1599">
                <a:solidFill>
                  <a:srgbClr val="F5F5EF"/>
                </a:solidFill>
                <a:latin typeface="Roboto"/>
                <a:ea typeface="Roboto"/>
                <a:cs typeface="Roboto"/>
                <a:sym typeface="Roboto"/>
              </a:rPr>
              <a:t>late_night_scrolling,</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COUNT</a:t>
            </a:r>
            <a:r>
              <a:rPr lang="en-US" sz="1599">
                <a:solidFill>
                  <a:srgbClr val="F5F5EF"/>
                </a:solidFill>
                <a:latin typeface="Roboto"/>
                <a:ea typeface="Roboto"/>
                <a:cs typeface="Roboto"/>
                <a:sym typeface="Roboto"/>
              </a:rPr>
              <a:t>(*) AS number_of_participants,</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CONCAT</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CAST</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 100.0 / </a:t>
            </a:r>
            <a:r>
              <a:rPr lang="en-US" sz="1599">
                <a:solidFill>
                  <a:srgbClr val="FF66C4"/>
                </a:solidFill>
                <a:latin typeface="Roboto"/>
                <a:ea typeface="Roboto"/>
                <a:cs typeface="Roboto"/>
                <a:sym typeface="Roboto"/>
              </a:rPr>
              <a:t>SUM</a:t>
            </a:r>
            <a:r>
              <a:rPr lang="en-US" sz="1599">
                <a:solidFill>
                  <a:srgbClr val="F5F5EF"/>
                </a:solidFill>
                <a:latin typeface="Roboto"/>
                <a:ea typeface="Roboto"/>
                <a:cs typeface="Roboto"/>
                <a:sym typeface="Roboto"/>
              </a:rPr>
              <a:t>(COUNT(*)) </a:t>
            </a:r>
            <a:r>
              <a:rPr lang="en-US" sz="1599">
                <a:solidFill>
                  <a:srgbClr val="0CC0DF"/>
                </a:solidFill>
                <a:latin typeface="Roboto"/>
                <a:ea typeface="Roboto"/>
                <a:cs typeface="Roboto"/>
                <a:sym typeface="Roboto"/>
              </a:rPr>
              <a:t>OVER</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DECIMAL(5,2)  ), </a:t>
            </a:r>
            <a:r>
              <a:rPr lang="en-US" sz="1599">
                <a:solidFill>
                  <a:srgbClr val="B34057"/>
                </a:solidFill>
                <a:latin typeface="Roboto"/>
                <a:ea typeface="Roboto"/>
                <a:cs typeface="Roboto"/>
                <a:sym typeface="Roboto"/>
              </a:rPr>
              <a:t>'%'</a:t>
            </a:r>
            <a:r>
              <a:rPr lang="en-US" sz="1599">
                <a:solidFill>
                  <a:srgbClr val="F5F5EF"/>
                </a:solidFill>
                <a:latin typeface="Roboto"/>
                <a:ea typeface="Roboto"/>
                <a:cs typeface="Roboto"/>
                <a:sym typeface="Roboto"/>
              </a:rPr>
              <a:t> ) AS percentage</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late_night_scrolling</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number_of_participants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189737" y="-564333"/>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10828" y="-104775"/>
            <a:ext cx="9656955" cy="1969657"/>
          </a:xfrm>
          <a:prstGeom prst="rect">
            <a:avLst/>
          </a:prstGeom>
        </p:spPr>
        <p:txBody>
          <a:bodyPr anchor="t" rtlCol="false" tIns="0" lIns="0" bIns="0" rIns="0">
            <a:spAutoFit/>
          </a:bodyPr>
          <a:lstStyle/>
          <a:p>
            <a:pPr algn="l">
              <a:lnSpc>
                <a:spcPts val="7940"/>
              </a:lnSpc>
            </a:pPr>
            <a:r>
              <a:rPr lang="en-US" sz="5671" b="true">
                <a:solidFill>
                  <a:srgbClr val="000000"/>
                </a:solidFill>
                <a:latin typeface="Cormorant Garamond Bold"/>
                <a:ea typeface="Cormorant Garamond Bold"/>
                <a:cs typeface="Cormorant Garamond Bold"/>
                <a:sym typeface="Cormorant Garamond Bold"/>
              </a:rPr>
              <a:t> Social Media Usage &amp; Habits</a:t>
            </a:r>
          </a:p>
          <a:p>
            <a:pPr algn="l">
              <a:lnSpc>
                <a:spcPts val="7940"/>
              </a:lnSpc>
              <a:spcBef>
                <a:spcPct val="0"/>
              </a:spcBef>
            </a:pPr>
          </a:p>
        </p:txBody>
      </p:sp>
      <p:grpSp>
        <p:nvGrpSpPr>
          <p:cNvPr name="Group 7" id="7"/>
          <p:cNvGrpSpPr/>
          <p:nvPr/>
        </p:nvGrpSpPr>
        <p:grpSpPr>
          <a:xfrm rot="0">
            <a:off x="2651736" y="1110531"/>
            <a:ext cx="6098084" cy="3572984"/>
            <a:chOff x="0" y="0"/>
            <a:chExt cx="1606080" cy="941033"/>
          </a:xfrm>
        </p:grpSpPr>
        <p:sp>
          <p:nvSpPr>
            <p:cNvPr name="Freeform 8" id="8"/>
            <p:cNvSpPr/>
            <p:nvPr/>
          </p:nvSpPr>
          <p:spPr>
            <a:xfrm flipH="false" flipV="false" rot="0">
              <a:off x="0" y="0"/>
              <a:ext cx="1606080" cy="941033"/>
            </a:xfrm>
            <a:custGeom>
              <a:avLst/>
              <a:gdLst/>
              <a:ahLst/>
              <a:cxnLst/>
              <a:rect r="r" b="b" t="t" l="l"/>
              <a:pathLst>
                <a:path h="941033" w="1606080">
                  <a:moveTo>
                    <a:pt x="64748" y="0"/>
                  </a:moveTo>
                  <a:lnTo>
                    <a:pt x="1541332" y="0"/>
                  </a:lnTo>
                  <a:cubicBezTo>
                    <a:pt x="1558504" y="0"/>
                    <a:pt x="1574973" y="6822"/>
                    <a:pt x="1587116" y="18964"/>
                  </a:cubicBezTo>
                  <a:cubicBezTo>
                    <a:pt x="1599258" y="31107"/>
                    <a:pt x="1606080" y="47576"/>
                    <a:pt x="1606080" y="64748"/>
                  </a:cubicBezTo>
                  <a:lnTo>
                    <a:pt x="1606080" y="876285"/>
                  </a:lnTo>
                  <a:cubicBezTo>
                    <a:pt x="1606080" y="912044"/>
                    <a:pt x="1577091" y="941033"/>
                    <a:pt x="1541332" y="941033"/>
                  </a:cubicBezTo>
                  <a:lnTo>
                    <a:pt x="64748" y="941033"/>
                  </a:lnTo>
                  <a:cubicBezTo>
                    <a:pt x="28989" y="941033"/>
                    <a:pt x="0" y="912044"/>
                    <a:pt x="0" y="876285"/>
                  </a:cubicBezTo>
                  <a:lnTo>
                    <a:pt x="0" y="64748"/>
                  </a:lnTo>
                  <a:cubicBezTo>
                    <a:pt x="0" y="28989"/>
                    <a:pt x="28989" y="0"/>
                    <a:pt x="64748" y="0"/>
                  </a:cubicBezTo>
                  <a:close/>
                </a:path>
              </a:pathLst>
            </a:custGeom>
            <a:solidFill>
              <a:srgbClr val="304543"/>
            </a:solidFill>
          </p:spPr>
        </p:sp>
        <p:sp>
          <p:nvSpPr>
            <p:cNvPr name="TextBox 9" id="9"/>
            <p:cNvSpPr txBox="true"/>
            <p:nvPr/>
          </p:nvSpPr>
          <p:spPr>
            <a:xfrm>
              <a:off x="0" y="-47625"/>
              <a:ext cx="1606080" cy="988658"/>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11226904" y="882885"/>
            <a:ext cx="6487559" cy="3615774"/>
            <a:chOff x="0" y="0"/>
            <a:chExt cx="1708657" cy="952303"/>
          </a:xfrm>
        </p:grpSpPr>
        <p:sp>
          <p:nvSpPr>
            <p:cNvPr name="Freeform 11" id="11"/>
            <p:cNvSpPr/>
            <p:nvPr/>
          </p:nvSpPr>
          <p:spPr>
            <a:xfrm flipH="false" flipV="false" rot="0">
              <a:off x="0" y="0"/>
              <a:ext cx="1708657" cy="952303"/>
            </a:xfrm>
            <a:custGeom>
              <a:avLst/>
              <a:gdLst/>
              <a:ahLst/>
              <a:cxnLst/>
              <a:rect r="r" b="b" t="t" l="l"/>
              <a:pathLst>
                <a:path h="952303" w="1708657">
                  <a:moveTo>
                    <a:pt x="60861" y="0"/>
                  </a:moveTo>
                  <a:lnTo>
                    <a:pt x="1647797" y="0"/>
                  </a:lnTo>
                  <a:cubicBezTo>
                    <a:pt x="1681409" y="0"/>
                    <a:pt x="1708657" y="27248"/>
                    <a:pt x="1708657" y="60861"/>
                  </a:cubicBezTo>
                  <a:lnTo>
                    <a:pt x="1708657" y="891442"/>
                  </a:lnTo>
                  <a:cubicBezTo>
                    <a:pt x="1708657" y="925054"/>
                    <a:pt x="1681409" y="952303"/>
                    <a:pt x="1647797" y="952303"/>
                  </a:cubicBezTo>
                  <a:lnTo>
                    <a:pt x="60861" y="952303"/>
                  </a:lnTo>
                  <a:cubicBezTo>
                    <a:pt x="44720" y="952303"/>
                    <a:pt x="29239" y="945891"/>
                    <a:pt x="17826" y="934477"/>
                  </a:cubicBezTo>
                  <a:cubicBezTo>
                    <a:pt x="6412" y="923063"/>
                    <a:pt x="0" y="907583"/>
                    <a:pt x="0" y="891442"/>
                  </a:cubicBezTo>
                  <a:lnTo>
                    <a:pt x="0" y="60861"/>
                  </a:lnTo>
                  <a:cubicBezTo>
                    <a:pt x="0" y="27248"/>
                    <a:pt x="27248" y="0"/>
                    <a:pt x="60861" y="0"/>
                  </a:cubicBezTo>
                  <a:close/>
                </a:path>
              </a:pathLst>
            </a:custGeom>
            <a:solidFill>
              <a:srgbClr val="304543"/>
            </a:solidFill>
          </p:spPr>
        </p:sp>
        <p:sp>
          <p:nvSpPr>
            <p:cNvPr name="TextBox 12" id="12"/>
            <p:cNvSpPr txBox="true"/>
            <p:nvPr/>
          </p:nvSpPr>
          <p:spPr>
            <a:xfrm>
              <a:off x="0" y="-47625"/>
              <a:ext cx="1708657" cy="999928"/>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494642" y="4912115"/>
            <a:ext cx="6401282" cy="3746240"/>
            <a:chOff x="0" y="0"/>
            <a:chExt cx="1685934" cy="986664"/>
          </a:xfrm>
        </p:grpSpPr>
        <p:sp>
          <p:nvSpPr>
            <p:cNvPr name="Freeform 14" id="14"/>
            <p:cNvSpPr/>
            <p:nvPr/>
          </p:nvSpPr>
          <p:spPr>
            <a:xfrm flipH="false" flipV="false" rot="0">
              <a:off x="0" y="0"/>
              <a:ext cx="1685934" cy="986664"/>
            </a:xfrm>
            <a:custGeom>
              <a:avLst/>
              <a:gdLst/>
              <a:ahLst/>
              <a:cxnLst/>
              <a:rect r="r" b="b" t="t" l="l"/>
              <a:pathLst>
                <a:path h="986664" w="1685934">
                  <a:moveTo>
                    <a:pt x="61681" y="0"/>
                  </a:moveTo>
                  <a:lnTo>
                    <a:pt x="1624253" y="0"/>
                  </a:lnTo>
                  <a:cubicBezTo>
                    <a:pt x="1658319" y="0"/>
                    <a:pt x="1685934" y="27616"/>
                    <a:pt x="1685934" y="61681"/>
                  </a:cubicBezTo>
                  <a:lnTo>
                    <a:pt x="1685934" y="924983"/>
                  </a:lnTo>
                  <a:cubicBezTo>
                    <a:pt x="1685934" y="959048"/>
                    <a:pt x="1658319" y="986664"/>
                    <a:pt x="1624253" y="986664"/>
                  </a:cubicBezTo>
                  <a:lnTo>
                    <a:pt x="61681" y="986664"/>
                  </a:lnTo>
                  <a:cubicBezTo>
                    <a:pt x="27616" y="986664"/>
                    <a:pt x="0" y="959048"/>
                    <a:pt x="0" y="924983"/>
                  </a:cubicBezTo>
                  <a:lnTo>
                    <a:pt x="0" y="61681"/>
                  </a:lnTo>
                  <a:cubicBezTo>
                    <a:pt x="0" y="27616"/>
                    <a:pt x="27616" y="0"/>
                    <a:pt x="61681" y="0"/>
                  </a:cubicBezTo>
                  <a:close/>
                </a:path>
              </a:pathLst>
            </a:custGeom>
            <a:solidFill>
              <a:srgbClr val="304543"/>
            </a:solidFill>
          </p:spPr>
        </p:sp>
        <p:sp>
          <p:nvSpPr>
            <p:cNvPr name="TextBox 15" id="15"/>
            <p:cNvSpPr txBox="true"/>
            <p:nvPr/>
          </p:nvSpPr>
          <p:spPr>
            <a:xfrm>
              <a:off x="0" y="-47625"/>
              <a:ext cx="1685934" cy="1034289"/>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9427069" y="4683515"/>
            <a:ext cx="6401282" cy="3746240"/>
            <a:chOff x="0" y="0"/>
            <a:chExt cx="1685934" cy="986664"/>
          </a:xfrm>
        </p:grpSpPr>
        <p:sp>
          <p:nvSpPr>
            <p:cNvPr name="Freeform 17" id="17"/>
            <p:cNvSpPr/>
            <p:nvPr/>
          </p:nvSpPr>
          <p:spPr>
            <a:xfrm flipH="false" flipV="false" rot="0">
              <a:off x="0" y="0"/>
              <a:ext cx="1685934" cy="986664"/>
            </a:xfrm>
            <a:custGeom>
              <a:avLst/>
              <a:gdLst/>
              <a:ahLst/>
              <a:cxnLst/>
              <a:rect r="r" b="b" t="t" l="l"/>
              <a:pathLst>
                <a:path h="986664" w="1685934">
                  <a:moveTo>
                    <a:pt x="61681" y="0"/>
                  </a:moveTo>
                  <a:lnTo>
                    <a:pt x="1624253" y="0"/>
                  </a:lnTo>
                  <a:cubicBezTo>
                    <a:pt x="1658319" y="0"/>
                    <a:pt x="1685934" y="27616"/>
                    <a:pt x="1685934" y="61681"/>
                  </a:cubicBezTo>
                  <a:lnTo>
                    <a:pt x="1685934" y="924983"/>
                  </a:lnTo>
                  <a:cubicBezTo>
                    <a:pt x="1685934" y="959048"/>
                    <a:pt x="1658319" y="986664"/>
                    <a:pt x="1624253" y="986664"/>
                  </a:cubicBezTo>
                  <a:lnTo>
                    <a:pt x="61681" y="986664"/>
                  </a:lnTo>
                  <a:cubicBezTo>
                    <a:pt x="27616" y="986664"/>
                    <a:pt x="0" y="959048"/>
                    <a:pt x="0" y="924983"/>
                  </a:cubicBezTo>
                  <a:lnTo>
                    <a:pt x="0" y="61681"/>
                  </a:lnTo>
                  <a:cubicBezTo>
                    <a:pt x="0" y="27616"/>
                    <a:pt x="27616" y="0"/>
                    <a:pt x="61681" y="0"/>
                  </a:cubicBezTo>
                  <a:close/>
                </a:path>
              </a:pathLst>
            </a:custGeom>
            <a:solidFill>
              <a:srgbClr val="304543"/>
            </a:solidFill>
          </p:spPr>
        </p:sp>
        <p:sp>
          <p:nvSpPr>
            <p:cNvPr name="TextBox 18" id="18"/>
            <p:cNvSpPr txBox="true"/>
            <p:nvPr/>
          </p:nvSpPr>
          <p:spPr>
            <a:xfrm>
              <a:off x="0" y="-47625"/>
              <a:ext cx="1685934" cy="1034289"/>
            </a:xfrm>
            <a:prstGeom prst="rect">
              <a:avLst/>
            </a:prstGeom>
          </p:spPr>
          <p:txBody>
            <a:bodyPr anchor="ctr" rtlCol="false" tIns="50800" lIns="50800" bIns="50800" rIns="50800"/>
            <a:lstStyle/>
            <a:p>
              <a:pPr algn="ctr">
                <a:lnSpc>
                  <a:spcPts val="2940"/>
                </a:lnSpc>
              </a:pPr>
            </a:p>
          </p:txBody>
        </p:sp>
      </p:grpSp>
      <p:graphicFrame>
        <p:nvGraphicFramePr>
          <p:cNvPr name="Object 19" id="19"/>
          <p:cNvGraphicFramePr/>
          <p:nvPr/>
        </p:nvGraphicFramePr>
        <p:xfrm>
          <a:off x="2920790" y="1320944"/>
          <a:ext cx="3771900" cy="6915150"/>
        </p:xfrm>
        <a:graphic>
          <a:graphicData uri="http://schemas.openxmlformats.org/presentationml/2006/ole">
            <p:oleObj imgW="5143500" imgH="82931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0" id="20"/>
          <p:cNvGraphicFramePr/>
          <p:nvPr/>
        </p:nvGraphicFramePr>
        <p:xfrm>
          <a:off x="9767783" y="4909210"/>
          <a:ext cx="5657850" cy="3143250"/>
        </p:xfrm>
        <a:graphic>
          <a:graphicData uri="http://schemas.openxmlformats.org/presentationml/2006/ole">
            <p:oleObj imgW="6781800" imgH="4267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1" id="21"/>
          <p:cNvSpPr txBox="true"/>
          <p:nvPr/>
        </p:nvSpPr>
        <p:spPr>
          <a:xfrm rot="0">
            <a:off x="-570945" y="9378361"/>
            <a:ext cx="9320765" cy="291373"/>
          </a:xfrm>
          <a:prstGeom prst="rect">
            <a:avLst/>
          </a:prstGeom>
        </p:spPr>
        <p:txBody>
          <a:bodyPr anchor="t" rtlCol="false" tIns="0" lIns="0" bIns="0" rIns="0">
            <a:spAutoFit/>
          </a:bodyPr>
          <a:lstStyle/>
          <a:p>
            <a:pPr algn="ctr">
              <a:lnSpc>
                <a:spcPts val="2315"/>
              </a:lnSpc>
              <a:spcBef>
                <a:spcPct val="0"/>
              </a:spcBef>
            </a:pPr>
            <a:r>
              <a:rPr lang="en-US" sz="1653" spc="198">
                <a:solidFill>
                  <a:srgbClr val="F5F5EF"/>
                </a:solidFill>
                <a:latin typeface="HK Grotesk Light"/>
                <a:ea typeface="HK Grotesk Light"/>
                <a:cs typeface="HK Grotesk Light"/>
                <a:sym typeface="HK Grotesk Light"/>
              </a:rPr>
              <a:t>SOCIAL MEDIA, DOPAMINE AND PRODUCTIVITY |DATA ANALYSIS</a:t>
            </a:r>
          </a:p>
        </p:txBody>
      </p:sp>
      <p:sp>
        <p:nvSpPr>
          <p:cNvPr name="TextBox 22" id="22"/>
          <p:cNvSpPr txBox="true"/>
          <p:nvPr/>
        </p:nvSpPr>
        <p:spPr>
          <a:xfrm rot="0">
            <a:off x="17259300" y="9239489"/>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10</a:t>
            </a:r>
          </a:p>
        </p:txBody>
      </p:sp>
      <p:sp>
        <p:nvSpPr>
          <p:cNvPr name="TextBox 23" id="23"/>
          <p:cNvSpPr txBox="true"/>
          <p:nvPr/>
        </p:nvSpPr>
        <p:spPr>
          <a:xfrm rot="0">
            <a:off x="11161581" y="745544"/>
            <a:ext cx="6552881" cy="1108710"/>
          </a:xfrm>
          <a:prstGeom prst="rect">
            <a:avLst/>
          </a:prstGeom>
        </p:spPr>
        <p:txBody>
          <a:bodyPr anchor="t" rtlCol="false" tIns="0" lIns="0" bIns="0" rIns="0">
            <a:spAutoFit/>
          </a:bodyPr>
          <a:lstStyle/>
          <a:p>
            <a:pPr algn="ctr">
              <a:lnSpc>
                <a:spcPts val="2940"/>
              </a:lnSpc>
              <a:spcBef>
                <a:spcPct val="0"/>
              </a:spcBef>
            </a:pPr>
          </a:p>
          <a:p>
            <a:pPr algn="ctr">
              <a:lnSpc>
                <a:spcPts val="2940"/>
              </a:lnSpc>
              <a:spcBef>
                <a:spcPct val="0"/>
              </a:spcBef>
            </a:pPr>
            <a:r>
              <a:rPr lang="en-US" sz="2100">
                <a:solidFill>
                  <a:srgbClr val="C1DFC1"/>
                </a:solidFill>
                <a:latin typeface="Guild A Display"/>
                <a:ea typeface="Guild A Display"/>
                <a:cs typeface="Guild A Display"/>
                <a:sym typeface="Guild A Display"/>
              </a:rPr>
              <a:t>--6. Which content types are consumed most</a:t>
            </a:r>
            <a:r>
              <a:rPr lang="en-US" sz="2100">
                <a:solidFill>
                  <a:srgbClr val="F5F5EF"/>
                </a:solidFill>
                <a:latin typeface="Guild A Display"/>
                <a:ea typeface="Guild A Display"/>
                <a:cs typeface="Guild A Display"/>
                <a:sym typeface="Guild A Display"/>
              </a:rPr>
              <a:t> </a:t>
            </a:r>
            <a:r>
              <a:rPr lang="en-US" sz="2100">
                <a:solidFill>
                  <a:srgbClr val="C1DFC1"/>
                </a:solidFill>
                <a:latin typeface="Guild A Display"/>
                <a:ea typeface="Guild A Display"/>
                <a:cs typeface="Guild A Display"/>
                <a:sym typeface="Guild A Display"/>
              </a:rPr>
              <a:t>frequently?</a:t>
            </a:r>
          </a:p>
        </p:txBody>
      </p:sp>
      <p:sp>
        <p:nvSpPr>
          <p:cNvPr name="TextBox 24" id="24"/>
          <p:cNvSpPr txBox="true"/>
          <p:nvPr/>
        </p:nvSpPr>
        <p:spPr>
          <a:xfrm rot="0">
            <a:off x="494642" y="5095821"/>
            <a:ext cx="6259505" cy="604019"/>
          </a:xfrm>
          <a:prstGeom prst="rect">
            <a:avLst/>
          </a:prstGeom>
        </p:spPr>
        <p:txBody>
          <a:bodyPr anchor="t" rtlCol="false" tIns="0" lIns="0" bIns="0" rIns="0">
            <a:spAutoFit/>
          </a:bodyPr>
          <a:lstStyle/>
          <a:p>
            <a:pPr algn="ctr">
              <a:lnSpc>
                <a:spcPts val="2407"/>
              </a:lnSpc>
              <a:spcBef>
                <a:spcPct val="0"/>
              </a:spcBef>
            </a:pPr>
            <a:r>
              <a:rPr lang="en-US" sz="1719">
                <a:solidFill>
                  <a:srgbClr val="C1DFC1"/>
                </a:solidFill>
                <a:latin typeface="Guild A Display"/>
                <a:ea typeface="Guild A Display"/>
                <a:cs typeface="Guild A Display"/>
                <a:sym typeface="Guild A Display"/>
              </a:rPr>
              <a:t>--7. How frequently do people scroll without a specific purpose?</a:t>
            </a:r>
          </a:p>
          <a:p>
            <a:pPr algn="ctr">
              <a:lnSpc>
                <a:spcPts val="2407"/>
              </a:lnSpc>
              <a:spcBef>
                <a:spcPct val="0"/>
              </a:spcBef>
            </a:pPr>
          </a:p>
        </p:txBody>
      </p:sp>
      <p:grpSp>
        <p:nvGrpSpPr>
          <p:cNvPr name="Group 25" id="25"/>
          <p:cNvGrpSpPr/>
          <p:nvPr/>
        </p:nvGrpSpPr>
        <p:grpSpPr>
          <a:xfrm rot="0">
            <a:off x="7497097" y="6272181"/>
            <a:ext cx="1191538" cy="119153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1DFC1"/>
            </a:solidFill>
          </p:spPr>
        </p:sp>
        <p:sp>
          <p:nvSpPr>
            <p:cNvPr name="TextBox 27" id="27"/>
            <p:cNvSpPr txBox="true"/>
            <p:nvPr/>
          </p:nvSpPr>
          <p:spPr>
            <a:xfrm>
              <a:off x="0" y="155575"/>
              <a:ext cx="711200" cy="454025"/>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9398494" y="2306668"/>
            <a:ext cx="1180710" cy="1180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C1DFC1"/>
            </a:solidFill>
          </p:spPr>
        </p:sp>
        <p:sp>
          <p:nvSpPr>
            <p:cNvPr name="TextBox 30" id="30"/>
            <p:cNvSpPr txBox="true"/>
            <p:nvPr/>
          </p:nvSpPr>
          <p:spPr>
            <a:xfrm>
              <a:off x="101600" y="155575"/>
              <a:ext cx="711200" cy="454025"/>
            </a:xfrm>
            <a:prstGeom prst="rect">
              <a:avLst/>
            </a:prstGeom>
          </p:spPr>
          <p:txBody>
            <a:bodyPr anchor="ctr" rtlCol="false" tIns="50800" lIns="50800" bIns="50800" rIns="50800"/>
            <a:lstStyle/>
            <a:p>
              <a:pPr algn="ctr">
                <a:lnSpc>
                  <a:spcPts val="2940"/>
                </a:lnSpc>
              </a:pPr>
            </a:p>
          </p:txBody>
        </p:sp>
      </p:grpSp>
      <p:sp>
        <p:nvSpPr>
          <p:cNvPr name="TextBox 31" id="31"/>
          <p:cNvSpPr txBox="true"/>
          <p:nvPr/>
        </p:nvSpPr>
        <p:spPr>
          <a:xfrm rot="0">
            <a:off x="725943" y="5679570"/>
            <a:ext cx="6401282" cy="2750185"/>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5F5EF"/>
                </a:solidFill>
                <a:latin typeface="Canva Sans"/>
                <a:ea typeface="Canva Sans"/>
                <a:cs typeface="Canva Sans"/>
                <a:sym typeface="Canva Sans"/>
              </a:rPr>
              <a:t>   scroll_without_purpose,</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AS number_of_participants,</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CAST</a:t>
            </a:r>
            <a:r>
              <a:rPr lang="en-US" sz="1599">
                <a:solidFill>
                  <a:srgbClr val="F5F5EF"/>
                </a:solidFill>
                <a:latin typeface="Canva Sans"/>
                <a:ea typeface="Canva Sans"/>
                <a:cs typeface="Canva Sans"/>
                <a:sym typeface="Canva Sans"/>
              </a:rPr>
              <a:t>(</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 100.0 / </a:t>
            </a:r>
            <a:r>
              <a:rPr lang="en-US" sz="1599">
                <a:solidFill>
                  <a:srgbClr val="FF66C4"/>
                </a:solidFill>
                <a:latin typeface="Canva Sans"/>
                <a:ea typeface="Canva Sans"/>
                <a:cs typeface="Canva Sans"/>
                <a:sym typeface="Canva Sans"/>
              </a:rPr>
              <a:t>SUM</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OVER</a:t>
            </a:r>
            <a:r>
              <a:rPr lang="en-US" sz="1599">
                <a:solidFill>
                  <a:srgbClr val="F5F5EF"/>
                </a:solidFill>
                <a:latin typeface="Canva Sans"/>
                <a:ea typeface="Canva Sans"/>
                <a:cs typeface="Canva Sans"/>
                <a:sym typeface="Canva Sans"/>
              </a:rPr>
              <a:t>()</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AS </a:t>
            </a:r>
            <a:r>
              <a:rPr lang="en-US" sz="1599">
                <a:solidFill>
                  <a:srgbClr val="FF66C4"/>
                </a:solidFill>
                <a:latin typeface="Canva Sans"/>
                <a:ea typeface="Canva Sans"/>
                <a:cs typeface="Canva Sans"/>
                <a:sym typeface="Canva Sans"/>
              </a:rPr>
              <a:t>DECIMAL</a:t>
            </a:r>
            <a:r>
              <a:rPr lang="en-US" sz="1599">
                <a:solidFill>
                  <a:srgbClr val="F5F5EF"/>
                </a:solidFill>
                <a:latin typeface="Canva Sans"/>
                <a:ea typeface="Canva Sans"/>
                <a:cs typeface="Canva Sans"/>
                <a:sym typeface="Canva Sans"/>
              </a:rPr>
              <a:t>(5,2)</a:t>
            </a:r>
          </a:p>
          <a:p>
            <a:pPr algn="l">
              <a:lnSpc>
                <a:spcPts val="2239"/>
              </a:lnSpc>
            </a:pPr>
            <a:r>
              <a:rPr lang="en-US" sz="1599">
                <a:solidFill>
                  <a:srgbClr val="F5F5EF"/>
                </a:solidFill>
                <a:latin typeface="Canva Sans"/>
                <a:ea typeface="Canva Sans"/>
                <a:cs typeface="Canva Sans"/>
                <a:sym typeface="Canva Sans"/>
              </a:rPr>
              <a:t>    )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percentage</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SocialMedia_Habits</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scroll_without_purpose</a:t>
            </a:r>
          </a:p>
          <a:p>
            <a:pPr algn="l">
              <a:lnSpc>
                <a:spcPts val="2239"/>
              </a:lnSpc>
            </a:pPr>
            <a:r>
              <a:rPr lang="en-US" sz="1599">
                <a:solidFill>
                  <a:srgbClr val="0CC0DF"/>
                </a:solidFill>
                <a:latin typeface="Canva Sans"/>
                <a:ea typeface="Canva Sans"/>
                <a:cs typeface="Canva Sans"/>
                <a:sym typeface="Canva Sans"/>
              </a:rPr>
              <a:t>ORDER BY </a:t>
            </a:r>
            <a:r>
              <a:rPr lang="en-US" sz="1599">
                <a:solidFill>
                  <a:srgbClr val="F5F5EF"/>
                </a:solidFill>
                <a:latin typeface="Canva Sans"/>
                <a:ea typeface="Canva Sans"/>
                <a:cs typeface="Canva Sans"/>
                <a:sym typeface="Canva Sans"/>
              </a:rPr>
              <a:t>number_of_participants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
        <p:nvSpPr>
          <p:cNvPr name="TextBox 32" id="32"/>
          <p:cNvSpPr txBox="true"/>
          <p:nvPr/>
        </p:nvSpPr>
        <p:spPr>
          <a:xfrm rot="0">
            <a:off x="11531704" y="2180980"/>
            <a:ext cx="6487559" cy="1645285"/>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TOP</a:t>
            </a:r>
            <a:r>
              <a:rPr lang="en-US" sz="1599">
                <a:solidFill>
                  <a:srgbClr val="F5F5EF"/>
                </a:solidFill>
                <a:latin typeface="Canva Sans"/>
                <a:ea typeface="Canva Sans"/>
                <a:cs typeface="Canva Sans"/>
                <a:sym typeface="Canva Sans"/>
              </a:rPr>
              <a:t>(10) </a:t>
            </a:r>
          </a:p>
          <a:p>
            <a:pPr algn="l">
              <a:lnSpc>
                <a:spcPts val="2239"/>
              </a:lnSpc>
            </a:pPr>
            <a:r>
              <a:rPr lang="en-US" sz="1599">
                <a:solidFill>
                  <a:srgbClr val="F5F5EF"/>
                </a:solidFill>
                <a:latin typeface="Canva Sans"/>
                <a:ea typeface="Canva Sans"/>
                <a:cs typeface="Canva Sans"/>
                <a:sym typeface="Canva Sans"/>
              </a:rPr>
              <a:t>    content_type_consumed,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number_of_participants</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SocialMedia_Habits</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content_type_consumed</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number_of_participants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121" r="0" b="121"/>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7999"/>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87900" y="91433"/>
            <a:ext cx="15125468" cy="2076450"/>
          </a:xfrm>
          <a:prstGeom prst="rect">
            <a:avLst/>
          </a:prstGeom>
        </p:spPr>
        <p:txBody>
          <a:bodyPr anchor="t" rtlCol="false" tIns="0" lIns="0" bIns="0" rIns="0">
            <a:spAutoFit/>
          </a:bodyPr>
          <a:lstStyle/>
          <a:p>
            <a:pPr algn="l">
              <a:lnSpc>
                <a:spcPts val="7840"/>
              </a:lnSpc>
            </a:pPr>
            <a:r>
              <a:rPr lang="en-US" sz="5600" b="true">
                <a:solidFill>
                  <a:srgbClr val="000000"/>
                </a:solidFill>
                <a:latin typeface="Cormorant Garamond Bold"/>
                <a:ea typeface="Cormorant Garamond Bold"/>
                <a:cs typeface="Cormorant Garamond Bold"/>
                <a:sym typeface="Cormorant Garamond Bold"/>
              </a:rPr>
              <a:t> </a:t>
            </a:r>
            <a:r>
              <a:rPr lang="en-US" sz="5600" b="true">
                <a:solidFill>
                  <a:srgbClr val="000000"/>
                </a:solidFill>
                <a:latin typeface="Cormorant Garamond Bold"/>
                <a:ea typeface="Cormorant Garamond Bold"/>
                <a:cs typeface="Cormorant Garamond Bold"/>
                <a:sym typeface="Cormorant Garamond Bold"/>
              </a:rPr>
              <a:t>Social </a:t>
            </a:r>
            <a:r>
              <a:rPr lang="en-US" sz="5600" b="true">
                <a:solidFill>
                  <a:srgbClr val="000000"/>
                </a:solidFill>
                <a:latin typeface="Cormorant Garamond Bold"/>
                <a:ea typeface="Cormorant Garamond Bold"/>
                <a:cs typeface="Cormorant Garamond Bold"/>
                <a:sym typeface="Cormorant Garamond Bold"/>
              </a:rPr>
              <a:t>Media &amp; Productivity</a:t>
            </a:r>
          </a:p>
          <a:p>
            <a:pPr algn="l">
              <a:lnSpc>
                <a:spcPts val="8959"/>
              </a:lnSpc>
              <a:spcBef>
                <a:spcPct val="0"/>
              </a:spcBef>
            </a:pPr>
          </a:p>
        </p:txBody>
      </p:sp>
      <p:grpSp>
        <p:nvGrpSpPr>
          <p:cNvPr name="Group 7" id="7"/>
          <p:cNvGrpSpPr/>
          <p:nvPr/>
        </p:nvGrpSpPr>
        <p:grpSpPr>
          <a:xfrm rot="0">
            <a:off x="427967" y="1422666"/>
            <a:ext cx="5792814" cy="7176385"/>
            <a:chOff x="0" y="0"/>
            <a:chExt cx="1525679" cy="1890077"/>
          </a:xfrm>
        </p:grpSpPr>
        <p:sp>
          <p:nvSpPr>
            <p:cNvPr name="Freeform 8" id="8"/>
            <p:cNvSpPr/>
            <p:nvPr/>
          </p:nvSpPr>
          <p:spPr>
            <a:xfrm flipH="false" flipV="false" rot="0">
              <a:off x="0" y="0"/>
              <a:ext cx="1525679" cy="1890077"/>
            </a:xfrm>
            <a:custGeom>
              <a:avLst/>
              <a:gdLst/>
              <a:ahLst/>
              <a:cxnLst/>
              <a:rect r="r" b="b" t="t" l="l"/>
              <a:pathLst>
                <a:path h="1890077" w="1525679">
                  <a:moveTo>
                    <a:pt x="68160" y="0"/>
                  </a:moveTo>
                  <a:lnTo>
                    <a:pt x="1457519" y="0"/>
                  </a:lnTo>
                  <a:cubicBezTo>
                    <a:pt x="1475597" y="0"/>
                    <a:pt x="1492933" y="7181"/>
                    <a:pt x="1505716" y="19964"/>
                  </a:cubicBezTo>
                  <a:cubicBezTo>
                    <a:pt x="1518498" y="32746"/>
                    <a:pt x="1525679" y="50083"/>
                    <a:pt x="1525679" y="68160"/>
                  </a:cubicBezTo>
                  <a:lnTo>
                    <a:pt x="1525679" y="1821917"/>
                  </a:lnTo>
                  <a:cubicBezTo>
                    <a:pt x="1525679" y="1859561"/>
                    <a:pt x="1495163" y="1890077"/>
                    <a:pt x="1457519" y="1890077"/>
                  </a:cubicBezTo>
                  <a:lnTo>
                    <a:pt x="68160" y="1890077"/>
                  </a:lnTo>
                  <a:cubicBezTo>
                    <a:pt x="50083" y="1890077"/>
                    <a:pt x="32746" y="1882896"/>
                    <a:pt x="19964" y="1870113"/>
                  </a:cubicBezTo>
                  <a:cubicBezTo>
                    <a:pt x="7181" y="1857331"/>
                    <a:pt x="0" y="1839994"/>
                    <a:pt x="0" y="1821917"/>
                  </a:cubicBezTo>
                  <a:lnTo>
                    <a:pt x="0" y="68160"/>
                  </a:lnTo>
                  <a:cubicBezTo>
                    <a:pt x="0" y="50083"/>
                    <a:pt x="7181" y="32746"/>
                    <a:pt x="19964" y="19964"/>
                  </a:cubicBezTo>
                  <a:cubicBezTo>
                    <a:pt x="32746" y="7181"/>
                    <a:pt x="50083" y="0"/>
                    <a:pt x="68160" y="0"/>
                  </a:cubicBezTo>
                  <a:close/>
                </a:path>
              </a:pathLst>
            </a:custGeom>
            <a:solidFill>
              <a:srgbClr val="304543"/>
            </a:solidFill>
          </p:spPr>
        </p:sp>
        <p:sp>
          <p:nvSpPr>
            <p:cNvPr name="TextBox 9" id="9"/>
            <p:cNvSpPr txBox="true"/>
            <p:nvPr/>
          </p:nvSpPr>
          <p:spPr>
            <a:xfrm>
              <a:off x="0" y="-47625"/>
              <a:ext cx="1525679" cy="1937702"/>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grpSp>
        <p:nvGrpSpPr>
          <p:cNvPr name="Group 10" id="10"/>
          <p:cNvGrpSpPr/>
          <p:nvPr/>
        </p:nvGrpSpPr>
        <p:grpSpPr>
          <a:xfrm rot="0">
            <a:off x="11988403" y="1422666"/>
            <a:ext cx="5270897" cy="5929209"/>
            <a:chOff x="0" y="0"/>
            <a:chExt cx="1388220" cy="1561602"/>
          </a:xfrm>
        </p:grpSpPr>
        <p:sp>
          <p:nvSpPr>
            <p:cNvPr name="Freeform 11" id="11"/>
            <p:cNvSpPr/>
            <p:nvPr/>
          </p:nvSpPr>
          <p:spPr>
            <a:xfrm flipH="false" flipV="false" rot="0">
              <a:off x="0" y="0"/>
              <a:ext cx="1388220" cy="1561602"/>
            </a:xfrm>
            <a:custGeom>
              <a:avLst/>
              <a:gdLst/>
              <a:ahLst/>
              <a:cxnLst/>
              <a:rect r="r" b="b" t="t" l="l"/>
              <a:pathLst>
                <a:path h="1561602" w="1388220">
                  <a:moveTo>
                    <a:pt x="74909" y="0"/>
                  </a:moveTo>
                  <a:lnTo>
                    <a:pt x="1313311" y="0"/>
                  </a:lnTo>
                  <a:cubicBezTo>
                    <a:pt x="1333178" y="0"/>
                    <a:pt x="1352231" y="7892"/>
                    <a:pt x="1366279" y="21940"/>
                  </a:cubicBezTo>
                  <a:cubicBezTo>
                    <a:pt x="1380328" y="35989"/>
                    <a:pt x="1388220" y="55042"/>
                    <a:pt x="1388220" y="74909"/>
                  </a:cubicBezTo>
                  <a:lnTo>
                    <a:pt x="1388220" y="1486693"/>
                  </a:lnTo>
                  <a:cubicBezTo>
                    <a:pt x="1388220" y="1506561"/>
                    <a:pt x="1380328" y="1525614"/>
                    <a:pt x="1366279" y="1539662"/>
                  </a:cubicBezTo>
                  <a:cubicBezTo>
                    <a:pt x="1352231" y="1553710"/>
                    <a:pt x="1333178" y="1561602"/>
                    <a:pt x="1313311" y="1561602"/>
                  </a:cubicBezTo>
                  <a:lnTo>
                    <a:pt x="74909" y="1561602"/>
                  </a:lnTo>
                  <a:cubicBezTo>
                    <a:pt x="55042" y="1561602"/>
                    <a:pt x="35989" y="1553710"/>
                    <a:pt x="21940" y="1539662"/>
                  </a:cubicBezTo>
                  <a:cubicBezTo>
                    <a:pt x="7892" y="1525614"/>
                    <a:pt x="0" y="1506561"/>
                    <a:pt x="0" y="1486693"/>
                  </a:cubicBezTo>
                  <a:lnTo>
                    <a:pt x="0" y="74909"/>
                  </a:lnTo>
                  <a:cubicBezTo>
                    <a:pt x="0" y="55042"/>
                    <a:pt x="7892" y="35989"/>
                    <a:pt x="21940" y="21940"/>
                  </a:cubicBezTo>
                  <a:cubicBezTo>
                    <a:pt x="35989" y="7892"/>
                    <a:pt x="55042" y="0"/>
                    <a:pt x="74909" y="0"/>
                  </a:cubicBezTo>
                  <a:close/>
                </a:path>
              </a:pathLst>
            </a:custGeom>
            <a:solidFill>
              <a:srgbClr val="304543"/>
            </a:solidFill>
          </p:spPr>
        </p:sp>
        <p:sp>
          <p:nvSpPr>
            <p:cNvPr name="TextBox 12" id="12"/>
            <p:cNvSpPr txBox="true"/>
            <p:nvPr/>
          </p:nvSpPr>
          <p:spPr>
            <a:xfrm>
              <a:off x="0" y="-85725"/>
              <a:ext cx="1388220" cy="1647327"/>
            </a:xfrm>
            <a:prstGeom prst="rect">
              <a:avLst/>
            </a:prstGeom>
          </p:spPr>
          <p:txBody>
            <a:bodyPr anchor="ctr" rtlCol="false" tIns="50800" lIns="50800" bIns="50800" rIns="50800"/>
            <a:lstStyle/>
            <a:p>
              <a:pPr algn="ctr">
                <a:lnSpc>
                  <a:spcPts val="6159"/>
                </a:lnSpc>
              </a:pPr>
            </a:p>
          </p:txBody>
        </p:sp>
      </p:grpSp>
      <p:graphicFrame>
        <p:nvGraphicFramePr>
          <p:cNvPr name="Object 13" id="13"/>
          <p:cNvGraphicFramePr/>
          <p:nvPr/>
        </p:nvGraphicFramePr>
        <p:xfrm>
          <a:off x="12302943" y="1611773"/>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12</a:t>
            </a:r>
          </a:p>
        </p:txBody>
      </p:sp>
      <p:sp>
        <p:nvSpPr>
          <p:cNvPr name="TextBox 15" id="15"/>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grpSp>
        <p:nvGrpSpPr>
          <p:cNvPr name="Group 16" id="16"/>
          <p:cNvGrpSpPr/>
          <p:nvPr/>
        </p:nvGrpSpPr>
        <p:grpSpPr>
          <a:xfrm rot="0">
            <a:off x="6220781" y="3600450"/>
            <a:ext cx="5767622" cy="3086100"/>
            <a:chOff x="0" y="0"/>
            <a:chExt cx="1519044" cy="812800"/>
          </a:xfrm>
        </p:grpSpPr>
        <p:sp>
          <p:nvSpPr>
            <p:cNvPr name="Freeform 17" id="17"/>
            <p:cNvSpPr/>
            <p:nvPr/>
          </p:nvSpPr>
          <p:spPr>
            <a:xfrm flipH="false" flipV="false" rot="0">
              <a:off x="0" y="0"/>
              <a:ext cx="1519044" cy="812800"/>
            </a:xfrm>
            <a:custGeom>
              <a:avLst/>
              <a:gdLst/>
              <a:ahLst/>
              <a:cxnLst/>
              <a:rect r="r" b="b" t="t" l="l"/>
              <a:pathLst>
                <a:path h="812800" w="1519044">
                  <a:moveTo>
                    <a:pt x="1519044" y="406400"/>
                  </a:moveTo>
                  <a:lnTo>
                    <a:pt x="1112644" y="0"/>
                  </a:lnTo>
                  <a:lnTo>
                    <a:pt x="1112644" y="203200"/>
                  </a:lnTo>
                  <a:lnTo>
                    <a:pt x="0" y="203200"/>
                  </a:lnTo>
                  <a:lnTo>
                    <a:pt x="0" y="609600"/>
                  </a:lnTo>
                  <a:lnTo>
                    <a:pt x="1112644" y="609600"/>
                  </a:lnTo>
                  <a:lnTo>
                    <a:pt x="1112644" y="812800"/>
                  </a:lnTo>
                  <a:lnTo>
                    <a:pt x="1519044" y="406400"/>
                  </a:lnTo>
                  <a:close/>
                </a:path>
              </a:pathLst>
            </a:custGeom>
            <a:solidFill>
              <a:srgbClr val="C1DFC1"/>
            </a:solidFill>
          </p:spPr>
        </p:sp>
        <p:sp>
          <p:nvSpPr>
            <p:cNvPr name="TextBox 18" id="18"/>
            <p:cNvSpPr txBox="true"/>
            <p:nvPr/>
          </p:nvSpPr>
          <p:spPr>
            <a:xfrm>
              <a:off x="0" y="155575"/>
              <a:ext cx="1417444" cy="454025"/>
            </a:xfrm>
            <a:prstGeom prst="rect">
              <a:avLst/>
            </a:prstGeom>
          </p:spPr>
          <p:txBody>
            <a:bodyPr anchor="ctr" rtlCol="false" tIns="50800" lIns="50800" bIns="50800" rIns="50800"/>
            <a:lstStyle/>
            <a:p>
              <a:pPr algn="ctr">
                <a:lnSpc>
                  <a:spcPts val="2940"/>
                </a:lnSpc>
              </a:pPr>
            </a:p>
          </p:txBody>
        </p:sp>
      </p:grpSp>
      <p:sp>
        <p:nvSpPr>
          <p:cNvPr name="TextBox 19" id="19"/>
          <p:cNvSpPr txBox="true"/>
          <p:nvPr/>
        </p:nvSpPr>
        <p:spPr>
          <a:xfrm rot="0">
            <a:off x="276765" y="1564148"/>
            <a:ext cx="5792814" cy="737235"/>
          </a:xfrm>
          <a:prstGeom prst="rect">
            <a:avLst/>
          </a:prstGeom>
        </p:spPr>
        <p:txBody>
          <a:bodyPr anchor="t" rtlCol="false" tIns="0" lIns="0" bIns="0" rIns="0">
            <a:spAutoFit/>
          </a:bodyPr>
          <a:lstStyle/>
          <a:p>
            <a:pPr algn="ctr">
              <a:lnSpc>
                <a:spcPts val="2939"/>
              </a:lnSpc>
              <a:spcBef>
                <a:spcPct val="0"/>
              </a:spcBef>
            </a:pPr>
            <a:r>
              <a:rPr lang="en-US" sz="2099">
                <a:solidFill>
                  <a:srgbClr val="C1DFC1"/>
                </a:solidFill>
                <a:latin typeface="Guild A Display"/>
                <a:ea typeface="Guild A Display"/>
                <a:cs typeface="Guild A Display"/>
                <a:sym typeface="Guild A Display"/>
              </a:rPr>
              <a:t> D</a:t>
            </a:r>
            <a:r>
              <a:rPr lang="en-US" sz="2099">
                <a:solidFill>
                  <a:srgbClr val="C1DFC1"/>
                </a:solidFill>
                <a:latin typeface="Guild A Display"/>
                <a:ea typeface="Guild A Display"/>
                <a:cs typeface="Guild A Display"/>
                <a:sym typeface="Guild A Display"/>
              </a:rPr>
              <a:t>oes higher daily social media usage relate to lower productivity?</a:t>
            </a:r>
          </a:p>
        </p:txBody>
      </p:sp>
      <p:sp>
        <p:nvSpPr>
          <p:cNvPr name="TextBox 20" id="20"/>
          <p:cNvSpPr txBox="true"/>
          <p:nvPr/>
        </p:nvSpPr>
        <p:spPr>
          <a:xfrm rot="0">
            <a:off x="466128" y="2495287"/>
            <a:ext cx="5603451" cy="52552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CASE</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a:t>
            </a:r>
            <a:r>
              <a:rPr lang="en-US" sz="1599">
                <a:solidFill>
                  <a:srgbClr val="F5F5EF"/>
                </a:solidFill>
                <a:latin typeface="Roboto"/>
                <a:ea typeface="Roboto"/>
                <a:cs typeface="Roboto"/>
                <a:sym typeface="Roboto"/>
              </a:rPr>
              <a:t>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 AS</a:t>
            </a:r>
            <a:r>
              <a:rPr lang="en-US" sz="1599">
                <a:solidFill>
                  <a:srgbClr val="F5F5EF"/>
                </a:solidFill>
                <a:latin typeface="Roboto"/>
                <a:ea typeface="Roboto"/>
                <a:cs typeface="Roboto"/>
                <a:sym typeface="Roboto"/>
              </a:rPr>
              <a:t> social_media_usage_level,</a:t>
            </a:r>
          </a:p>
          <a:p>
            <a:pPr algn="l">
              <a:lnSpc>
                <a:spcPts val="2239"/>
              </a:lnSpc>
              <a:spcBef>
                <a:spcPct val="0"/>
              </a:spcBef>
            </a:pPr>
            <a:r>
              <a:rPr lang="en-US" sz="1599">
                <a:solidFill>
                  <a:srgbClr val="F5F5EF"/>
                </a:solidFill>
                <a:latin typeface="Roboto"/>
                <a:ea typeface="Roboto"/>
                <a:cs typeface="Roboto"/>
                <a:sym typeface="Roboto"/>
              </a:rPr>
              <a:t>    </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  AVG</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CAST</a:t>
            </a:r>
            <a:r>
              <a:rPr lang="en-US" sz="1599">
                <a:solidFill>
                  <a:srgbClr val="F5F5EF"/>
                </a:solidFill>
                <a:latin typeface="Roboto"/>
                <a:ea typeface="Roboto"/>
                <a:cs typeface="Roboto"/>
                <a:sym typeface="Roboto"/>
              </a:rPr>
              <a:t>(productivity_self_rating AS FLOAT)),2)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avg_productivity_rating</a:t>
            </a:r>
          </a:p>
          <a:p>
            <a:pPr algn="l">
              <a:lnSpc>
                <a:spcPts val="2239"/>
              </a:lnSpc>
              <a:spcBef>
                <a:spcPct val="0"/>
              </a:spcBef>
            </a:pPr>
          </a:p>
          <a:p>
            <a:pPr algn="l">
              <a:lnSpc>
                <a:spcPts val="2239"/>
              </a:lnSpc>
              <a:spcBef>
                <a:spcPct val="0"/>
              </a:spcBef>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Fact_User_Metrics</a:t>
            </a:r>
          </a:p>
          <a:p>
            <a:pPr algn="l">
              <a:lnSpc>
                <a:spcPts val="2239"/>
              </a:lnSpc>
              <a:spcBef>
                <a:spcPct val="0"/>
              </a:spcBef>
            </a:pPr>
          </a:p>
          <a:p>
            <a:pPr algn="l">
              <a:lnSpc>
                <a:spcPts val="2239"/>
              </a:lnSpc>
              <a:spcBef>
                <a:spcPct val="0"/>
              </a:spcBef>
            </a:pPr>
            <a:r>
              <a:rPr lang="en-US" sz="1599">
                <a:solidFill>
                  <a:srgbClr val="0CC0DF"/>
                </a:solidFill>
                <a:latin typeface="Roboto"/>
                <a:ea typeface="Roboto"/>
                <a:cs typeface="Roboto"/>
                <a:sym typeface="Roboto"/>
              </a:rPr>
              <a:t>GROUP BY </a:t>
            </a:r>
          </a:p>
          <a:p>
            <a:pPr algn="l">
              <a:lnSpc>
                <a:spcPts val="2239"/>
              </a:lnSpc>
              <a:spcBef>
                <a:spcPct val="0"/>
              </a:spcBef>
            </a:pPr>
            <a:r>
              <a:rPr lang="en-US" sz="1599">
                <a:solidFill>
                  <a:srgbClr val="0CC0DF"/>
                </a:solidFill>
                <a:latin typeface="Roboto"/>
                <a:ea typeface="Roboto"/>
                <a:cs typeface="Roboto"/>
                <a:sym typeface="Roboto"/>
              </a:rPr>
              <a:t>    CASE</a:t>
            </a:r>
          </a:p>
          <a:p>
            <a:pPr algn="l">
              <a:lnSpc>
                <a:spcPts val="2239"/>
              </a:lnSpc>
              <a:spcBef>
                <a:spcPct val="0"/>
              </a:spcBef>
            </a:pPr>
            <a:r>
              <a:rPr lang="en-US" sz="1599">
                <a:solidFill>
                  <a:srgbClr val="0CC0DF"/>
                </a:solidFill>
                <a:latin typeface="Roboto"/>
                <a:ea typeface="Roboto"/>
                <a:cs typeface="Roboto"/>
                <a:sym typeface="Roboto"/>
              </a:rPr>
              <a:t>        WHEN</a:t>
            </a:r>
            <a:r>
              <a:rPr lang="en-US" sz="1599">
                <a:solidFill>
                  <a:srgbClr val="F5F5EF"/>
                </a:solidFill>
                <a:latin typeface="Roboto"/>
                <a:ea typeface="Roboto"/>
                <a:cs typeface="Roboto"/>
                <a:sym typeface="Roboto"/>
              </a:rPr>
              <a:t> 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avg_productivity_rating DESC;</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0999"/>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87900" y="-35295"/>
            <a:ext cx="15125468" cy="1917699"/>
          </a:xfrm>
          <a:prstGeom prst="rect">
            <a:avLst/>
          </a:prstGeom>
        </p:spPr>
        <p:txBody>
          <a:bodyPr anchor="t" rtlCol="false" tIns="0" lIns="0" bIns="0" rIns="0">
            <a:spAutoFit/>
          </a:bodyPr>
          <a:lstStyle/>
          <a:p>
            <a:pPr algn="l">
              <a:lnSpc>
                <a:spcPts val="7700"/>
              </a:lnSpc>
            </a:pPr>
            <a:r>
              <a:rPr lang="en-US" sz="5500" b="true">
                <a:solidFill>
                  <a:srgbClr val="000000"/>
                </a:solidFill>
                <a:latin typeface="Cormorant Garamond Bold"/>
                <a:ea typeface="Cormorant Garamond Bold"/>
                <a:cs typeface="Cormorant Garamond Bold"/>
                <a:sym typeface="Cormorant Garamond Bold"/>
              </a:rPr>
              <a:t> </a:t>
            </a:r>
            <a:r>
              <a:rPr lang="en-US" sz="5500" b="true">
                <a:solidFill>
                  <a:srgbClr val="000000"/>
                </a:solidFill>
                <a:latin typeface="Cormorant Garamond Bold"/>
                <a:ea typeface="Cormorant Garamond Bold"/>
                <a:cs typeface="Cormorant Garamond Bold"/>
                <a:sym typeface="Cormorant Garamond Bold"/>
              </a:rPr>
              <a:t>Social </a:t>
            </a:r>
            <a:r>
              <a:rPr lang="en-US" sz="5500" b="true">
                <a:solidFill>
                  <a:srgbClr val="000000"/>
                </a:solidFill>
                <a:latin typeface="Cormorant Garamond Bold"/>
                <a:ea typeface="Cormorant Garamond Bold"/>
                <a:cs typeface="Cormorant Garamond Bold"/>
                <a:sym typeface="Cormorant Garamond Bold"/>
              </a:rPr>
              <a:t>Media &amp; Productivity</a:t>
            </a:r>
          </a:p>
          <a:p>
            <a:pPr algn="l">
              <a:lnSpc>
                <a:spcPts val="7700"/>
              </a:lnSpc>
              <a:spcBef>
                <a:spcPct val="0"/>
              </a:spcBef>
            </a:pPr>
          </a:p>
        </p:txBody>
      </p:sp>
      <p:grpSp>
        <p:nvGrpSpPr>
          <p:cNvPr name="Group 7" id="7"/>
          <p:cNvGrpSpPr/>
          <p:nvPr/>
        </p:nvGrpSpPr>
        <p:grpSpPr>
          <a:xfrm rot="0">
            <a:off x="2143488" y="1234673"/>
            <a:ext cx="6428862" cy="3618371"/>
            <a:chOff x="0" y="0"/>
            <a:chExt cx="1693198" cy="952987"/>
          </a:xfrm>
        </p:grpSpPr>
        <p:sp>
          <p:nvSpPr>
            <p:cNvPr name="Freeform 8" id="8"/>
            <p:cNvSpPr/>
            <p:nvPr/>
          </p:nvSpPr>
          <p:spPr>
            <a:xfrm flipH="false" flipV="false" rot="0">
              <a:off x="0" y="0"/>
              <a:ext cx="1693198" cy="952987"/>
            </a:xfrm>
            <a:custGeom>
              <a:avLst/>
              <a:gdLst/>
              <a:ahLst/>
              <a:cxnLst/>
              <a:rect r="r" b="b" t="t" l="l"/>
              <a:pathLst>
                <a:path h="952987" w="1693198">
                  <a:moveTo>
                    <a:pt x="61416" y="0"/>
                  </a:moveTo>
                  <a:lnTo>
                    <a:pt x="1631782" y="0"/>
                  </a:lnTo>
                  <a:cubicBezTo>
                    <a:pt x="1648070" y="0"/>
                    <a:pt x="1663692" y="6471"/>
                    <a:pt x="1675210" y="17988"/>
                  </a:cubicBezTo>
                  <a:cubicBezTo>
                    <a:pt x="1686727" y="29506"/>
                    <a:pt x="1693198" y="45128"/>
                    <a:pt x="1693198" y="61416"/>
                  </a:cubicBezTo>
                  <a:lnTo>
                    <a:pt x="1693198" y="891570"/>
                  </a:lnTo>
                  <a:cubicBezTo>
                    <a:pt x="1693198" y="907859"/>
                    <a:pt x="1686727" y="923480"/>
                    <a:pt x="1675210" y="934998"/>
                  </a:cubicBezTo>
                  <a:cubicBezTo>
                    <a:pt x="1663692" y="946516"/>
                    <a:pt x="1648070" y="952987"/>
                    <a:pt x="1631782" y="952987"/>
                  </a:cubicBezTo>
                  <a:lnTo>
                    <a:pt x="61416" y="952987"/>
                  </a:lnTo>
                  <a:cubicBezTo>
                    <a:pt x="45128" y="952987"/>
                    <a:pt x="29506" y="946516"/>
                    <a:pt x="17988" y="934998"/>
                  </a:cubicBezTo>
                  <a:cubicBezTo>
                    <a:pt x="6471" y="923480"/>
                    <a:pt x="0" y="907859"/>
                    <a:pt x="0" y="891570"/>
                  </a:cubicBezTo>
                  <a:lnTo>
                    <a:pt x="0" y="61416"/>
                  </a:lnTo>
                  <a:cubicBezTo>
                    <a:pt x="0" y="45128"/>
                    <a:pt x="6471" y="29506"/>
                    <a:pt x="17988" y="17988"/>
                  </a:cubicBezTo>
                  <a:cubicBezTo>
                    <a:pt x="29506" y="6471"/>
                    <a:pt x="45128" y="0"/>
                    <a:pt x="61416" y="0"/>
                  </a:cubicBezTo>
                  <a:close/>
                </a:path>
              </a:pathLst>
            </a:custGeom>
            <a:solidFill>
              <a:srgbClr val="304543"/>
            </a:solidFill>
          </p:spPr>
        </p:sp>
        <p:sp>
          <p:nvSpPr>
            <p:cNvPr name="TextBox 9" id="9"/>
            <p:cNvSpPr txBox="true"/>
            <p:nvPr/>
          </p:nvSpPr>
          <p:spPr>
            <a:xfrm>
              <a:off x="0" y="-47625"/>
              <a:ext cx="1693198" cy="1000612"/>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10824255" y="4853044"/>
            <a:ext cx="7378020" cy="3846084"/>
            <a:chOff x="0" y="0"/>
            <a:chExt cx="1943182" cy="1012960"/>
          </a:xfrm>
        </p:grpSpPr>
        <p:sp>
          <p:nvSpPr>
            <p:cNvPr name="Freeform 11" id="11"/>
            <p:cNvSpPr/>
            <p:nvPr/>
          </p:nvSpPr>
          <p:spPr>
            <a:xfrm flipH="false" flipV="false" rot="0">
              <a:off x="0" y="0"/>
              <a:ext cx="1943182" cy="1012960"/>
            </a:xfrm>
            <a:custGeom>
              <a:avLst/>
              <a:gdLst/>
              <a:ahLst/>
              <a:cxnLst/>
              <a:rect r="r" b="b" t="t" l="l"/>
              <a:pathLst>
                <a:path h="1012960" w="1943182">
                  <a:moveTo>
                    <a:pt x="53515" y="0"/>
                  </a:moveTo>
                  <a:lnTo>
                    <a:pt x="1889667" y="0"/>
                  </a:lnTo>
                  <a:cubicBezTo>
                    <a:pt x="1903860" y="0"/>
                    <a:pt x="1917472" y="5638"/>
                    <a:pt x="1927508" y="15674"/>
                  </a:cubicBezTo>
                  <a:cubicBezTo>
                    <a:pt x="1937544" y="25710"/>
                    <a:pt x="1943182" y="39322"/>
                    <a:pt x="1943182" y="53515"/>
                  </a:cubicBezTo>
                  <a:lnTo>
                    <a:pt x="1943182" y="959445"/>
                  </a:lnTo>
                  <a:cubicBezTo>
                    <a:pt x="1943182" y="973638"/>
                    <a:pt x="1937544" y="987250"/>
                    <a:pt x="1927508" y="997286"/>
                  </a:cubicBezTo>
                  <a:cubicBezTo>
                    <a:pt x="1917472" y="1007322"/>
                    <a:pt x="1903860" y="1012960"/>
                    <a:pt x="1889667" y="1012960"/>
                  </a:cubicBezTo>
                  <a:lnTo>
                    <a:pt x="53515" y="1012960"/>
                  </a:lnTo>
                  <a:cubicBezTo>
                    <a:pt x="39322" y="1012960"/>
                    <a:pt x="25710" y="1007322"/>
                    <a:pt x="15674" y="997286"/>
                  </a:cubicBezTo>
                  <a:cubicBezTo>
                    <a:pt x="5638" y="987250"/>
                    <a:pt x="0" y="973638"/>
                    <a:pt x="0" y="959445"/>
                  </a:cubicBezTo>
                  <a:lnTo>
                    <a:pt x="0" y="53515"/>
                  </a:lnTo>
                  <a:cubicBezTo>
                    <a:pt x="0" y="39322"/>
                    <a:pt x="5638" y="25710"/>
                    <a:pt x="15674" y="15674"/>
                  </a:cubicBezTo>
                  <a:cubicBezTo>
                    <a:pt x="25710" y="5638"/>
                    <a:pt x="39322" y="0"/>
                    <a:pt x="53515" y="0"/>
                  </a:cubicBezTo>
                  <a:close/>
                </a:path>
              </a:pathLst>
            </a:custGeom>
            <a:solidFill>
              <a:srgbClr val="304543"/>
            </a:solidFill>
          </p:spPr>
        </p:sp>
        <p:sp>
          <p:nvSpPr>
            <p:cNvPr name="TextBox 12" id="12"/>
            <p:cNvSpPr txBox="true"/>
            <p:nvPr/>
          </p:nvSpPr>
          <p:spPr>
            <a:xfrm>
              <a:off x="0" y="-47625"/>
              <a:ext cx="1943182" cy="1060585"/>
            </a:xfrm>
            <a:prstGeom prst="rect">
              <a:avLst/>
            </a:prstGeom>
          </p:spPr>
          <p:txBody>
            <a:bodyPr anchor="ctr" rtlCol="false" tIns="50800" lIns="50800" bIns="50800" rIns="50800"/>
            <a:lstStyle/>
            <a:p>
              <a:pPr algn="ctr">
                <a:lnSpc>
                  <a:spcPts val="2939"/>
                </a:lnSpc>
              </a:pPr>
            </a:p>
          </p:txBody>
        </p:sp>
      </p:grpSp>
      <p:grpSp>
        <p:nvGrpSpPr>
          <p:cNvPr name="Group 13" id="13"/>
          <p:cNvGrpSpPr/>
          <p:nvPr/>
        </p:nvGrpSpPr>
        <p:grpSpPr>
          <a:xfrm rot="0">
            <a:off x="187900" y="4962637"/>
            <a:ext cx="6625839" cy="3696031"/>
            <a:chOff x="0" y="0"/>
            <a:chExt cx="1745077" cy="973440"/>
          </a:xfrm>
        </p:grpSpPr>
        <p:sp>
          <p:nvSpPr>
            <p:cNvPr name="Freeform 14" id="14"/>
            <p:cNvSpPr/>
            <p:nvPr/>
          </p:nvSpPr>
          <p:spPr>
            <a:xfrm flipH="false" flipV="false" rot="0">
              <a:off x="0" y="0"/>
              <a:ext cx="1745077" cy="973440"/>
            </a:xfrm>
            <a:custGeom>
              <a:avLst/>
              <a:gdLst/>
              <a:ahLst/>
              <a:cxnLst/>
              <a:rect r="r" b="b" t="t" l="l"/>
              <a:pathLst>
                <a:path h="973440" w="1745077">
                  <a:moveTo>
                    <a:pt x="59591" y="0"/>
                  </a:moveTo>
                  <a:lnTo>
                    <a:pt x="1685486" y="0"/>
                  </a:lnTo>
                  <a:cubicBezTo>
                    <a:pt x="1701291" y="0"/>
                    <a:pt x="1716448" y="6278"/>
                    <a:pt x="1727623" y="17454"/>
                  </a:cubicBezTo>
                  <a:cubicBezTo>
                    <a:pt x="1738799" y="28629"/>
                    <a:pt x="1745077" y="43786"/>
                    <a:pt x="1745077" y="59591"/>
                  </a:cubicBezTo>
                  <a:lnTo>
                    <a:pt x="1745077" y="913850"/>
                  </a:lnTo>
                  <a:cubicBezTo>
                    <a:pt x="1745077" y="929654"/>
                    <a:pt x="1738799" y="944811"/>
                    <a:pt x="1727623" y="955987"/>
                  </a:cubicBezTo>
                  <a:cubicBezTo>
                    <a:pt x="1716448" y="967162"/>
                    <a:pt x="1701291" y="973440"/>
                    <a:pt x="1685486" y="973440"/>
                  </a:cubicBezTo>
                  <a:lnTo>
                    <a:pt x="59591" y="973440"/>
                  </a:lnTo>
                  <a:cubicBezTo>
                    <a:pt x="26680" y="973440"/>
                    <a:pt x="0" y="946761"/>
                    <a:pt x="0" y="913850"/>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15" id="15"/>
            <p:cNvSpPr txBox="true"/>
            <p:nvPr/>
          </p:nvSpPr>
          <p:spPr>
            <a:xfrm>
              <a:off x="0" y="-47625"/>
              <a:ext cx="1745077" cy="1021065"/>
            </a:xfrm>
            <a:prstGeom prst="rect">
              <a:avLst/>
            </a:prstGeom>
          </p:spPr>
          <p:txBody>
            <a:bodyPr anchor="ctr" rtlCol="false" tIns="50800" lIns="50800" bIns="50800" rIns="50800"/>
            <a:lstStyle/>
            <a:p>
              <a:pPr algn="ctr">
                <a:lnSpc>
                  <a:spcPts val="2939"/>
                </a:lnSpc>
              </a:pPr>
            </a:p>
          </p:txBody>
        </p:sp>
      </p:grpSp>
      <p:grpSp>
        <p:nvGrpSpPr>
          <p:cNvPr name="Group 16" id="16"/>
          <p:cNvGrpSpPr/>
          <p:nvPr/>
        </p:nvGrpSpPr>
        <p:grpSpPr>
          <a:xfrm rot="0">
            <a:off x="9144000" y="800195"/>
            <a:ext cx="5827718" cy="4000405"/>
            <a:chOff x="0" y="0"/>
            <a:chExt cx="1534872" cy="1053605"/>
          </a:xfrm>
        </p:grpSpPr>
        <p:sp>
          <p:nvSpPr>
            <p:cNvPr name="Freeform 17" id="17"/>
            <p:cNvSpPr/>
            <p:nvPr/>
          </p:nvSpPr>
          <p:spPr>
            <a:xfrm flipH="false" flipV="false" rot="0">
              <a:off x="0" y="0"/>
              <a:ext cx="1534872" cy="1053605"/>
            </a:xfrm>
            <a:custGeom>
              <a:avLst/>
              <a:gdLst/>
              <a:ahLst/>
              <a:cxnLst/>
              <a:rect r="r" b="b" t="t" l="l"/>
              <a:pathLst>
                <a:path h="1053605" w="1534872">
                  <a:moveTo>
                    <a:pt x="67752" y="0"/>
                  </a:moveTo>
                  <a:lnTo>
                    <a:pt x="1467121" y="0"/>
                  </a:lnTo>
                  <a:cubicBezTo>
                    <a:pt x="1504539" y="0"/>
                    <a:pt x="1534872" y="30333"/>
                    <a:pt x="1534872" y="67752"/>
                  </a:cubicBezTo>
                  <a:lnTo>
                    <a:pt x="1534872" y="985853"/>
                  </a:lnTo>
                  <a:cubicBezTo>
                    <a:pt x="1534872" y="1023271"/>
                    <a:pt x="1504539" y="1053605"/>
                    <a:pt x="1467121" y="1053605"/>
                  </a:cubicBezTo>
                  <a:lnTo>
                    <a:pt x="67752" y="1053605"/>
                  </a:lnTo>
                  <a:cubicBezTo>
                    <a:pt x="30333" y="1053605"/>
                    <a:pt x="0" y="1023271"/>
                    <a:pt x="0" y="985853"/>
                  </a:cubicBezTo>
                  <a:lnTo>
                    <a:pt x="0" y="67752"/>
                  </a:lnTo>
                  <a:cubicBezTo>
                    <a:pt x="0" y="30333"/>
                    <a:pt x="30333" y="0"/>
                    <a:pt x="67752" y="0"/>
                  </a:cubicBezTo>
                  <a:close/>
                </a:path>
              </a:pathLst>
            </a:custGeom>
            <a:solidFill>
              <a:srgbClr val="304543"/>
            </a:solidFill>
          </p:spPr>
        </p:sp>
        <p:sp>
          <p:nvSpPr>
            <p:cNvPr name="TextBox 18" id="18"/>
            <p:cNvSpPr txBox="true"/>
            <p:nvPr/>
          </p:nvSpPr>
          <p:spPr>
            <a:xfrm>
              <a:off x="0" y="-47625"/>
              <a:ext cx="1534872" cy="1101230"/>
            </a:xfrm>
            <a:prstGeom prst="rect">
              <a:avLst/>
            </a:prstGeom>
          </p:spPr>
          <p:txBody>
            <a:bodyPr anchor="ctr" rtlCol="false" tIns="50800" lIns="50800" bIns="50800" rIns="50800"/>
            <a:lstStyle/>
            <a:p>
              <a:pPr algn="ctr">
                <a:lnSpc>
                  <a:spcPts val="2939"/>
                </a:lnSpc>
              </a:pPr>
            </a:p>
          </p:txBody>
        </p:sp>
      </p:grpSp>
      <p:pic>
        <p:nvPicPr>
          <p:cNvPr name="Picture 19" id="19"/>
          <p:cNvPicPr>
            <a:picLocks noChangeAspect="true"/>
          </p:cNvPicPr>
          <p:nvPr/>
        </p:nvPicPr>
        <p:blipFill>
          <a:blip r:embed="rId3"/>
          <a:stretch>
            <a:fillRect/>
          </a:stretch>
        </p:blipFill>
        <p:spPr>
          <a:xfrm rot="4655077">
            <a:off x="14898133" y="2192723"/>
            <a:ext cx="3719377" cy="2895641"/>
          </a:xfrm>
          <a:prstGeom prst="rect">
            <a:avLst/>
          </a:prstGeom>
        </p:spPr>
      </p:pic>
      <p:graphicFrame>
        <p:nvGraphicFramePr>
          <p:cNvPr name="Object 20" id="20"/>
          <p:cNvGraphicFramePr/>
          <p:nvPr/>
        </p:nvGraphicFramePr>
        <p:xfrm>
          <a:off x="484535" y="5103915"/>
          <a:ext cx="3771900" cy="6286500"/>
        </p:xfrm>
        <a:graphic>
          <a:graphicData uri="http://schemas.openxmlformats.org/presentationml/2006/ole">
            <p:oleObj imgW="5029200" imgH="754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21" id="21"/>
          <p:cNvGraphicFramePr/>
          <p:nvPr/>
        </p:nvGraphicFramePr>
        <p:xfrm>
          <a:off x="9385206" y="914447"/>
          <a:ext cx="5657850" cy="6915150"/>
        </p:xfrm>
        <a:graphic>
          <a:graphicData uri="http://schemas.openxmlformats.org/presentationml/2006/ole">
            <p:oleObj imgW="7035800" imgH="82931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13</a:t>
            </a:r>
          </a:p>
        </p:txBody>
      </p:sp>
      <p:sp>
        <p:nvSpPr>
          <p:cNvPr name="TextBox 23" id="23"/>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2316744" y="1381292"/>
            <a:ext cx="6175534" cy="2612147"/>
          </a:xfrm>
          <a:prstGeom prst="rect">
            <a:avLst/>
          </a:prstGeom>
        </p:spPr>
        <p:txBody>
          <a:bodyPr anchor="t" rtlCol="false" tIns="0" lIns="0" bIns="0" rIns="0">
            <a:spAutoFit/>
          </a:bodyPr>
          <a:lstStyle/>
          <a:p>
            <a:pPr algn="ctr">
              <a:lnSpc>
                <a:spcPts val="2756"/>
              </a:lnSpc>
              <a:spcBef>
                <a:spcPct val="0"/>
              </a:spcBef>
            </a:pPr>
            <a:r>
              <a:rPr lang="en-US" sz="1969">
                <a:solidFill>
                  <a:srgbClr val="C1DFC1"/>
                </a:solidFill>
                <a:latin typeface="Guild A Display"/>
                <a:ea typeface="Guild A Display"/>
                <a:cs typeface="Guild A Display"/>
                <a:sym typeface="Guild A Display"/>
              </a:rPr>
              <a:t>2 </a:t>
            </a:r>
            <a:r>
              <a:rPr lang="en-US" sz="1969">
                <a:solidFill>
                  <a:srgbClr val="C1DFC1"/>
                </a:solidFill>
                <a:latin typeface="Guild A Display"/>
                <a:ea typeface="Guild A Display"/>
                <a:cs typeface="Guild A Display"/>
                <a:sym typeface="Guild A Display"/>
              </a:rPr>
              <a:t>How does average screen time vary across productivity decline levels?</a:t>
            </a:r>
          </a:p>
          <a:p>
            <a:pPr algn="l">
              <a:lnSpc>
                <a:spcPts val="2239"/>
              </a:lnSpc>
              <a:spcBef>
                <a:spcPct val="0"/>
              </a:spcBef>
            </a:pPr>
            <a:r>
              <a:rPr lang="en-US" sz="1599">
                <a:solidFill>
                  <a:srgbClr val="0CC0DF"/>
                </a:solidFill>
                <a:latin typeface="Roboto"/>
                <a:ea typeface="Roboto"/>
                <a:cs typeface="Roboto"/>
                <a:sym typeface="Roboto"/>
              </a:rPr>
              <a:t>SELECT</a:t>
            </a:r>
          </a:p>
          <a:p>
            <a:pPr algn="l">
              <a:lnSpc>
                <a:spcPts val="2239"/>
              </a:lnSpc>
              <a:spcBef>
                <a:spcPct val="0"/>
              </a:spcBef>
            </a:pPr>
            <a:r>
              <a:rPr lang="en-US" sz="1599">
                <a:solidFill>
                  <a:srgbClr val="FFFFFF"/>
                </a:solidFill>
                <a:latin typeface="Roboto"/>
                <a:ea typeface="Roboto"/>
                <a:cs typeface="Roboto"/>
                <a:sym typeface="Roboto"/>
              </a:rPr>
              <a:t>    productivity_self_rating,</a:t>
            </a:r>
          </a:p>
          <a:p>
            <a:pPr algn="l">
              <a:lnSpc>
                <a:spcPts val="2239"/>
              </a:lnSpc>
              <a:spcBef>
                <a:spcPct val="0"/>
              </a:spcBef>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FFFF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FFFFF"/>
                </a:solidFill>
                <a:latin typeface="Roboto"/>
                <a:ea typeface="Roboto"/>
                <a:cs typeface="Roboto"/>
                <a:sym typeface="Roboto"/>
              </a:rPr>
              <a:t>(avg_daily_screen_time_hours), 2)</a:t>
            </a:r>
            <a:r>
              <a:rPr lang="en-US" sz="1599">
                <a:solidFill>
                  <a:srgbClr val="0CC0DF"/>
                </a:solidFill>
                <a:latin typeface="Roboto"/>
                <a:ea typeface="Roboto"/>
                <a:cs typeface="Roboto"/>
                <a:sym typeface="Roboto"/>
              </a:rPr>
              <a:t> AS</a:t>
            </a:r>
            <a:r>
              <a:rPr lang="en-US" sz="1599">
                <a:solidFill>
                  <a:srgbClr val="FFFFFF"/>
                </a:solidFill>
                <a:latin typeface="Roboto"/>
                <a:ea typeface="Roboto"/>
                <a:cs typeface="Roboto"/>
                <a:sym typeface="Roboto"/>
              </a:rPr>
              <a:t> avg_screen_time</a:t>
            </a:r>
          </a:p>
          <a:p>
            <a:pPr algn="l">
              <a:lnSpc>
                <a:spcPts val="2239"/>
              </a:lnSpc>
              <a:spcBef>
                <a:spcPct val="0"/>
              </a:spcBef>
            </a:pP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Fact_User_Metrics</a:t>
            </a:r>
          </a:p>
          <a:p>
            <a:pPr algn="l">
              <a:lnSpc>
                <a:spcPts val="2239"/>
              </a:lnSpc>
              <a:spcBef>
                <a:spcPct val="0"/>
              </a:spcBef>
            </a:pPr>
            <a:r>
              <a:rPr lang="en-US" sz="1599">
                <a:solidFill>
                  <a:srgbClr val="0CC0DF"/>
                </a:solidFill>
                <a:latin typeface="Roboto"/>
                <a:ea typeface="Roboto"/>
                <a:cs typeface="Roboto"/>
                <a:sym typeface="Roboto"/>
              </a:rPr>
              <a:t>GROUP BY</a:t>
            </a:r>
            <a:r>
              <a:rPr lang="en-US" sz="1599">
                <a:solidFill>
                  <a:srgbClr val="FFFFFF"/>
                </a:solidFill>
                <a:latin typeface="Roboto"/>
                <a:ea typeface="Roboto"/>
                <a:cs typeface="Roboto"/>
                <a:sym typeface="Roboto"/>
              </a:rPr>
              <a:t> productivity_self_rating</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avg_screen_time</a:t>
            </a:r>
            <a:r>
              <a:rPr lang="en-US" sz="1599">
                <a:solidFill>
                  <a:srgbClr val="0CC0DF"/>
                </a:solidFill>
                <a:latin typeface="Roboto"/>
                <a:ea typeface="Roboto"/>
                <a:cs typeface="Roboto"/>
                <a:sym typeface="Roboto"/>
              </a:rPr>
              <a:t> DESC;</a:t>
            </a:r>
          </a:p>
        </p:txBody>
      </p:sp>
      <p:pic>
        <p:nvPicPr>
          <p:cNvPr name="Picture 25" id="25"/>
          <p:cNvPicPr>
            <a:picLocks noChangeAspect="true"/>
          </p:cNvPicPr>
          <p:nvPr/>
        </p:nvPicPr>
        <p:blipFill>
          <a:blip r:embed="rId8"/>
          <a:stretch>
            <a:fillRect/>
          </a:stretch>
        </p:blipFill>
        <p:spPr>
          <a:xfrm rot="-1791657">
            <a:off x="-161913" y="2393948"/>
            <a:ext cx="3202441" cy="2493192"/>
          </a:xfrm>
          <a:prstGeom prst="rect">
            <a:avLst/>
          </a:prstGeom>
        </p:spPr>
      </p:pic>
      <p:sp>
        <p:nvSpPr>
          <p:cNvPr name="TextBox 26" id="26"/>
          <p:cNvSpPr txBox="true"/>
          <p:nvPr/>
        </p:nvSpPr>
        <p:spPr>
          <a:xfrm rot="0">
            <a:off x="11685053" y="5075340"/>
            <a:ext cx="5389724" cy="3082164"/>
          </a:xfrm>
          <a:prstGeom prst="rect">
            <a:avLst/>
          </a:prstGeom>
        </p:spPr>
        <p:txBody>
          <a:bodyPr anchor="t" rtlCol="false" tIns="0" lIns="0" bIns="0" rIns="0">
            <a:spAutoFit/>
          </a:bodyPr>
          <a:lstStyle/>
          <a:p>
            <a:pPr algn="ctr">
              <a:lnSpc>
                <a:spcPts val="2393"/>
              </a:lnSpc>
              <a:spcBef>
                <a:spcPct val="0"/>
              </a:spcBef>
            </a:pPr>
            <a:r>
              <a:rPr lang="en-US" sz="1709">
                <a:solidFill>
                  <a:srgbClr val="C1DFC1"/>
                </a:solidFill>
                <a:latin typeface="Guild A Display"/>
                <a:ea typeface="Guild A Display"/>
                <a:cs typeface="Guild A Display"/>
                <a:sym typeface="Guild A Display"/>
              </a:rPr>
              <a:t> 3 Is social media use during work/study associated with productivity decline?</a:t>
            </a:r>
          </a:p>
          <a:p>
            <a:pPr algn="ctr">
              <a:lnSpc>
                <a:spcPts val="2393"/>
              </a:lnSpc>
              <a:spcBef>
                <a:spcPct val="0"/>
              </a:spcBef>
            </a:pPr>
          </a:p>
          <a:p>
            <a:pPr algn="l">
              <a:lnSpc>
                <a:spcPts val="2239"/>
              </a:lnSpc>
              <a:spcBef>
                <a:spcPct val="0"/>
              </a:spcBef>
            </a:pPr>
            <a:r>
              <a:rPr lang="en-US" sz="1599">
                <a:solidFill>
                  <a:srgbClr val="0CC0DF"/>
                </a:solidFill>
                <a:latin typeface="Roboto"/>
                <a:ea typeface="Roboto"/>
                <a:cs typeface="Roboto"/>
                <a:sym typeface="Roboto"/>
              </a:rPr>
              <a:t>SELECT</a:t>
            </a:r>
            <a:r>
              <a:rPr lang="en-US" sz="1599">
                <a:solidFill>
                  <a:srgbClr val="FFFFFF"/>
                </a:solidFill>
                <a:latin typeface="Roboto"/>
                <a:ea typeface="Roboto"/>
                <a:cs typeface="Roboto"/>
                <a:sym typeface="Roboto"/>
              </a:rPr>
              <a:t> </a:t>
            </a:r>
          </a:p>
          <a:p>
            <a:pPr algn="l">
              <a:lnSpc>
                <a:spcPts val="2239"/>
              </a:lnSpc>
              <a:spcBef>
                <a:spcPct val="0"/>
              </a:spcBef>
            </a:pPr>
            <a:r>
              <a:rPr lang="en-US" sz="1599">
                <a:solidFill>
                  <a:srgbClr val="FFFFFF"/>
                </a:solidFill>
                <a:latin typeface="Roboto"/>
                <a:ea typeface="Roboto"/>
                <a:cs typeface="Roboto"/>
                <a:sym typeface="Roboto"/>
              </a:rPr>
              <a:t>    sm_during_work_study,   productivity_decline_score,</a:t>
            </a:r>
          </a:p>
          <a:p>
            <a:pPr algn="l">
              <a:lnSpc>
                <a:spcPts val="2239"/>
              </a:lnSpc>
              <a:spcBef>
                <a:spcPct val="0"/>
              </a:spcBef>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 COUNT</a:t>
            </a: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AS</a:t>
            </a:r>
            <a:r>
              <a:rPr lang="en-US" sz="1599">
                <a:solidFill>
                  <a:srgbClr val="FFFFFF"/>
                </a:solidFill>
                <a:latin typeface="Roboto"/>
                <a:ea typeface="Roboto"/>
                <a:cs typeface="Roboto"/>
                <a:sym typeface="Roboto"/>
              </a:rPr>
              <a:t> participants    </a:t>
            </a: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SocialMedia_Habits s</a:t>
            </a:r>
          </a:p>
          <a:p>
            <a:pPr algn="l">
              <a:lnSpc>
                <a:spcPts val="2239"/>
              </a:lnSpc>
              <a:spcBef>
                <a:spcPct val="0"/>
              </a:spcBef>
            </a:pPr>
            <a:r>
              <a:rPr lang="en-US" sz="1599">
                <a:solidFill>
                  <a:srgbClr val="FFFFFF"/>
                </a:solidFill>
                <a:latin typeface="Roboto"/>
                <a:ea typeface="Roboto"/>
                <a:cs typeface="Roboto"/>
                <a:sym typeface="Roboto"/>
              </a:rPr>
              <a:t>JOIN Productivity_Cognition p  </a:t>
            </a:r>
            <a:r>
              <a:rPr lang="en-US" sz="1599">
                <a:solidFill>
                  <a:srgbClr val="0CC0DF"/>
                </a:solidFill>
                <a:latin typeface="Roboto"/>
                <a:ea typeface="Roboto"/>
                <a:cs typeface="Roboto"/>
                <a:sym typeface="Roboto"/>
              </a:rPr>
              <a:t>ON</a:t>
            </a:r>
            <a:r>
              <a:rPr lang="en-US" sz="1599">
                <a:solidFill>
                  <a:srgbClr val="FFFFFF"/>
                </a:solidFill>
                <a:latin typeface="Roboto"/>
                <a:ea typeface="Roboto"/>
                <a:cs typeface="Roboto"/>
                <a:sym typeface="Roboto"/>
              </a:rPr>
              <a:t> s.participant_id = p.participant_id</a:t>
            </a:r>
          </a:p>
          <a:p>
            <a:pPr algn="l">
              <a:lnSpc>
                <a:spcPts val="2239"/>
              </a:lnSpc>
              <a:spcBef>
                <a:spcPct val="0"/>
              </a:spcBef>
            </a:pPr>
            <a:r>
              <a:rPr lang="en-US" sz="1599">
                <a:solidFill>
                  <a:srgbClr val="0CC0DF"/>
                </a:solidFill>
                <a:latin typeface="Roboto"/>
                <a:ea typeface="Roboto"/>
                <a:cs typeface="Roboto"/>
                <a:sym typeface="Roboto"/>
              </a:rPr>
              <a:t>GROUP BY </a:t>
            </a:r>
          </a:p>
          <a:p>
            <a:pPr algn="l">
              <a:lnSpc>
                <a:spcPts val="2239"/>
              </a:lnSpc>
              <a:spcBef>
                <a:spcPct val="0"/>
              </a:spcBef>
            </a:pPr>
            <a:r>
              <a:rPr lang="en-US" sz="1599">
                <a:solidFill>
                  <a:srgbClr val="FFFFFF"/>
                </a:solidFill>
                <a:latin typeface="Roboto"/>
                <a:ea typeface="Roboto"/>
                <a:cs typeface="Roboto"/>
                <a:sym typeface="Roboto"/>
              </a:rPr>
              <a:t>    sm_during_work_study,    productivity_decline_score</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sm_during_work_study, participants </a:t>
            </a:r>
            <a:r>
              <a:rPr lang="en-US" sz="1599">
                <a:solidFill>
                  <a:srgbClr val="0CC0DF"/>
                </a:solidFill>
                <a:latin typeface="Roboto"/>
                <a:ea typeface="Roboto"/>
                <a:cs typeface="Roboto"/>
                <a:sym typeface="Roboto"/>
              </a:rPr>
              <a:t>DESC;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64025"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36901" y="-39813"/>
            <a:ext cx="7937908" cy="928291"/>
          </a:xfrm>
          <a:prstGeom prst="rect">
            <a:avLst/>
          </a:prstGeom>
        </p:spPr>
        <p:txBody>
          <a:bodyPr anchor="t" rtlCol="false" tIns="0" lIns="0" bIns="0" rIns="0">
            <a:spAutoFit/>
          </a:bodyPr>
          <a:lstStyle/>
          <a:p>
            <a:pPr algn="l">
              <a:lnSpc>
                <a:spcPts val="7634"/>
              </a:lnSpc>
              <a:spcBef>
                <a:spcPct val="0"/>
              </a:spcBef>
            </a:pPr>
            <a:r>
              <a:rPr lang="en-US" b="true" sz="5453">
                <a:solidFill>
                  <a:srgbClr val="000000"/>
                </a:solidFill>
                <a:latin typeface="Cormorant Garamond Bold"/>
                <a:ea typeface="Cormorant Garamond Bold"/>
                <a:cs typeface="Cormorant Garamond Bold"/>
                <a:sym typeface="Cormorant Garamond Bold"/>
              </a:rPr>
              <a:t> </a:t>
            </a:r>
            <a:r>
              <a:rPr lang="en-US" b="true" sz="5453">
                <a:solidFill>
                  <a:srgbClr val="000000"/>
                </a:solidFill>
                <a:latin typeface="Cormorant Garamond Bold"/>
                <a:ea typeface="Cormorant Garamond Bold"/>
                <a:cs typeface="Cormorant Garamond Bold"/>
                <a:sym typeface="Cormorant Garamond Bold"/>
              </a:rPr>
              <a:t>S</a:t>
            </a:r>
            <a:r>
              <a:rPr lang="en-US" b="true" sz="5453">
                <a:solidFill>
                  <a:srgbClr val="000000"/>
                </a:solidFill>
                <a:latin typeface="Cormorant Garamond Bold"/>
                <a:ea typeface="Cormorant Garamond Bold"/>
                <a:cs typeface="Cormorant Garamond Bold"/>
                <a:sym typeface="Cormorant Garamond Bold"/>
              </a:rPr>
              <a:t>ocial Media &amp; Productivity</a:t>
            </a:r>
          </a:p>
        </p:txBody>
      </p:sp>
      <p:grpSp>
        <p:nvGrpSpPr>
          <p:cNvPr name="Group 7" id="7"/>
          <p:cNvGrpSpPr/>
          <p:nvPr/>
        </p:nvGrpSpPr>
        <p:grpSpPr>
          <a:xfrm rot="0">
            <a:off x="333375" y="1271425"/>
            <a:ext cx="6625839" cy="3656036"/>
            <a:chOff x="0" y="0"/>
            <a:chExt cx="1745077" cy="962906"/>
          </a:xfrm>
        </p:grpSpPr>
        <p:sp>
          <p:nvSpPr>
            <p:cNvPr name="Freeform 8" id="8"/>
            <p:cNvSpPr/>
            <p:nvPr/>
          </p:nvSpPr>
          <p:spPr>
            <a:xfrm flipH="false" flipV="false" rot="0">
              <a:off x="0" y="0"/>
              <a:ext cx="1745077" cy="962906"/>
            </a:xfrm>
            <a:custGeom>
              <a:avLst/>
              <a:gdLst/>
              <a:ahLst/>
              <a:cxnLst/>
              <a:rect r="r" b="b" t="t" l="l"/>
              <a:pathLst>
                <a:path h="962906" w="1745077">
                  <a:moveTo>
                    <a:pt x="59591" y="0"/>
                  </a:moveTo>
                  <a:lnTo>
                    <a:pt x="1685486" y="0"/>
                  </a:lnTo>
                  <a:cubicBezTo>
                    <a:pt x="1701291" y="0"/>
                    <a:pt x="1716448" y="6278"/>
                    <a:pt x="1727623" y="17454"/>
                  </a:cubicBezTo>
                  <a:cubicBezTo>
                    <a:pt x="1738799" y="28629"/>
                    <a:pt x="1745077" y="43786"/>
                    <a:pt x="1745077" y="59591"/>
                  </a:cubicBezTo>
                  <a:lnTo>
                    <a:pt x="1745077" y="903316"/>
                  </a:lnTo>
                  <a:cubicBezTo>
                    <a:pt x="1745077" y="936227"/>
                    <a:pt x="1718397" y="962906"/>
                    <a:pt x="1685486" y="962906"/>
                  </a:cubicBezTo>
                  <a:lnTo>
                    <a:pt x="59591" y="962906"/>
                  </a:lnTo>
                  <a:cubicBezTo>
                    <a:pt x="43786" y="962906"/>
                    <a:pt x="28629" y="956628"/>
                    <a:pt x="17454" y="945453"/>
                  </a:cubicBezTo>
                  <a:cubicBezTo>
                    <a:pt x="6278" y="934277"/>
                    <a:pt x="0" y="919120"/>
                    <a:pt x="0" y="903316"/>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9" id="9"/>
            <p:cNvSpPr txBox="true"/>
            <p:nvPr/>
          </p:nvSpPr>
          <p:spPr>
            <a:xfrm>
              <a:off x="0" y="-47625"/>
              <a:ext cx="1745077" cy="1010531"/>
            </a:xfrm>
            <a:prstGeom prst="rect">
              <a:avLst/>
            </a:prstGeom>
          </p:spPr>
          <p:txBody>
            <a:bodyPr anchor="ctr" rtlCol="false" tIns="50800" lIns="50800" bIns="50800" rIns="50800"/>
            <a:lstStyle/>
            <a:p>
              <a:pPr algn="ctr">
                <a:lnSpc>
                  <a:spcPts val="2939"/>
                </a:lnSpc>
              </a:pPr>
            </a:p>
          </p:txBody>
        </p:sp>
      </p:grpSp>
      <p:sp>
        <p:nvSpPr>
          <p:cNvPr name="TextBox 10" id="10"/>
          <p:cNvSpPr txBox="true"/>
          <p:nvPr/>
        </p:nvSpPr>
        <p:spPr>
          <a:xfrm rot="0">
            <a:off x="562280" y="1283018"/>
            <a:ext cx="6168029" cy="3236471"/>
          </a:xfrm>
          <a:prstGeom prst="rect">
            <a:avLst/>
          </a:prstGeom>
        </p:spPr>
        <p:txBody>
          <a:bodyPr anchor="t" rtlCol="false" tIns="0" lIns="0" bIns="0" rIns="0">
            <a:spAutoFit/>
          </a:bodyPr>
          <a:lstStyle/>
          <a:p>
            <a:pPr algn="ctr">
              <a:lnSpc>
                <a:spcPts val="2736"/>
              </a:lnSpc>
            </a:pPr>
            <a:r>
              <a:rPr lang="en-US" sz="1954">
                <a:solidFill>
                  <a:srgbClr val="C1DFC1"/>
                </a:solidFill>
                <a:latin typeface="Roboto"/>
                <a:ea typeface="Roboto"/>
                <a:cs typeface="Roboto"/>
                <a:sym typeface="Roboto"/>
              </a:rPr>
              <a:t>4</a:t>
            </a:r>
            <a:r>
              <a:rPr lang="en-US" sz="1954">
                <a:solidFill>
                  <a:srgbClr val="C1DFC1"/>
                </a:solidFill>
                <a:latin typeface="Roboto"/>
                <a:ea typeface="Roboto"/>
                <a:cs typeface="Roboto"/>
                <a:sym typeface="Roboto"/>
              </a:rPr>
              <a:t> </a:t>
            </a:r>
            <a:r>
              <a:rPr lang="en-US" sz="1954">
                <a:solidFill>
                  <a:srgbClr val="C1DFC1"/>
                </a:solidFill>
                <a:latin typeface="Roboto"/>
                <a:ea typeface="Roboto"/>
                <a:cs typeface="Roboto"/>
                <a:sym typeface="Roboto"/>
              </a:rPr>
              <a:t>Does higher task-switching frequency relate to greater productivity decline?</a:t>
            </a:r>
          </a:p>
          <a:p>
            <a:pPr algn="l">
              <a:lnSpc>
                <a:spcPts val="2239"/>
              </a:lnSpc>
            </a:pPr>
            <a:r>
              <a:rPr lang="en-US" sz="1599">
                <a:solidFill>
                  <a:srgbClr val="0CC0DF"/>
                </a:solidFill>
                <a:latin typeface="Roboto"/>
                <a:ea typeface="Roboto"/>
                <a:cs typeface="Roboto"/>
                <a:sym typeface="Roboto"/>
              </a:rPr>
              <a:t>SELECT</a:t>
            </a:r>
            <a:r>
              <a:rPr lang="en-US" sz="1599">
                <a:solidFill>
                  <a:srgbClr val="FFFFFF"/>
                </a:solidFill>
                <a:latin typeface="Roboto"/>
                <a:ea typeface="Roboto"/>
                <a:cs typeface="Roboto"/>
                <a:sym typeface="Roboto"/>
              </a:rPr>
              <a:t> </a:t>
            </a:r>
          </a:p>
          <a:p>
            <a:pPr algn="l">
              <a:lnSpc>
                <a:spcPts val="2239"/>
              </a:lnSpc>
            </a:pPr>
            <a:r>
              <a:rPr lang="en-US" sz="1599">
                <a:solidFill>
                  <a:srgbClr val="FFFFFF"/>
                </a:solidFill>
                <a:latin typeface="Roboto"/>
                <a:ea typeface="Roboto"/>
                <a:cs typeface="Roboto"/>
                <a:sym typeface="Roboto"/>
              </a:rPr>
              <a:t>    task_switching_frequency,</a:t>
            </a:r>
          </a:p>
          <a:p>
            <a:pPr algn="l">
              <a:lnSpc>
                <a:spcPts val="2239"/>
              </a:lnSpc>
            </a:pPr>
            <a:r>
              <a:rPr lang="en-US" sz="1599">
                <a:solidFill>
                  <a:srgbClr val="FFFFFF"/>
                </a:solidFill>
                <a:latin typeface="Roboto"/>
                <a:ea typeface="Roboto"/>
                <a:cs typeface="Roboto"/>
                <a:sym typeface="Roboto"/>
              </a:rPr>
              <a:t>    productivity_decline_score,</a:t>
            </a:r>
            <a:r>
              <a:rPr lang="en-US" sz="1599">
                <a:solidFill>
                  <a:srgbClr val="FF66C4"/>
                </a:solidFill>
                <a:latin typeface="Roboto"/>
                <a:ea typeface="Roboto"/>
                <a:cs typeface="Roboto"/>
                <a:sym typeface="Roboto"/>
              </a:rPr>
              <a:t>COUNT</a:t>
            </a: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FFFFF"/>
                </a:solidFill>
                <a:latin typeface="Roboto"/>
                <a:ea typeface="Roboto"/>
                <a:cs typeface="Roboto"/>
                <a:sym typeface="Roboto"/>
              </a:rPr>
              <a:t>participants</a:t>
            </a:r>
          </a:p>
          <a:p>
            <a:pPr algn="l">
              <a:lnSpc>
                <a:spcPts val="2239"/>
              </a:lnSpc>
            </a:pP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Productivity_Cognition</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FFFFF"/>
                </a:solidFill>
                <a:latin typeface="Roboto"/>
                <a:ea typeface="Roboto"/>
                <a:cs typeface="Roboto"/>
                <a:sym typeface="Roboto"/>
              </a:rPr>
              <a:t>    task_switching_frequency,</a:t>
            </a:r>
          </a:p>
          <a:p>
            <a:pPr algn="l">
              <a:lnSpc>
                <a:spcPts val="2239"/>
              </a:lnSpc>
            </a:pPr>
            <a:r>
              <a:rPr lang="en-US" sz="1599">
                <a:solidFill>
                  <a:srgbClr val="FFFFFF"/>
                </a:solidFill>
                <a:latin typeface="Roboto"/>
                <a:ea typeface="Roboto"/>
                <a:cs typeface="Roboto"/>
                <a:sym typeface="Roboto"/>
              </a:rPr>
              <a:t>    productivity_decline_score</a:t>
            </a:r>
          </a:p>
          <a:p>
            <a:pPr algn="l">
              <a:lnSpc>
                <a:spcPts val="2239"/>
              </a:lnSpc>
            </a:pPr>
            <a:r>
              <a:rPr lang="en-US" sz="1599">
                <a:solidFill>
                  <a:srgbClr val="0CC0DF"/>
                </a:solidFill>
                <a:latin typeface="Roboto"/>
                <a:ea typeface="Roboto"/>
                <a:cs typeface="Roboto"/>
                <a:sym typeface="Roboto"/>
              </a:rPr>
              <a:t>ORDER BY </a:t>
            </a:r>
            <a:r>
              <a:rPr lang="en-US" sz="1599">
                <a:solidFill>
                  <a:srgbClr val="FFFFFF"/>
                </a:solidFill>
                <a:latin typeface="Roboto"/>
                <a:ea typeface="Roboto"/>
                <a:cs typeface="Roboto"/>
                <a:sym typeface="Roboto"/>
              </a:rPr>
              <a:t>task_switching_frequency;</a:t>
            </a:r>
          </a:p>
          <a:p>
            <a:pPr algn="ctr">
              <a:lnSpc>
                <a:spcPts val="2736"/>
              </a:lnSpc>
              <a:spcBef>
                <a:spcPct val="0"/>
              </a:spcBef>
            </a:pPr>
          </a:p>
        </p:txBody>
      </p:sp>
      <p:grpSp>
        <p:nvGrpSpPr>
          <p:cNvPr name="Group 11" id="11"/>
          <p:cNvGrpSpPr/>
          <p:nvPr/>
        </p:nvGrpSpPr>
        <p:grpSpPr>
          <a:xfrm rot="0">
            <a:off x="2119892" y="5143500"/>
            <a:ext cx="6625839" cy="3595637"/>
            <a:chOff x="0" y="0"/>
            <a:chExt cx="1745077" cy="946999"/>
          </a:xfrm>
        </p:grpSpPr>
        <p:sp>
          <p:nvSpPr>
            <p:cNvPr name="Freeform 12" id="12"/>
            <p:cNvSpPr/>
            <p:nvPr/>
          </p:nvSpPr>
          <p:spPr>
            <a:xfrm flipH="false" flipV="false" rot="0">
              <a:off x="0" y="0"/>
              <a:ext cx="1745077" cy="946999"/>
            </a:xfrm>
            <a:custGeom>
              <a:avLst/>
              <a:gdLst/>
              <a:ahLst/>
              <a:cxnLst/>
              <a:rect r="r" b="b" t="t" l="l"/>
              <a:pathLst>
                <a:path h="946999" w="1745077">
                  <a:moveTo>
                    <a:pt x="59591" y="0"/>
                  </a:moveTo>
                  <a:lnTo>
                    <a:pt x="1685486" y="0"/>
                  </a:lnTo>
                  <a:cubicBezTo>
                    <a:pt x="1701291" y="0"/>
                    <a:pt x="1716448" y="6278"/>
                    <a:pt x="1727623" y="17454"/>
                  </a:cubicBezTo>
                  <a:cubicBezTo>
                    <a:pt x="1738799" y="28629"/>
                    <a:pt x="1745077" y="43786"/>
                    <a:pt x="1745077" y="59591"/>
                  </a:cubicBezTo>
                  <a:lnTo>
                    <a:pt x="1745077" y="887408"/>
                  </a:lnTo>
                  <a:cubicBezTo>
                    <a:pt x="1745077" y="920319"/>
                    <a:pt x="1718397" y="946999"/>
                    <a:pt x="1685486" y="946999"/>
                  </a:cubicBezTo>
                  <a:lnTo>
                    <a:pt x="59591" y="946999"/>
                  </a:lnTo>
                  <a:cubicBezTo>
                    <a:pt x="43786" y="946999"/>
                    <a:pt x="28629" y="940721"/>
                    <a:pt x="17454" y="929545"/>
                  </a:cubicBezTo>
                  <a:cubicBezTo>
                    <a:pt x="6278" y="918370"/>
                    <a:pt x="0" y="903213"/>
                    <a:pt x="0" y="887408"/>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13" id="13"/>
            <p:cNvSpPr txBox="true"/>
            <p:nvPr/>
          </p:nvSpPr>
          <p:spPr>
            <a:xfrm>
              <a:off x="0" y="-47625"/>
              <a:ext cx="1745077" cy="994624"/>
            </a:xfrm>
            <a:prstGeom prst="rect">
              <a:avLst/>
            </a:prstGeom>
          </p:spPr>
          <p:txBody>
            <a:bodyPr anchor="ctr" rtlCol="false" tIns="50800" lIns="50800" bIns="50800" rIns="50800"/>
            <a:lstStyle/>
            <a:p>
              <a:pPr algn="ctr">
                <a:lnSpc>
                  <a:spcPts val="2939"/>
                </a:lnSpc>
              </a:pPr>
            </a:p>
          </p:txBody>
        </p:sp>
      </p:grpSp>
      <p:grpSp>
        <p:nvGrpSpPr>
          <p:cNvPr name="Group 14" id="14"/>
          <p:cNvGrpSpPr/>
          <p:nvPr/>
        </p:nvGrpSpPr>
        <p:grpSpPr>
          <a:xfrm rot="0">
            <a:off x="10750669" y="4590986"/>
            <a:ext cx="6887745" cy="4100698"/>
            <a:chOff x="0" y="0"/>
            <a:chExt cx="1814056" cy="1080019"/>
          </a:xfrm>
        </p:grpSpPr>
        <p:sp>
          <p:nvSpPr>
            <p:cNvPr name="Freeform 15" id="15"/>
            <p:cNvSpPr/>
            <p:nvPr/>
          </p:nvSpPr>
          <p:spPr>
            <a:xfrm flipH="false" flipV="false" rot="0">
              <a:off x="0" y="0"/>
              <a:ext cx="1814056" cy="1080019"/>
            </a:xfrm>
            <a:custGeom>
              <a:avLst/>
              <a:gdLst/>
              <a:ahLst/>
              <a:cxnLst/>
              <a:rect r="r" b="b" t="t" l="l"/>
              <a:pathLst>
                <a:path h="1080019" w="1814056">
                  <a:moveTo>
                    <a:pt x="57325" y="0"/>
                  </a:moveTo>
                  <a:lnTo>
                    <a:pt x="1756732" y="0"/>
                  </a:lnTo>
                  <a:cubicBezTo>
                    <a:pt x="1771935" y="0"/>
                    <a:pt x="1786516" y="6040"/>
                    <a:pt x="1797266" y="16790"/>
                  </a:cubicBezTo>
                  <a:cubicBezTo>
                    <a:pt x="1808017" y="27540"/>
                    <a:pt x="1814056" y="42121"/>
                    <a:pt x="1814056" y="57325"/>
                  </a:cubicBezTo>
                  <a:lnTo>
                    <a:pt x="1814056" y="1022694"/>
                  </a:lnTo>
                  <a:cubicBezTo>
                    <a:pt x="1814056" y="1037898"/>
                    <a:pt x="1808017" y="1052479"/>
                    <a:pt x="1797266" y="1063229"/>
                  </a:cubicBezTo>
                  <a:cubicBezTo>
                    <a:pt x="1786516" y="1073980"/>
                    <a:pt x="1771935" y="1080019"/>
                    <a:pt x="1756732" y="1080019"/>
                  </a:cubicBezTo>
                  <a:lnTo>
                    <a:pt x="57325" y="1080019"/>
                  </a:lnTo>
                  <a:cubicBezTo>
                    <a:pt x="42121" y="1080019"/>
                    <a:pt x="27540" y="1073980"/>
                    <a:pt x="16790" y="1063229"/>
                  </a:cubicBezTo>
                  <a:cubicBezTo>
                    <a:pt x="6040" y="1052479"/>
                    <a:pt x="0" y="1037898"/>
                    <a:pt x="0" y="1022694"/>
                  </a:cubicBezTo>
                  <a:lnTo>
                    <a:pt x="0" y="57325"/>
                  </a:lnTo>
                  <a:cubicBezTo>
                    <a:pt x="0" y="42121"/>
                    <a:pt x="6040" y="27540"/>
                    <a:pt x="16790" y="16790"/>
                  </a:cubicBezTo>
                  <a:cubicBezTo>
                    <a:pt x="27540" y="6040"/>
                    <a:pt x="42121" y="0"/>
                    <a:pt x="57325" y="0"/>
                  </a:cubicBezTo>
                  <a:close/>
                </a:path>
              </a:pathLst>
            </a:custGeom>
            <a:solidFill>
              <a:srgbClr val="304543"/>
            </a:solidFill>
            <a:ln cap="rnd">
              <a:noFill/>
              <a:prstDash val="solid"/>
              <a:round/>
            </a:ln>
          </p:spPr>
        </p:sp>
        <p:sp>
          <p:nvSpPr>
            <p:cNvPr name="TextBox 16" id="16"/>
            <p:cNvSpPr txBox="true"/>
            <p:nvPr/>
          </p:nvSpPr>
          <p:spPr>
            <a:xfrm>
              <a:off x="0" y="-47625"/>
              <a:ext cx="1814056" cy="1127644"/>
            </a:xfrm>
            <a:prstGeom prst="rect">
              <a:avLst/>
            </a:prstGeom>
          </p:spPr>
          <p:txBody>
            <a:bodyPr anchor="ctr" rtlCol="false" tIns="50800" lIns="50800" bIns="50800" rIns="50800"/>
            <a:lstStyle/>
            <a:p>
              <a:pPr algn="ctr">
                <a:lnSpc>
                  <a:spcPts val="2939"/>
                </a:lnSpc>
              </a:pPr>
            </a:p>
          </p:txBody>
        </p:sp>
      </p:grpSp>
      <p:graphicFrame>
        <p:nvGraphicFramePr>
          <p:cNvPr name="Object 17" id="17"/>
          <p:cNvGraphicFramePr/>
          <p:nvPr/>
        </p:nvGraphicFramePr>
        <p:xfrm>
          <a:off x="2351797" y="5240263"/>
          <a:ext cx="5657850" cy="6286500"/>
        </p:xfrm>
        <a:graphic>
          <a:graphicData uri="http://schemas.openxmlformats.org/presentationml/2006/ole">
            <p:oleObj imgW="6908800" imgH="7543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18" id="18"/>
          <p:cNvGrpSpPr/>
          <p:nvPr/>
        </p:nvGrpSpPr>
        <p:grpSpPr>
          <a:xfrm rot="0">
            <a:off x="9609202" y="350211"/>
            <a:ext cx="6585691" cy="4040750"/>
            <a:chOff x="0" y="0"/>
            <a:chExt cx="1734503" cy="1064231"/>
          </a:xfrm>
        </p:grpSpPr>
        <p:sp>
          <p:nvSpPr>
            <p:cNvPr name="Freeform 19" id="19"/>
            <p:cNvSpPr/>
            <p:nvPr/>
          </p:nvSpPr>
          <p:spPr>
            <a:xfrm flipH="false" flipV="false" rot="0">
              <a:off x="0" y="0"/>
              <a:ext cx="1734503" cy="1064230"/>
            </a:xfrm>
            <a:custGeom>
              <a:avLst/>
              <a:gdLst/>
              <a:ahLst/>
              <a:cxnLst/>
              <a:rect r="r" b="b" t="t" l="l"/>
              <a:pathLst>
                <a:path h="1064230" w="1734503">
                  <a:moveTo>
                    <a:pt x="59954" y="0"/>
                  </a:moveTo>
                  <a:lnTo>
                    <a:pt x="1674549" y="0"/>
                  </a:lnTo>
                  <a:cubicBezTo>
                    <a:pt x="1707661" y="0"/>
                    <a:pt x="1734503" y="26842"/>
                    <a:pt x="1734503" y="59954"/>
                  </a:cubicBezTo>
                  <a:lnTo>
                    <a:pt x="1734503" y="1004277"/>
                  </a:lnTo>
                  <a:cubicBezTo>
                    <a:pt x="1734503" y="1020177"/>
                    <a:pt x="1728187" y="1035427"/>
                    <a:pt x="1716943" y="1046670"/>
                  </a:cubicBezTo>
                  <a:cubicBezTo>
                    <a:pt x="1705699" y="1057914"/>
                    <a:pt x="1690450" y="1064230"/>
                    <a:pt x="1674549" y="1064230"/>
                  </a:cubicBezTo>
                  <a:lnTo>
                    <a:pt x="59954" y="1064230"/>
                  </a:lnTo>
                  <a:cubicBezTo>
                    <a:pt x="44053" y="1064230"/>
                    <a:pt x="28804" y="1057914"/>
                    <a:pt x="17560" y="1046670"/>
                  </a:cubicBezTo>
                  <a:cubicBezTo>
                    <a:pt x="6317" y="1035427"/>
                    <a:pt x="0" y="1020177"/>
                    <a:pt x="0" y="1004277"/>
                  </a:cubicBezTo>
                  <a:lnTo>
                    <a:pt x="0" y="59954"/>
                  </a:lnTo>
                  <a:cubicBezTo>
                    <a:pt x="0" y="44053"/>
                    <a:pt x="6317" y="28804"/>
                    <a:pt x="17560" y="17560"/>
                  </a:cubicBezTo>
                  <a:cubicBezTo>
                    <a:pt x="28804" y="6317"/>
                    <a:pt x="44053" y="0"/>
                    <a:pt x="59954" y="0"/>
                  </a:cubicBezTo>
                  <a:close/>
                </a:path>
              </a:pathLst>
            </a:custGeom>
            <a:solidFill>
              <a:srgbClr val="304543"/>
            </a:solidFill>
            <a:ln cap="rnd">
              <a:noFill/>
              <a:prstDash val="solid"/>
              <a:round/>
            </a:ln>
          </p:spPr>
        </p:sp>
        <p:sp>
          <p:nvSpPr>
            <p:cNvPr name="TextBox 20" id="20"/>
            <p:cNvSpPr txBox="true"/>
            <p:nvPr/>
          </p:nvSpPr>
          <p:spPr>
            <a:xfrm>
              <a:off x="0" y="-47625"/>
              <a:ext cx="1734503" cy="1111856"/>
            </a:xfrm>
            <a:prstGeom prst="rect">
              <a:avLst/>
            </a:prstGeom>
          </p:spPr>
          <p:txBody>
            <a:bodyPr anchor="ctr" rtlCol="false" tIns="50800" lIns="50800" bIns="50800" rIns="50800"/>
            <a:lstStyle/>
            <a:p>
              <a:pPr algn="ctr">
                <a:lnSpc>
                  <a:spcPts val="2939"/>
                </a:lnSpc>
              </a:pPr>
            </a:p>
          </p:txBody>
        </p:sp>
      </p:grpSp>
      <p:graphicFrame>
        <p:nvGraphicFramePr>
          <p:cNvPr name="Object 21" id="21"/>
          <p:cNvGraphicFramePr/>
          <p:nvPr/>
        </p:nvGraphicFramePr>
        <p:xfrm>
          <a:off x="9943180" y="476720"/>
          <a:ext cx="5657850" cy="6286500"/>
        </p:xfrm>
        <a:graphic>
          <a:graphicData uri="http://schemas.openxmlformats.org/presentationml/2006/ole">
            <p:oleObj imgW="6908800" imgH="7543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14</a:t>
            </a:r>
          </a:p>
        </p:txBody>
      </p:sp>
      <p:sp>
        <p:nvSpPr>
          <p:cNvPr name="TextBox 23" id="23"/>
          <p:cNvSpPr txBox="true"/>
          <p:nvPr/>
        </p:nvSpPr>
        <p:spPr>
          <a:xfrm rot="0">
            <a:off x="418442" y="936974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11043070" y="4649125"/>
            <a:ext cx="7937642" cy="4255023"/>
          </a:xfrm>
          <a:prstGeom prst="rect">
            <a:avLst/>
          </a:prstGeom>
        </p:spPr>
        <p:txBody>
          <a:bodyPr anchor="t" rtlCol="false" tIns="0" lIns="0" bIns="0" rIns="0">
            <a:spAutoFit/>
          </a:bodyPr>
          <a:lstStyle/>
          <a:p>
            <a:pPr algn="l">
              <a:lnSpc>
                <a:spcPts val="2335"/>
              </a:lnSpc>
              <a:spcBef>
                <a:spcPct val="0"/>
              </a:spcBef>
            </a:pPr>
            <a:r>
              <a:rPr lang="en-US" sz="1668">
                <a:solidFill>
                  <a:srgbClr val="C1DFC1"/>
                </a:solidFill>
                <a:latin typeface="Roboto"/>
                <a:ea typeface="Roboto"/>
                <a:cs typeface="Roboto"/>
                <a:sym typeface="Roboto"/>
              </a:rPr>
              <a:t>5 How does difficulty maintaining focus vary with social media usage?</a:t>
            </a:r>
          </a:p>
          <a:p>
            <a:pPr algn="l">
              <a:lnSpc>
                <a:spcPts val="2156"/>
              </a:lnSpc>
              <a:spcBef>
                <a:spcPct val="0"/>
              </a:spcBef>
            </a:pPr>
            <a:r>
              <a:rPr lang="en-US" sz="1540">
                <a:solidFill>
                  <a:srgbClr val="0CC0DF"/>
                </a:solidFill>
                <a:latin typeface="Roboto"/>
                <a:ea typeface="Roboto"/>
                <a:cs typeface="Roboto"/>
                <a:sym typeface="Roboto"/>
              </a:rPr>
              <a:t>SELECT   CASE</a:t>
            </a:r>
          </a:p>
          <a:p>
            <a:pPr algn="l">
              <a:lnSpc>
                <a:spcPts val="2156"/>
              </a:lnSpc>
              <a:spcBef>
                <a:spcPct val="0"/>
              </a:spcBef>
            </a:pPr>
            <a:r>
              <a:rPr lang="en-US" sz="1540">
                <a:solidFill>
                  <a:srgbClr val="0CC0DF"/>
                </a:solidFill>
                <a:latin typeface="Roboto"/>
                <a:ea typeface="Roboto"/>
                <a:cs typeface="Roboto"/>
                <a:sym typeface="Roboto"/>
              </a:rPr>
              <a:t>        WHEN</a:t>
            </a:r>
            <a:r>
              <a:rPr lang="en-US" sz="1540">
                <a:solidFill>
                  <a:srgbClr val="FFFFFF"/>
                </a:solidFill>
                <a:latin typeface="Roboto"/>
                <a:ea typeface="Roboto"/>
                <a:cs typeface="Roboto"/>
                <a:sym typeface="Roboto"/>
              </a:rPr>
              <a:t> avg_daily_sm_hours &lt; 4 </a:t>
            </a:r>
            <a:r>
              <a:rPr lang="en-US" sz="1540">
                <a:solidFill>
                  <a:srgbClr val="0CC0DF"/>
                </a:solidFill>
                <a:latin typeface="Roboto"/>
                <a:ea typeface="Roboto"/>
                <a:cs typeface="Roboto"/>
                <a:sym typeface="Roboto"/>
              </a:rPr>
              <a:t>THEN</a:t>
            </a:r>
            <a:r>
              <a:rPr lang="en-US" sz="1540">
                <a:solidFill>
                  <a:srgbClr val="B34057"/>
                </a:solidFill>
                <a:latin typeface="Roboto"/>
                <a:ea typeface="Roboto"/>
                <a:cs typeface="Roboto"/>
                <a:sym typeface="Roboto"/>
              </a:rPr>
              <a:t> 'Low'</a:t>
            </a:r>
          </a:p>
          <a:p>
            <a:pPr algn="l">
              <a:lnSpc>
                <a:spcPts val="2335"/>
              </a:lnSpc>
              <a:spcBef>
                <a:spcPct val="0"/>
              </a:spcBef>
            </a:pP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    WHEN</a:t>
            </a:r>
            <a:r>
              <a:rPr lang="en-US" sz="1668">
                <a:solidFill>
                  <a:srgbClr val="FFFFFF"/>
                </a:solidFill>
                <a:latin typeface="Roboto"/>
                <a:ea typeface="Roboto"/>
                <a:cs typeface="Roboto"/>
                <a:sym typeface="Roboto"/>
              </a:rPr>
              <a:t> avg_daily_sm_hours &lt; 5.5 </a:t>
            </a:r>
            <a:r>
              <a:rPr lang="en-US" sz="1668">
                <a:solidFill>
                  <a:srgbClr val="0CC0DF"/>
                </a:solidFill>
                <a:latin typeface="Roboto"/>
                <a:ea typeface="Roboto"/>
                <a:cs typeface="Roboto"/>
                <a:sym typeface="Roboto"/>
              </a:rPr>
              <a:t>THEN</a:t>
            </a:r>
            <a:r>
              <a:rPr lang="en-US" sz="1668">
                <a:solidFill>
                  <a:srgbClr val="FFFFFF"/>
                </a:solidFill>
                <a:latin typeface="Roboto"/>
                <a:ea typeface="Roboto"/>
                <a:cs typeface="Roboto"/>
                <a:sym typeface="Roboto"/>
              </a:rPr>
              <a:t> '</a:t>
            </a:r>
            <a:r>
              <a:rPr lang="en-US" sz="1668">
                <a:solidFill>
                  <a:srgbClr val="B34057"/>
                </a:solidFill>
                <a:latin typeface="Roboto"/>
                <a:ea typeface="Roboto"/>
                <a:cs typeface="Roboto"/>
                <a:sym typeface="Roboto"/>
              </a:rPr>
              <a:t>Medium</a:t>
            </a:r>
            <a:r>
              <a:rPr lang="en-US" sz="1668">
                <a:solidFill>
                  <a:srgbClr val="FFFFFF"/>
                </a:solidFill>
                <a:latin typeface="Roboto"/>
                <a:ea typeface="Roboto"/>
                <a:cs typeface="Roboto"/>
                <a:sym typeface="Roboto"/>
              </a:rPr>
              <a:t>'</a:t>
            </a:r>
          </a:p>
          <a:p>
            <a:pPr algn="l">
              <a:lnSpc>
                <a:spcPts val="2335"/>
              </a:lnSpc>
              <a:spcBef>
                <a:spcPct val="0"/>
              </a:spcBef>
            </a:pPr>
            <a:r>
              <a:rPr lang="en-US" sz="1668">
                <a:solidFill>
                  <a:srgbClr val="0CC0DF"/>
                </a:solidFill>
                <a:latin typeface="Roboto"/>
                <a:ea typeface="Roboto"/>
                <a:cs typeface="Roboto"/>
                <a:sym typeface="Roboto"/>
              </a:rPr>
              <a:t>   WHEN</a:t>
            </a:r>
            <a:r>
              <a:rPr lang="en-US" sz="1668">
                <a:solidFill>
                  <a:srgbClr val="FFFFFF"/>
                </a:solidFill>
                <a:latin typeface="Roboto"/>
                <a:ea typeface="Roboto"/>
                <a:cs typeface="Roboto"/>
                <a:sym typeface="Roboto"/>
              </a:rPr>
              <a:t> avg_daily_sm_hours &lt; 6.5 </a:t>
            </a:r>
            <a:r>
              <a:rPr lang="en-US" sz="1668">
                <a:solidFill>
                  <a:srgbClr val="0CC0DF"/>
                </a:solidFill>
                <a:latin typeface="Roboto"/>
                <a:ea typeface="Roboto"/>
                <a:cs typeface="Roboto"/>
                <a:sym typeface="Roboto"/>
              </a:rPr>
              <a:t>THEN </a:t>
            </a:r>
            <a:r>
              <a:rPr lang="en-US" sz="1668">
                <a:solidFill>
                  <a:srgbClr val="B34057"/>
                </a:solidFill>
                <a:latin typeface="Roboto"/>
                <a:ea typeface="Roboto"/>
                <a:cs typeface="Roboto"/>
                <a:sym typeface="Roboto"/>
              </a:rPr>
              <a:t>'High'</a:t>
            </a:r>
          </a:p>
          <a:p>
            <a:pPr algn="l">
              <a:lnSpc>
                <a:spcPts val="2335"/>
              </a:lnSpc>
              <a:spcBef>
                <a:spcPct val="0"/>
              </a:spcBef>
            </a:pP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  ELSE</a:t>
            </a:r>
            <a:r>
              <a:rPr lang="en-US" sz="1668">
                <a:solidFill>
                  <a:srgbClr val="FFFFFF"/>
                </a:solidFill>
                <a:latin typeface="Roboto"/>
                <a:ea typeface="Roboto"/>
                <a:cs typeface="Roboto"/>
                <a:sym typeface="Roboto"/>
              </a:rPr>
              <a:t> </a:t>
            </a:r>
            <a:r>
              <a:rPr lang="en-US" sz="1668">
                <a:solidFill>
                  <a:srgbClr val="B34057"/>
                </a:solidFill>
                <a:latin typeface="Roboto"/>
                <a:ea typeface="Roboto"/>
                <a:cs typeface="Roboto"/>
                <a:sym typeface="Roboto"/>
              </a:rPr>
              <a:t>'Very High</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END</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AS</a:t>
            </a:r>
            <a:r>
              <a:rPr lang="en-US" sz="1668">
                <a:solidFill>
                  <a:srgbClr val="FFFFFF"/>
                </a:solidFill>
                <a:latin typeface="Roboto"/>
                <a:ea typeface="Roboto"/>
                <a:cs typeface="Roboto"/>
                <a:sym typeface="Roboto"/>
              </a:rPr>
              <a:t> usage_level,</a:t>
            </a:r>
          </a:p>
          <a:p>
            <a:pPr algn="l">
              <a:lnSpc>
                <a:spcPts val="2335"/>
              </a:lnSpc>
              <a:spcBef>
                <a:spcPct val="0"/>
              </a:spcBef>
            </a:pPr>
            <a:r>
              <a:rPr lang="en-US" sz="1668">
                <a:solidFill>
                  <a:srgbClr val="FFFFFF"/>
                </a:solidFill>
                <a:latin typeface="Roboto"/>
                <a:ea typeface="Roboto"/>
                <a:cs typeface="Roboto"/>
                <a:sym typeface="Roboto"/>
              </a:rPr>
              <a:t>    difficulty_maintaining_focus,</a:t>
            </a:r>
          </a:p>
          <a:p>
            <a:pPr algn="l">
              <a:lnSpc>
                <a:spcPts val="2335"/>
              </a:lnSpc>
              <a:spcBef>
                <a:spcPct val="0"/>
              </a:spcBef>
            </a:pPr>
            <a:r>
              <a:rPr lang="en-US" sz="1668">
                <a:solidFill>
                  <a:srgbClr val="FF66C4"/>
                </a:solidFill>
                <a:latin typeface="Roboto"/>
                <a:ea typeface="Roboto"/>
                <a:cs typeface="Roboto"/>
                <a:sym typeface="Roboto"/>
              </a:rPr>
              <a:t> COUNT</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AS</a:t>
            </a:r>
            <a:r>
              <a:rPr lang="en-US" sz="1668">
                <a:solidFill>
                  <a:srgbClr val="FFFFFF"/>
                </a:solidFill>
                <a:latin typeface="Roboto"/>
                <a:ea typeface="Roboto"/>
                <a:cs typeface="Roboto"/>
                <a:sym typeface="Roboto"/>
              </a:rPr>
              <a:t> participants</a:t>
            </a:r>
          </a:p>
          <a:p>
            <a:pPr algn="l">
              <a:lnSpc>
                <a:spcPts val="2335"/>
              </a:lnSpc>
              <a:spcBef>
                <a:spcPct val="0"/>
              </a:spcBef>
            </a:pPr>
            <a:r>
              <a:rPr lang="en-US" sz="1668">
                <a:solidFill>
                  <a:srgbClr val="0CC0DF"/>
                </a:solidFill>
                <a:latin typeface="Roboto"/>
                <a:ea typeface="Roboto"/>
                <a:cs typeface="Roboto"/>
                <a:sym typeface="Roboto"/>
              </a:rPr>
              <a:t>FROM</a:t>
            </a:r>
            <a:r>
              <a:rPr lang="en-US" sz="1668">
                <a:solidFill>
                  <a:srgbClr val="FFFFFF"/>
                </a:solidFill>
                <a:latin typeface="Roboto"/>
                <a:ea typeface="Roboto"/>
                <a:cs typeface="Roboto"/>
                <a:sym typeface="Roboto"/>
              </a:rPr>
              <a:t> Fact_User_Metrics f</a:t>
            </a:r>
            <a:r>
              <a:rPr lang="en-US" sz="1668">
                <a:solidFill>
                  <a:srgbClr val="FFFFFF"/>
                </a:solidFill>
                <a:latin typeface="Roboto"/>
                <a:ea typeface="Roboto"/>
                <a:cs typeface="Roboto"/>
                <a:sym typeface="Roboto"/>
              </a:rPr>
              <a:t>OIN Productivity_Cognition p</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ON</a:t>
            </a:r>
            <a:r>
              <a:rPr lang="en-US" sz="1540">
                <a:solidFill>
                  <a:srgbClr val="FFFFFF"/>
                </a:solidFill>
                <a:latin typeface="Roboto"/>
                <a:ea typeface="Roboto"/>
                <a:cs typeface="Roboto"/>
                <a:sym typeface="Roboto"/>
              </a:rPr>
              <a:t> f.participant_id = p.participant_id   </a:t>
            </a:r>
            <a:r>
              <a:rPr lang="en-US" sz="1540">
                <a:solidFill>
                  <a:srgbClr val="0CC0DF"/>
                </a:solidFill>
                <a:latin typeface="Roboto"/>
                <a:ea typeface="Roboto"/>
                <a:cs typeface="Roboto"/>
                <a:sym typeface="Roboto"/>
              </a:rPr>
              <a:t> GROUP BY  CAS</a:t>
            </a:r>
            <a:r>
              <a:rPr lang="en-US" sz="1540">
                <a:solidFill>
                  <a:srgbClr val="FFFFFF"/>
                </a:solidFill>
                <a:latin typeface="Roboto"/>
                <a:ea typeface="Roboto"/>
                <a:cs typeface="Roboto"/>
                <a:sym typeface="Roboto"/>
              </a:rPr>
              <a:t>E</a:t>
            </a:r>
          </a:p>
          <a:p>
            <a:pPr algn="l">
              <a:lnSpc>
                <a:spcPts val="2588"/>
              </a:lnSpc>
              <a:spcBef>
                <a:spcPct val="0"/>
              </a:spcBef>
            </a:pPr>
            <a:r>
              <a:rPr lang="en-US" sz="1849">
                <a:solidFill>
                  <a:srgbClr val="FFFFFF"/>
                </a:solidFill>
                <a:latin typeface="Roboto"/>
                <a:ea typeface="Roboto"/>
                <a:cs typeface="Roboto"/>
                <a:sym typeface="Roboto"/>
              </a:rPr>
              <a:t>        </a:t>
            </a:r>
            <a:r>
              <a:rPr lang="en-US" sz="1849">
                <a:solidFill>
                  <a:srgbClr val="0CC0DF"/>
                </a:solidFill>
                <a:latin typeface="Roboto"/>
                <a:ea typeface="Roboto"/>
                <a:cs typeface="Roboto"/>
                <a:sym typeface="Roboto"/>
              </a:rPr>
              <a:t>WHEN </a:t>
            </a:r>
            <a:r>
              <a:rPr lang="en-US" sz="1849">
                <a:solidFill>
                  <a:srgbClr val="FFFFFF"/>
                </a:solidFill>
                <a:latin typeface="Roboto"/>
                <a:ea typeface="Roboto"/>
                <a:cs typeface="Roboto"/>
                <a:sym typeface="Roboto"/>
              </a:rPr>
              <a:t>avg_daily_sm_hours &lt; 4 </a:t>
            </a:r>
            <a:r>
              <a:rPr lang="en-US" sz="1849">
                <a:solidFill>
                  <a:srgbClr val="0CC0DF"/>
                </a:solidFill>
                <a:latin typeface="Roboto"/>
                <a:ea typeface="Roboto"/>
                <a:cs typeface="Roboto"/>
                <a:sym typeface="Roboto"/>
              </a:rPr>
              <a:t>THEN </a:t>
            </a:r>
            <a:r>
              <a:rPr lang="en-US" sz="1849">
                <a:solidFill>
                  <a:srgbClr val="FFFFFF"/>
                </a:solidFill>
                <a:latin typeface="Roboto"/>
                <a:ea typeface="Roboto"/>
                <a:cs typeface="Roboto"/>
                <a:sym typeface="Roboto"/>
              </a:rPr>
              <a:t>'</a:t>
            </a:r>
            <a:r>
              <a:rPr lang="en-US" sz="1849">
                <a:solidFill>
                  <a:srgbClr val="B34057"/>
                </a:solidFill>
                <a:latin typeface="Roboto"/>
                <a:ea typeface="Roboto"/>
                <a:cs typeface="Roboto"/>
                <a:sym typeface="Roboto"/>
              </a:rPr>
              <a:t>Low'</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WHEN</a:t>
            </a:r>
            <a:r>
              <a:rPr lang="en-US" sz="1540">
                <a:solidFill>
                  <a:srgbClr val="FFFFFF"/>
                </a:solidFill>
                <a:latin typeface="Roboto"/>
                <a:ea typeface="Roboto"/>
                <a:cs typeface="Roboto"/>
                <a:sym typeface="Roboto"/>
              </a:rPr>
              <a:t> avg_daily_sm_hours &lt; 5.5 </a:t>
            </a:r>
            <a:r>
              <a:rPr lang="en-US" sz="1540">
                <a:solidFill>
                  <a:srgbClr val="0CC0DF"/>
                </a:solidFill>
                <a:latin typeface="Roboto"/>
                <a:ea typeface="Roboto"/>
                <a:cs typeface="Roboto"/>
                <a:sym typeface="Roboto"/>
              </a:rPr>
              <a:t>THEN</a:t>
            </a:r>
            <a:r>
              <a:rPr lang="en-US" sz="1540">
                <a:solidFill>
                  <a:srgbClr val="B34057"/>
                </a:solidFill>
                <a:latin typeface="Roboto"/>
                <a:ea typeface="Roboto"/>
                <a:cs typeface="Roboto"/>
                <a:sym typeface="Roboto"/>
              </a:rPr>
              <a:t> 'Medium'</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WHEN</a:t>
            </a:r>
            <a:r>
              <a:rPr lang="en-US" sz="1540">
                <a:solidFill>
                  <a:srgbClr val="FFFFFF"/>
                </a:solidFill>
                <a:latin typeface="Roboto"/>
                <a:ea typeface="Roboto"/>
                <a:cs typeface="Roboto"/>
                <a:sym typeface="Roboto"/>
              </a:rPr>
              <a:t> avg_daily_sm_hours &lt; 6.5</a:t>
            </a:r>
            <a:r>
              <a:rPr lang="en-US" sz="1540">
                <a:solidFill>
                  <a:srgbClr val="0CC0DF"/>
                </a:solidFill>
                <a:latin typeface="Roboto"/>
                <a:ea typeface="Roboto"/>
                <a:cs typeface="Roboto"/>
                <a:sym typeface="Roboto"/>
              </a:rPr>
              <a:t> THEN</a:t>
            </a:r>
            <a:r>
              <a:rPr lang="en-US" sz="1540">
                <a:solidFill>
                  <a:srgbClr val="B34057"/>
                </a:solidFill>
                <a:latin typeface="Roboto"/>
                <a:ea typeface="Roboto"/>
                <a:cs typeface="Roboto"/>
                <a:sym typeface="Roboto"/>
              </a:rPr>
              <a:t> 'High'</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ELSE</a:t>
            </a:r>
            <a:r>
              <a:rPr lang="en-US" sz="1540">
                <a:solidFill>
                  <a:srgbClr val="FFFFFF"/>
                </a:solidFill>
                <a:latin typeface="Roboto"/>
                <a:ea typeface="Roboto"/>
                <a:cs typeface="Roboto"/>
                <a:sym typeface="Roboto"/>
              </a:rPr>
              <a:t> '</a:t>
            </a:r>
            <a:r>
              <a:rPr lang="en-US" sz="1540">
                <a:solidFill>
                  <a:srgbClr val="B34057"/>
                </a:solidFill>
                <a:latin typeface="Roboto"/>
                <a:ea typeface="Roboto"/>
                <a:cs typeface="Roboto"/>
                <a:sym typeface="Roboto"/>
              </a:rPr>
              <a:t>Very High'</a:t>
            </a:r>
            <a:r>
              <a:rPr lang="en-US" sz="1540">
                <a:solidFill>
                  <a:srgbClr val="0CC0DF"/>
                </a:solidFill>
                <a:latin typeface="Roboto"/>
                <a:ea typeface="Roboto"/>
                <a:cs typeface="Roboto"/>
                <a:sym typeface="Roboto"/>
              </a:rPr>
              <a:t>  END,</a:t>
            </a:r>
            <a:r>
              <a:rPr lang="en-US" sz="1540">
                <a:solidFill>
                  <a:srgbClr val="FFFFFF"/>
                </a:solidFill>
                <a:latin typeface="Roboto"/>
                <a:ea typeface="Roboto"/>
                <a:cs typeface="Roboto"/>
                <a:sym typeface="Roboto"/>
              </a:rPr>
              <a:t>   difficulty_maintaining_focus;</a:t>
            </a:r>
          </a:p>
          <a:p>
            <a:pPr algn="l">
              <a:lnSpc>
                <a:spcPts val="2156"/>
              </a:lnSpc>
              <a:spcBef>
                <a:spcPct val="0"/>
              </a:spcBef>
            </a:pPr>
            <a:r>
              <a:rPr lang="en-US" sz="1540">
                <a:solidFill>
                  <a:srgbClr val="FFFFFF"/>
                </a:solidFill>
                <a:latin typeface="Roboto"/>
                <a:ea typeface="Roboto"/>
                <a:cs typeface="Roboto"/>
                <a:sym typeface="Roboto"/>
              </a:rPr>
              <a:t> </a:t>
            </a:r>
          </a:p>
        </p:txBody>
      </p:sp>
      <p:pic>
        <p:nvPicPr>
          <p:cNvPr name="Picture 25" id="25"/>
          <p:cNvPicPr>
            <a:picLocks noChangeAspect="true"/>
          </p:cNvPicPr>
          <p:nvPr/>
        </p:nvPicPr>
        <p:blipFill>
          <a:blip r:embed="rId7"/>
          <a:stretch>
            <a:fillRect/>
          </a:stretch>
        </p:blipFill>
        <p:spPr>
          <a:xfrm rot="5717085">
            <a:off x="15938784" y="2518328"/>
            <a:ext cx="2641032" cy="2043716"/>
          </a:xfrm>
          <a:prstGeom prst="rect">
            <a:avLst/>
          </a:prstGeom>
        </p:spPr>
      </p:pic>
      <p:pic>
        <p:nvPicPr>
          <p:cNvPr name="Picture 26" id="26"/>
          <p:cNvPicPr>
            <a:picLocks noChangeAspect="true"/>
          </p:cNvPicPr>
          <p:nvPr/>
        </p:nvPicPr>
        <p:blipFill>
          <a:blip r:embed="rId8"/>
          <a:stretch>
            <a:fillRect/>
          </a:stretch>
        </p:blipFill>
        <p:spPr>
          <a:xfrm rot="-6318717">
            <a:off x="129629" y="4767518"/>
            <a:ext cx="2147010" cy="1671508"/>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87900" y="68547"/>
            <a:ext cx="15125468" cy="1969770"/>
          </a:xfrm>
          <a:prstGeom prst="rect">
            <a:avLst/>
          </a:prstGeom>
        </p:spPr>
        <p:txBody>
          <a:bodyPr anchor="t" rtlCol="false" tIns="0" lIns="0" bIns="0" rIns="0">
            <a:spAutoFit/>
          </a:bodyPr>
          <a:lstStyle/>
          <a:p>
            <a:pPr algn="l">
              <a:lnSpc>
                <a:spcPts val="7000"/>
              </a:lnSpc>
            </a:pPr>
            <a:r>
              <a:rPr lang="en-US" sz="5000" b="true">
                <a:solidFill>
                  <a:srgbClr val="000000"/>
                </a:solidFill>
                <a:latin typeface="Cormorant Garamond Bold"/>
                <a:ea typeface="Cormorant Garamond Bold"/>
                <a:cs typeface="Cormorant Garamond Bold"/>
                <a:sym typeface="Cormorant Garamond Bold"/>
              </a:rPr>
              <a:t> </a:t>
            </a:r>
            <a:r>
              <a:rPr lang="en-US" sz="5000" b="true">
                <a:solidFill>
                  <a:srgbClr val="000000"/>
                </a:solidFill>
                <a:latin typeface="Cormorant Garamond Bold"/>
                <a:ea typeface="Cormorant Garamond Bold"/>
                <a:cs typeface="Cormorant Garamond Bold"/>
                <a:sym typeface="Cormorant Garamond Bold"/>
              </a:rPr>
              <a:t>Social </a:t>
            </a:r>
            <a:r>
              <a:rPr lang="en-US" sz="5000" b="true">
                <a:solidFill>
                  <a:srgbClr val="000000"/>
                </a:solidFill>
                <a:latin typeface="Cormorant Garamond Bold"/>
                <a:ea typeface="Cormorant Garamond Bold"/>
                <a:cs typeface="Cormorant Garamond Bold"/>
                <a:sym typeface="Cormorant Garamond Bold"/>
              </a:rPr>
              <a:t>Media &amp; Productivity</a:t>
            </a:r>
          </a:p>
          <a:p>
            <a:pPr algn="l">
              <a:lnSpc>
                <a:spcPts val="8959"/>
              </a:lnSpc>
              <a:spcBef>
                <a:spcPct val="0"/>
              </a:spcBef>
            </a:pPr>
          </a:p>
        </p:txBody>
      </p:sp>
      <p:grpSp>
        <p:nvGrpSpPr>
          <p:cNvPr name="Group 7" id="7"/>
          <p:cNvGrpSpPr/>
          <p:nvPr/>
        </p:nvGrpSpPr>
        <p:grpSpPr>
          <a:xfrm rot="0">
            <a:off x="2088474" y="1223498"/>
            <a:ext cx="5500235" cy="3882966"/>
            <a:chOff x="0" y="0"/>
            <a:chExt cx="1448622" cy="1022674"/>
          </a:xfrm>
        </p:grpSpPr>
        <p:sp>
          <p:nvSpPr>
            <p:cNvPr name="Freeform 8" id="8"/>
            <p:cNvSpPr/>
            <p:nvPr/>
          </p:nvSpPr>
          <p:spPr>
            <a:xfrm flipH="false" flipV="false" rot="0">
              <a:off x="0" y="0"/>
              <a:ext cx="1448622" cy="1022674"/>
            </a:xfrm>
            <a:custGeom>
              <a:avLst/>
              <a:gdLst/>
              <a:ahLst/>
              <a:cxnLst/>
              <a:rect r="r" b="b" t="t" l="l"/>
              <a:pathLst>
                <a:path h="1022674" w="1448622">
                  <a:moveTo>
                    <a:pt x="71786" y="0"/>
                  </a:moveTo>
                  <a:lnTo>
                    <a:pt x="1376836" y="0"/>
                  </a:lnTo>
                  <a:cubicBezTo>
                    <a:pt x="1395875" y="0"/>
                    <a:pt x="1414134" y="7563"/>
                    <a:pt x="1427596" y="21026"/>
                  </a:cubicBezTo>
                  <a:cubicBezTo>
                    <a:pt x="1441059" y="34488"/>
                    <a:pt x="1448622" y="52747"/>
                    <a:pt x="1448622" y="71786"/>
                  </a:cubicBezTo>
                  <a:lnTo>
                    <a:pt x="1448622" y="950889"/>
                  </a:lnTo>
                  <a:cubicBezTo>
                    <a:pt x="1448622" y="990535"/>
                    <a:pt x="1416482" y="1022674"/>
                    <a:pt x="1376836" y="1022674"/>
                  </a:cubicBezTo>
                  <a:lnTo>
                    <a:pt x="71786" y="1022674"/>
                  </a:lnTo>
                  <a:cubicBezTo>
                    <a:pt x="32140" y="1022674"/>
                    <a:pt x="0" y="990535"/>
                    <a:pt x="0" y="950889"/>
                  </a:cubicBezTo>
                  <a:lnTo>
                    <a:pt x="0" y="71786"/>
                  </a:lnTo>
                  <a:cubicBezTo>
                    <a:pt x="0" y="32140"/>
                    <a:pt x="32140" y="0"/>
                    <a:pt x="71786" y="0"/>
                  </a:cubicBezTo>
                  <a:close/>
                </a:path>
              </a:pathLst>
            </a:custGeom>
            <a:solidFill>
              <a:srgbClr val="304543"/>
            </a:solidFill>
          </p:spPr>
        </p:sp>
        <p:sp>
          <p:nvSpPr>
            <p:cNvPr name="TextBox 9" id="9"/>
            <p:cNvSpPr txBox="true"/>
            <p:nvPr/>
          </p:nvSpPr>
          <p:spPr>
            <a:xfrm>
              <a:off x="0" y="-47625"/>
              <a:ext cx="1448622" cy="1070299"/>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418442" y="5398682"/>
            <a:ext cx="5785040" cy="3322401"/>
            <a:chOff x="0" y="0"/>
            <a:chExt cx="1523632" cy="875036"/>
          </a:xfrm>
        </p:grpSpPr>
        <p:sp>
          <p:nvSpPr>
            <p:cNvPr name="Freeform 11" id="11"/>
            <p:cNvSpPr/>
            <p:nvPr/>
          </p:nvSpPr>
          <p:spPr>
            <a:xfrm flipH="false" flipV="false" rot="0">
              <a:off x="0" y="0"/>
              <a:ext cx="1523632" cy="875036"/>
            </a:xfrm>
            <a:custGeom>
              <a:avLst/>
              <a:gdLst/>
              <a:ahLst/>
              <a:cxnLst/>
              <a:rect r="r" b="b" t="t" l="l"/>
              <a:pathLst>
                <a:path h="875036" w="1523632">
                  <a:moveTo>
                    <a:pt x="68252" y="0"/>
                  </a:moveTo>
                  <a:lnTo>
                    <a:pt x="1455380" y="0"/>
                  </a:lnTo>
                  <a:cubicBezTo>
                    <a:pt x="1473482" y="0"/>
                    <a:pt x="1490842" y="7191"/>
                    <a:pt x="1503641" y="19990"/>
                  </a:cubicBezTo>
                  <a:cubicBezTo>
                    <a:pt x="1516441" y="32790"/>
                    <a:pt x="1523632" y="50150"/>
                    <a:pt x="1523632" y="68252"/>
                  </a:cubicBezTo>
                  <a:lnTo>
                    <a:pt x="1523632" y="806784"/>
                  </a:lnTo>
                  <a:cubicBezTo>
                    <a:pt x="1523632" y="824886"/>
                    <a:pt x="1516441" y="842246"/>
                    <a:pt x="1503641" y="855045"/>
                  </a:cubicBezTo>
                  <a:cubicBezTo>
                    <a:pt x="1490842" y="867845"/>
                    <a:pt x="1473482" y="875036"/>
                    <a:pt x="1455380" y="875036"/>
                  </a:cubicBezTo>
                  <a:lnTo>
                    <a:pt x="68252" y="875036"/>
                  </a:lnTo>
                  <a:cubicBezTo>
                    <a:pt x="50150" y="875036"/>
                    <a:pt x="32790" y="867845"/>
                    <a:pt x="19990" y="855045"/>
                  </a:cubicBezTo>
                  <a:cubicBezTo>
                    <a:pt x="7191" y="842246"/>
                    <a:pt x="0" y="824886"/>
                    <a:pt x="0" y="806784"/>
                  </a:cubicBezTo>
                  <a:lnTo>
                    <a:pt x="0" y="68252"/>
                  </a:lnTo>
                  <a:cubicBezTo>
                    <a:pt x="0" y="50150"/>
                    <a:pt x="7191" y="32790"/>
                    <a:pt x="19990" y="19990"/>
                  </a:cubicBezTo>
                  <a:cubicBezTo>
                    <a:pt x="32790" y="7191"/>
                    <a:pt x="50150" y="0"/>
                    <a:pt x="68252" y="0"/>
                  </a:cubicBezTo>
                  <a:close/>
                </a:path>
              </a:pathLst>
            </a:custGeom>
            <a:solidFill>
              <a:srgbClr val="304543"/>
            </a:solidFill>
            <a:ln cap="rnd">
              <a:noFill/>
              <a:prstDash val="solid"/>
              <a:round/>
            </a:ln>
          </p:spPr>
        </p:sp>
        <p:sp>
          <p:nvSpPr>
            <p:cNvPr name="TextBox 12" id="12"/>
            <p:cNvSpPr txBox="true"/>
            <p:nvPr/>
          </p:nvSpPr>
          <p:spPr>
            <a:xfrm>
              <a:off x="0" y="-47625"/>
              <a:ext cx="1523632" cy="922661"/>
            </a:xfrm>
            <a:prstGeom prst="rect">
              <a:avLst/>
            </a:prstGeom>
          </p:spPr>
          <p:txBody>
            <a:bodyPr anchor="ctr" rtlCol="false" tIns="50800" lIns="50800" bIns="50800" rIns="50800"/>
            <a:lstStyle/>
            <a:p>
              <a:pPr algn="ctr">
                <a:lnSpc>
                  <a:spcPts val="2939"/>
                </a:lnSpc>
              </a:pPr>
            </a:p>
          </p:txBody>
        </p:sp>
      </p:grpSp>
      <p:grpSp>
        <p:nvGrpSpPr>
          <p:cNvPr name="Group 13" id="13"/>
          <p:cNvGrpSpPr/>
          <p:nvPr/>
        </p:nvGrpSpPr>
        <p:grpSpPr>
          <a:xfrm rot="0">
            <a:off x="8223929" y="208654"/>
            <a:ext cx="7869952" cy="4587240"/>
            <a:chOff x="0" y="0"/>
            <a:chExt cx="2072744" cy="1208162"/>
          </a:xfrm>
        </p:grpSpPr>
        <p:sp>
          <p:nvSpPr>
            <p:cNvPr name="Freeform 14" id="14"/>
            <p:cNvSpPr/>
            <p:nvPr/>
          </p:nvSpPr>
          <p:spPr>
            <a:xfrm flipH="false" flipV="false" rot="0">
              <a:off x="0" y="0"/>
              <a:ext cx="2072744" cy="1208162"/>
            </a:xfrm>
            <a:custGeom>
              <a:avLst/>
              <a:gdLst/>
              <a:ahLst/>
              <a:cxnLst/>
              <a:rect r="r" b="b" t="t" l="l"/>
              <a:pathLst>
                <a:path h="1208162" w="2072744">
                  <a:moveTo>
                    <a:pt x="50170" y="0"/>
                  </a:moveTo>
                  <a:lnTo>
                    <a:pt x="2022574" y="0"/>
                  </a:lnTo>
                  <a:cubicBezTo>
                    <a:pt x="2035880" y="0"/>
                    <a:pt x="2048641" y="5286"/>
                    <a:pt x="2058050" y="14695"/>
                  </a:cubicBezTo>
                  <a:cubicBezTo>
                    <a:pt x="2067459" y="24103"/>
                    <a:pt x="2072744" y="36864"/>
                    <a:pt x="2072744" y="50170"/>
                  </a:cubicBezTo>
                  <a:lnTo>
                    <a:pt x="2072744" y="1157992"/>
                  </a:lnTo>
                  <a:cubicBezTo>
                    <a:pt x="2072744" y="1171298"/>
                    <a:pt x="2067459" y="1184059"/>
                    <a:pt x="2058050" y="1193467"/>
                  </a:cubicBezTo>
                  <a:cubicBezTo>
                    <a:pt x="2048641" y="1202876"/>
                    <a:pt x="2035880" y="1208162"/>
                    <a:pt x="2022574" y="1208162"/>
                  </a:cubicBezTo>
                  <a:lnTo>
                    <a:pt x="50170" y="1208162"/>
                  </a:lnTo>
                  <a:cubicBezTo>
                    <a:pt x="36864" y="1208162"/>
                    <a:pt x="24103" y="1202876"/>
                    <a:pt x="14695" y="1193467"/>
                  </a:cubicBezTo>
                  <a:cubicBezTo>
                    <a:pt x="5286" y="1184059"/>
                    <a:pt x="0" y="1171298"/>
                    <a:pt x="0" y="1157992"/>
                  </a:cubicBezTo>
                  <a:lnTo>
                    <a:pt x="0" y="50170"/>
                  </a:lnTo>
                  <a:cubicBezTo>
                    <a:pt x="0" y="36864"/>
                    <a:pt x="5286" y="24103"/>
                    <a:pt x="14695" y="14695"/>
                  </a:cubicBezTo>
                  <a:cubicBezTo>
                    <a:pt x="24103" y="5286"/>
                    <a:pt x="36864" y="0"/>
                    <a:pt x="50170" y="0"/>
                  </a:cubicBezTo>
                  <a:close/>
                </a:path>
              </a:pathLst>
            </a:custGeom>
            <a:solidFill>
              <a:srgbClr val="304543"/>
            </a:solidFill>
          </p:spPr>
        </p:sp>
        <p:sp>
          <p:nvSpPr>
            <p:cNvPr name="TextBox 15" id="15"/>
            <p:cNvSpPr txBox="true"/>
            <p:nvPr/>
          </p:nvSpPr>
          <p:spPr>
            <a:xfrm>
              <a:off x="0" y="-47625"/>
              <a:ext cx="2072744" cy="1255787"/>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pic>
        <p:nvPicPr>
          <p:cNvPr name="Picture 16" id="16"/>
          <p:cNvPicPr>
            <a:picLocks noChangeAspect="true"/>
          </p:cNvPicPr>
          <p:nvPr/>
        </p:nvPicPr>
        <p:blipFill>
          <a:blip r:embed="rId3"/>
          <a:stretch>
            <a:fillRect/>
          </a:stretch>
        </p:blipFill>
        <p:spPr>
          <a:xfrm rot="-2117933">
            <a:off x="-419175" y="2581441"/>
            <a:ext cx="3202441" cy="2493192"/>
          </a:xfrm>
          <a:prstGeom prst="rect">
            <a:avLst/>
          </a:prstGeom>
        </p:spPr>
      </p:pic>
      <p:pic>
        <p:nvPicPr>
          <p:cNvPr name="Picture 17" id="17"/>
          <p:cNvPicPr>
            <a:picLocks noChangeAspect="true"/>
          </p:cNvPicPr>
          <p:nvPr/>
        </p:nvPicPr>
        <p:blipFill>
          <a:blip r:embed="rId4"/>
          <a:stretch>
            <a:fillRect/>
          </a:stretch>
        </p:blipFill>
        <p:spPr>
          <a:xfrm rot="5153243">
            <a:off x="15560185" y="2365350"/>
            <a:ext cx="3360130" cy="2615957"/>
          </a:xfrm>
          <a:prstGeom prst="rect">
            <a:avLst/>
          </a:prstGeom>
        </p:spPr>
      </p:pic>
      <p:graphicFrame>
        <p:nvGraphicFramePr>
          <p:cNvPr name="Object 18" id="18"/>
          <p:cNvGraphicFramePr/>
          <p:nvPr/>
        </p:nvGraphicFramePr>
        <p:xfrm>
          <a:off x="418442" y="5453770"/>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15</a:t>
            </a:r>
          </a:p>
        </p:txBody>
      </p:sp>
      <p:sp>
        <p:nvSpPr>
          <p:cNvPr name="TextBox 20" id="20"/>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1" id="21"/>
          <p:cNvSpPr txBox="true"/>
          <p:nvPr/>
        </p:nvSpPr>
        <p:spPr>
          <a:xfrm rot="0">
            <a:off x="2532400" y="1600513"/>
            <a:ext cx="4263967" cy="3360020"/>
          </a:xfrm>
          <a:prstGeom prst="rect">
            <a:avLst/>
          </a:prstGeom>
        </p:spPr>
        <p:txBody>
          <a:bodyPr anchor="t" rtlCol="false" tIns="0" lIns="0" bIns="0" rIns="0">
            <a:spAutoFit/>
          </a:bodyPr>
          <a:lstStyle/>
          <a:p>
            <a:pPr algn="l">
              <a:lnSpc>
                <a:spcPts val="1702"/>
              </a:lnSpc>
              <a:spcBef>
                <a:spcPct val="0"/>
              </a:spcBef>
            </a:pPr>
          </a:p>
          <a:p>
            <a:pPr algn="l">
              <a:lnSpc>
                <a:spcPts val="1702"/>
              </a:lnSpc>
              <a:spcBef>
                <a:spcPct val="0"/>
              </a:spcBef>
            </a:pPr>
          </a:p>
          <a:p>
            <a:pPr algn="l">
              <a:lnSpc>
                <a:spcPts val="1702"/>
              </a:lnSpc>
              <a:spcBef>
                <a:spcPct val="0"/>
              </a:spcBef>
            </a:pPr>
            <a:r>
              <a:rPr lang="en-US" sz="1215">
                <a:solidFill>
                  <a:srgbClr val="0CC0DF"/>
                </a:solidFill>
                <a:latin typeface="Roboto"/>
                <a:ea typeface="Roboto"/>
                <a:cs typeface="Roboto"/>
                <a:sym typeface="Roboto"/>
              </a:rPr>
              <a:t>SELECT </a:t>
            </a:r>
          </a:p>
          <a:p>
            <a:pPr algn="l">
              <a:lnSpc>
                <a:spcPts val="1702"/>
              </a:lnSpc>
              <a:spcBef>
                <a:spcPct val="0"/>
              </a:spcBef>
            </a:pPr>
            <a:r>
              <a:rPr lang="en-US" sz="1215">
                <a:solidFill>
                  <a:srgbClr val="0CC0DF"/>
                </a:solidFill>
                <a:latin typeface="Roboto"/>
                <a:ea typeface="Roboto"/>
                <a:cs typeface="Roboto"/>
                <a:sym typeface="Roboto"/>
              </a:rPr>
              <a:t>    CASE</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4 </a:t>
            </a:r>
            <a:r>
              <a:rPr lang="en-US" sz="1215">
                <a:solidFill>
                  <a:srgbClr val="0CC0DF"/>
                </a:solidFill>
                <a:latin typeface="Roboto"/>
                <a:ea typeface="Roboto"/>
                <a:cs typeface="Roboto"/>
                <a:sym typeface="Roboto"/>
              </a:rPr>
              <a:t>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'Low'</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5.5 </a:t>
            </a:r>
            <a:r>
              <a:rPr lang="en-US" sz="1215">
                <a:solidFill>
                  <a:srgbClr val="0CC0DF"/>
                </a:solidFill>
                <a:latin typeface="Roboto"/>
                <a:ea typeface="Roboto"/>
                <a:cs typeface="Roboto"/>
                <a:sym typeface="Roboto"/>
              </a:rPr>
              <a:t>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Medium'</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6.5 </a:t>
            </a:r>
            <a:r>
              <a:rPr lang="en-US" sz="1215">
                <a:solidFill>
                  <a:srgbClr val="0CC0DF"/>
                </a:solidFill>
                <a:latin typeface="Roboto"/>
                <a:ea typeface="Roboto"/>
                <a:cs typeface="Roboto"/>
                <a:sym typeface="Roboto"/>
              </a:rPr>
              <a:t>THEN </a:t>
            </a:r>
            <a:r>
              <a:rPr lang="en-US" sz="1215">
                <a:solidFill>
                  <a:srgbClr val="FFFFFF"/>
                </a:solidFill>
                <a:latin typeface="Roboto"/>
                <a:ea typeface="Roboto"/>
                <a:cs typeface="Roboto"/>
                <a:sym typeface="Roboto"/>
              </a:rPr>
              <a:t>'</a:t>
            </a:r>
            <a:r>
              <a:rPr lang="en-US" sz="1215">
                <a:solidFill>
                  <a:srgbClr val="B34057"/>
                </a:solidFill>
                <a:latin typeface="Roboto"/>
                <a:ea typeface="Roboto"/>
                <a:cs typeface="Roboto"/>
                <a:sym typeface="Roboto"/>
              </a:rPr>
              <a:t>High'</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ELSE</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Very High' </a:t>
            </a: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END AS</a:t>
            </a:r>
            <a:r>
              <a:rPr lang="en-US" sz="1215">
                <a:solidFill>
                  <a:srgbClr val="FFFFFF"/>
                </a:solidFill>
                <a:latin typeface="Roboto"/>
                <a:ea typeface="Roboto"/>
                <a:cs typeface="Roboto"/>
                <a:sym typeface="Roboto"/>
              </a:rPr>
              <a:t> usage_level,</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FF66C4"/>
                </a:solidFill>
                <a:latin typeface="Roboto"/>
                <a:ea typeface="Roboto"/>
                <a:cs typeface="Roboto"/>
                <a:sym typeface="Roboto"/>
              </a:rPr>
              <a:t>   ROUND</a:t>
            </a:r>
            <a:r>
              <a:rPr lang="en-US" sz="1215">
                <a:solidFill>
                  <a:srgbClr val="FFFFFF"/>
                </a:solidFill>
                <a:latin typeface="Roboto"/>
                <a:ea typeface="Roboto"/>
                <a:cs typeface="Roboto"/>
                <a:sym typeface="Roboto"/>
              </a:rPr>
              <a:t>(</a:t>
            </a:r>
            <a:r>
              <a:rPr lang="en-US" sz="1215">
                <a:solidFill>
                  <a:srgbClr val="FF66C4"/>
                </a:solidFill>
                <a:latin typeface="Roboto"/>
                <a:ea typeface="Roboto"/>
                <a:cs typeface="Roboto"/>
                <a:sym typeface="Roboto"/>
              </a:rPr>
              <a:t>AVG</a:t>
            </a:r>
            <a:r>
              <a:rPr lang="en-US" sz="1215">
                <a:solidFill>
                  <a:srgbClr val="FFFFFF"/>
                </a:solidFill>
                <a:latin typeface="Roboto"/>
                <a:ea typeface="Roboto"/>
                <a:cs typeface="Roboto"/>
                <a:sym typeface="Roboto"/>
              </a:rPr>
              <a:t>(deep_work_duration_minutes), 2) </a:t>
            </a:r>
            <a:r>
              <a:rPr lang="en-US" sz="1215">
                <a:solidFill>
                  <a:srgbClr val="0CC0DF"/>
                </a:solidFill>
                <a:latin typeface="Roboto"/>
                <a:ea typeface="Roboto"/>
                <a:cs typeface="Roboto"/>
                <a:sym typeface="Roboto"/>
              </a:rPr>
              <a:t>AS</a:t>
            </a:r>
            <a:r>
              <a:rPr lang="en-US" sz="1215">
                <a:solidFill>
                  <a:srgbClr val="FFFFFF"/>
                </a:solidFill>
                <a:latin typeface="Roboto"/>
                <a:ea typeface="Roboto"/>
                <a:cs typeface="Roboto"/>
                <a:sym typeface="Roboto"/>
              </a:rPr>
              <a:t> avg_deep_work</a:t>
            </a:r>
          </a:p>
          <a:p>
            <a:pPr algn="l">
              <a:lnSpc>
                <a:spcPts val="1702"/>
              </a:lnSpc>
              <a:spcBef>
                <a:spcPct val="0"/>
              </a:spcBef>
            </a:pPr>
            <a:r>
              <a:rPr lang="en-US" sz="1215">
                <a:solidFill>
                  <a:srgbClr val="0CC0DF"/>
                </a:solidFill>
                <a:latin typeface="Roboto"/>
                <a:ea typeface="Roboto"/>
                <a:cs typeface="Roboto"/>
                <a:sym typeface="Roboto"/>
              </a:rPr>
              <a:t>FROM</a:t>
            </a:r>
            <a:r>
              <a:rPr lang="en-US" sz="1215">
                <a:solidFill>
                  <a:srgbClr val="FFFFFF"/>
                </a:solidFill>
                <a:latin typeface="Roboto"/>
                <a:ea typeface="Roboto"/>
                <a:cs typeface="Roboto"/>
                <a:sym typeface="Roboto"/>
              </a:rPr>
              <a:t> Fact_User_Metrics</a:t>
            </a:r>
            <a:r>
              <a:rPr lang="en-US" sz="1215">
                <a:solidFill>
                  <a:srgbClr val="0CC0DF"/>
                </a:solidFill>
                <a:latin typeface="Roboto"/>
                <a:ea typeface="Roboto"/>
                <a:cs typeface="Roboto"/>
                <a:sym typeface="Roboto"/>
              </a:rPr>
              <a:t> GROUP BY    CASE</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4</a:t>
            </a:r>
            <a:r>
              <a:rPr lang="en-US" sz="1215">
                <a:solidFill>
                  <a:srgbClr val="0CC0DF"/>
                </a:solidFill>
                <a:latin typeface="Roboto"/>
                <a:ea typeface="Roboto"/>
                <a:cs typeface="Roboto"/>
                <a:sym typeface="Roboto"/>
              </a:rPr>
              <a:t> THEN</a:t>
            </a:r>
            <a:r>
              <a:rPr lang="en-US" sz="1215">
                <a:solidFill>
                  <a:srgbClr val="B34057"/>
                </a:solidFill>
                <a:latin typeface="Roboto"/>
                <a:ea typeface="Roboto"/>
                <a:cs typeface="Roboto"/>
                <a:sym typeface="Roboto"/>
              </a:rPr>
              <a:t> 'Low'</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WHEN</a:t>
            </a:r>
            <a:r>
              <a:rPr lang="en-US" sz="1215">
                <a:solidFill>
                  <a:srgbClr val="FFFFFF"/>
                </a:solidFill>
                <a:latin typeface="Roboto"/>
                <a:ea typeface="Roboto"/>
                <a:cs typeface="Roboto"/>
                <a:sym typeface="Roboto"/>
              </a:rPr>
              <a:t> avg_daily_sm_hours &lt; 5.5</a:t>
            </a:r>
            <a:r>
              <a:rPr lang="en-US" sz="1215">
                <a:solidFill>
                  <a:srgbClr val="0CC0DF"/>
                </a:solidFill>
                <a:latin typeface="Roboto"/>
                <a:ea typeface="Roboto"/>
                <a:cs typeface="Roboto"/>
                <a:sym typeface="Roboto"/>
              </a:rPr>
              <a:t> 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Medium'</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6.5</a:t>
            </a:r>
            <a:r>
              <a:rPr lang="en-US" sz="1215">
                <a:solidFill>
                  <a:srgbClr val="0CC0DF"/>
                </a:solidFill>
                <a:latin typeface="Roboto"/>
                <a:ea typeface="Roboto"/>
                <a:cs typeface="Roboto"/>
                <a:sym typeface="Roboto"/>
              </a:rPr>
              <a:t> THEN </a:t>
            </a:r>
            <a:r>
              <a:rPr lang="en-US" sz="1215">
                <a:solidFill>
                  <a:srgbClr val="FFFFFF"/>
                </a:solidFill>
                <a:latin typeface="Roboto"/>
                <a:ea typeface="Roboto"/>
                <a:cs typeface="Roboto"/>
                <a:sym typeface="Roboto"/>
              </a:rPr>
              <a:t>'</a:t>
            </a:r>
            <a:r>
              <a:rPr lang="en-US" sz="1215">
                <a:solidFill>
                  <a:srgbClr val="B34057"/>
                </a:solidFill>
                <a:latin typeface="Roboto"/>
                <a:ea typeface="Roboto"/>
                <a:cs typeface="Roboto"/>
                <a:sym typeface="Roboto"/>
              </a:rPr>
              <a:t>High'</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ELSE</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Very High</a:t>
            </a:r>
            <a:r>
              <a:rPr lang="en-US" sz="1215">
                <a:solidFill>
                  <a:srgbClr val="FFFFFF"/>
                </a:solidFill>
                <a:latin typeface="Roboto"/>
                <a:ea typeface="Roboto"/>
                <a:cs typeface="Roboto"/>
                <a:sym typeface="Roboto"/>
              </a:rPr>
              <a:t>'</a:t>
            </a:r>
            <a:r>
              <a:rPr lang="en-US" sz="1215">
                <a:solidFill>
                  <a:srgbClr val="0CC0DF"/>
                </a:solidFill>
                <a:latin typeface="Roboto"/>
                <a:ea typeface="Roboto"/>
                <a:cs typeface="Roboto"/>
                <a:sym typeface="Roboto"/>
              </a:rPr>
              <a:t>  END</a:t>
            </a:r>
          </a:p>
          <a:p>
            <a:pPr algn="l">
              <a:lnSpc>
                <a:spcPts val="1702"/>
              </a:lnSpc>
              <a:spcBef>
                <a:spcPct val="0"/>
              </a:spcBef>
            </a:pPr>
            <a:r>
              <a:rPr lang="en-US" sz="1215">
                <a:solidFill>
                  <a:srgbClr val="0CC0DF"/>
                </a:solidFill>
                <a:latin typeface="Roboto"/>
                <a:ea typeface="Roboto"/>
                <a:cs typeface="Roboto"/>
                <a:sym typeface="Roboto"/>
              </a:rPr>
              <a:t>ORDER BY</a:t>
            </a:r>
            <a:r>
              <a:rPr lang="en-US" sz="1215">
                <a:solidFill>
                  <a:srgbClr val="FFFFFF"/>
                </a:solidFill>
                <a:latin typeface="Roboto"/>
                <a:ea typeface="Roboto"/>
                <a:cs typeface="Roboto"/>
                <a:sym typeface="Roboto"/>
              </a:rPr>
              <a:t> avg_deep_work </a:t>
            </a:r>
            <a:r>
              <a:rPr lang="en-US" sz="1215">
                <a:solidFill>
                  <a:srgbClr val="0CC0DF"/>
                </a:solidFill>
                <a:latin typeface="Roboto"/>
                <a:ea typeface="Roboto"/>
                <a:cs typeface="Roboto"/>
                <a:sym typeface="Roboto"/>
              </a:rPr>
              <a:t>DESC;</a:t>
            </a:r>
          </a:p>
        </p:txBody>
      </p:sp>
      <p:grpSp>
        <p:nvGrpSpPr>
          <p:cNvPr name="Group 22" id="22"/>
          <p:cNvGrpSpPr/>
          <p:nvPr/>
        </p:nvGrpSpPr>
        <p:grpSpPr>
          <a:xfrm rot="0">
            <a:off x="11998835" y="5143500"/>
            <a:ext cx="5785040" cy="3322401"/>
            <a:chOff x="0" y="0"/>
            <a:chExt cx="1523632" cy="875036"/>
          </a:xfrm>
        </p:grpSpPr>
        <p:sp>
          <p:nvSpPr>
            <p:cNvPr name="Freeform 23" id="23"/>
            <p:cNvSpPr/>
            <p:nvPr/>
          </p:nvSpPr>
          <p:spPr>
            <a:xfrm flipH="false" flipV="false" rot="0">
              <a:off x="0" y="0"/>
              <a:ext cx="1523632" cy="875036"/>
            </a:xfrm>
            <a:custGeom>
              <a:avLst/>
              <a:gdLst/>
              <a:ahLst/>
              <a:cxnLst/>
              <a:rect r="r" b="b" t="t" l="l"/>
              <a:pathLst>
                <a:path h="875036" w="1523632">
                  <a:moveTo>
                    <a:pt x="68252" y="0"/>
                  </a:moveTo>
                  <a:lnTo>
                    <a:pt x="1455380" y="0"/>
                  </a:lnTo>
                  <a:cubicBezTo>
                    <a:pt x="1473482" y="0"/>
                    <a:pt x="1490842" y="7191"/>
                    <a:pt x="1503641" y="19990"/>
                  </a:cubicBezTo>
                  <a:cubicBezTo>
                    <a:pt x="1516441" y="32790"/>
                    <a:pt x="1523632" y="50150"/>
                    <a:pt x="1523632" y="68252"/>
                  </a:cubicBezTo>
                  <a:lnTo>
                    <a:pt x="1523632" y="806784"/>
                  </a:lnTo>
                  <a:cubicBezTo>
                    <a:pt x="1523632" y="824886"/>
                    <a:pt x="1516441" y="842246"/>
                    <a:pt x="1503641" y="855045"/>
                  </a:cubicBezTo>
                  <a:cubicBezTo>
                    <a:pt x="1490842" y="867845"/>
                    <a:pt x="1473482" y="875036"/>
                    <a:pt x="1455380" y="875036"/>
                  </a:cubicBezTo>
                  <a:lnTo>
                    <a:pt x="68252" y="875036"/>
                  </a:lnTo>
                  <a:cubicBezTo>
                    <a:pt x="50150" y="875036"/>
                    <a:pt x="32790" y="867845"/>
                    <a:pt x="19990" y="855045"/>
                  </a:cubicBezTo>
                  <a:cubicBezTo>
                    <a:pt x="7191" y="842246"/>
                    <a:pt x="0" y="824886"/>
                    <a:pt x="0" y="806784"/>
                  </a:cubicBezTo>
                  <a:lnTo>
                    <a:pt x="0" y="68252"/>
                  </a:lnTo>
                  <a:cubicBezTo>
                    <a:pt x="0" y="50150"/>
                    <a:pt x="7191" y="32790"/>
                    <a:pt x="19990" y="19990"/>
                  </a:cubicBezTo>
                  <a:cubicBezTo>
                    <a:pt x="32790" y="7191"/>
                    <a:pt x="50150" y="0"/>
                    <a:pt x="68252" y="0"/>
                  </a:cubicBezTo>
                  <a:close/>
                </a:path>
              </a:pathLst>
            </a:custGeom>
            <a:solidFill>
              <a:srgbClr val="304543"/>
            </a:solidFill>
            <a:ln cap="rnd">
              <a:noFill/>
              <a:prstDash val="solid"/>
              <a:round/>
            </a:ln>
          </p:spPr>
        </p:sp>
        <p:sp>
          <p:nvSpPr>
            <p:cNvPr name="TextBox 24" id="24"/>
            <p:cNvSpPr txBox="true"/>
            <p:nvPr/>
          </p:nvSpPr>
          <p:spPr>
            <a:xfrm>
              <a:off x="0" y="-47625"/>
              <a:ext cx="1523632" cy="922661"/>
            </a:xfrm>
            <a:prstGeom prst="rect">
              <a:avLst/>
            </a:prstGeom>
          </p:spPr>
          <p:txBody>
            <a:bodyPr anchor="ctr" rtlCol="false" tIns="50800" lIns="50800" bIns="50800" rIns="50800"/>
            <a:lstStyle/>
            <a:p>
              <a:pPr algn="ctr">
                <a:lnSpc>
                  <a:spcPts val="2939"/>
                </a:lnSpc>
              </a:pPr>
            </a:p>
          </p:txBody>
        </p:sp>
      </p:grpSp>
      <p:graphicFrame>
        <p:nvGraphicFramePr>
          <p:cNvPr name="Object 25" id="25"/>
          <p:cNvGraphicFramePr/>
          <p:nvPr/>
        </p:nvGraphicFramePr>
        <p:xfrm>
          <a:off x="12230300" y="5233076"/>
          <a:ext cx="3771900" cy="3143250"/>
        </p:xfrm>
        <a:graphic>
          <a:graphicData uri="http://schemas.openxmlformats.org/presentationml/2006/ole">
            <p:oleObj imgW="4521200" imgH="3886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26" id="26"/>
          <p:cNvSpPr txBox="true"/>
          <p:nvPr/>
        </p:nvSpPr>
        <p:spPr>
          <a:xfrm rot="0">
            <a:off x="8843497" y="1348706"/>
            <a:ext cx="6126027" cy="30454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r>
              <a:rPr lang="en-US" sz="1599">
                <a:solidFill>
                  <a:srgbClr val="0CC0DF"/>
                </a:solidFill>
                <a:latin typeface="Roboto"/>
                <a:ea typeface="Roboto"/>
                <a:cs typeface="Roboto"/>
                <a:sym typeface="Roboto"/>
              </a:rPr>
              <a:t>C</a:t>
            </a:r>
            <a:r>
              <a:rPr lang="en-US" sz="1599">
                <a:solidFill>
                  <a:srgbClr val="0CC0DF"/>
                </a:solidFill>
                <a:latin typeface="Roboto"/>
                <a:ea typeface="Roboto"/>
                <a:cs typeface="Roboto"/>
                <a:sym typeface="Roboto"/>
              </a:rPr>
              <a:t>ASE   WHEN </a:t>
            </a:r>
            <a:r>
              <a:rPr lang="en-US" sz="1599">
                <a:solidFill>
                  <a:srgbClr val="F5F5EF"/>
                </a:solidFill>
                <a:latin typeface="Roboto"/>
                <a:ea typeface="Roboto"/>
                <a:cs typeface="Roboto"/>
                <a:sym typeface="Roboto"/>
              </a:rPr>
              <a:t>avg_daily_sm_hours &lt; 4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5.5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6.5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'High'</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'Very High'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END AS</a:t>
            </a:r>
            <a:r>
              <a:rPr lang="en-US" sz="1599">
                <a:solidFill>
                  <a:srgbClr val="F5F5EF"/>
                </a:solidFill>
                <a:latin typeface="Roboto"/>
                <a:ea typeface="Roboto"/>
                <a:cs typeface="Roboto"/>
                <a:sym typeface="Roboto"/>
              </a:rPr>
              <a:t> usage_level,</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(attention_span_minutes), 2)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avg_attention_span</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Fact_User_Metrics</a:t>
            </a:r>
          </a:p>
          <a:p>
            <a:pPr algn="l">
              <a:lnSpc>
                <a:spcPts val="2239"/>
              </a:lnSpc>
            </a:pPr>
            <a:r>
              <a:rPr lang="en-US" sz="1599">
                <a:solidFill>
                  <a:srgbClr val="0CC0DF"/>
                </a:solidFill>
                <a:latin typeface="Roboto"/>
                <a:ea typeface="Roboto"/>
                <a:cs typeface="Roboto"/>
                <a:sym typeface="Roboto"/>
              </a:rPr>
              <a:t>GROUP BY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CASE  WHEN</a:t>
            </a:r>
            <a:r>
              <a:rPr lang="en-US" sz="1599">
                <a:solidFill>
                  <a:srgbClr val="F5F5EF"/>
                </a:solidFill>
                <a:latin typeface="Roboto"/>
                <a:ea typeface="Roboto"/>
                <a:cs typeface="Roboto"/>
                <a:sym typeface="Roboto"/>
              </a:rPr>
              <a:t> avg_daily_sm_hours &lt; 4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5.5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WHEN</a:t>
            </a:r>
            <a:r>
              <a:rPr lang="en-US" sz="1599">
                <a:solidFill>
                  <a:srgbClr val="F5F5EF"/>
                </a:solidFill>
                <a:latin typeface="Roboto"/>
                <a:ea typeface="Roboto"/>
                <a:cs typeface="Roboto"/>
                <a:sym typeface="Roboto"/>
              </a:rPr>
              <a:t> avg_daily_sm_hours &lt; 6.5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'High'</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a:t>
            </a:r>
            <a:r>
              <a:rPr lang="en-US" sz="1599">
                <a:solidFill>
                  <a:srgbClr val="F5F5EF"/>
                </a:solidFill>
                <a:latin typeface="Roboto"/>
                <a:ea typeface="Roboto"/>
                <a:cs typeface="Roboto"/>
                <a:sym typeface="Roboto"/>
              </a:rPr>
              <a:t> </a:t>
            </a:r>
            <a:r>
              <a:rPr lang="en-US" sz="1599">
                <a:solidFill>
                  <a:srgbClr val="B34057"/>
                </a:solidFill>
                <a:latin typeface="Roboto"/>
                <a:ea typeface="Roboto"/>
                <a:cs typeface="Roboto"/>
                <a:sym typeface="Roboto"/>
              </a:rPr>
              <a:t>'Very High'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pPr>
            <a:r>
              <a:rPr lang="en-US" sz="1599">
                <a:solidFill>
                  <a:srgbClr val="0CC0DF"/>
                </a:solidFill>
                <a:latin typeface="Roboto"/>
                <a:ea typeface="Roboto"/>
                <a:cs typeface="Roboto"/>
                <a:sym typeface="Roboto"/>
              </a:rPr>
              <a:t>ORDER BY </a:t>
            </a:r>
            <a:r>
              <a:rPr lang="en-US" sz="1599">
                <a:solidFill>
                  <a:srgbClr val="F5F5EF"/>
                </a:solidFill>
                <a:latin typeface="Roboto"/>
                <a:ea typeface="Roboto"/>
                <a:cs typeface="Roboto"/>
                <a:sym typeface="Roboto"/>
              </a:rPr>
              <a:t>avg_attention_span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7" id="27"/>
          <p:cNvSpPr txBox="true"/>
          <p:nvPr/>
        </p:nvSpPr>
        <p:spPr>
          <a:xfrm rot="0">
            <a:off x="8531492" y="469510"/>
            <a:ext cx="6934686" cy="753988"/>
          </a:xfrm>
          <a:prstGeom prst="rect">
            <a:avLst/>
          </a:prstGeom>
        </p:spPr>
        <p:txBody>
          <a:bodyPr anchor="t" rtlCol="false" tIns="0" lIns="0" bIns="0" rIns="0">
            <a:spAutoFit/>
          </a:bodyPr>
          <a:lstStyle/>
          <a:p>
            <a:pPr algn="ctr">
              <a:lnSpc>
                <a:spcPts val="3066"/>
              </a:lnSpc>
              <a:spcBef>
                <a:spcPct val="0"/>
              </a:spcBef>
            </a:pPr>
            <a:r>
              <a:rPr lang="en-US" sz="2190">
                <a:solidFill>
                  <a:srgbClr val="C1DFC1"/>
                </a:solidFill>
                <a:latin typeface="Guild A Display"/>
                <a:ea typeface="Guild A Display"/>
                <a:cs typeface="Guild A Display"/>
                <a:sym typeface="Guild A Display"/>
              </a:rPr>
              <a:t> How does attention span</a:t>
            </a:r>
            <a:r>
              <a:rPr lang="en-US" sz="2190">
                <a:solidFill>
                  <a:srgbClr val="C1DFC1"/>
                </a:solidFill>
                <a:latin typeface="Guild A Display"/>
                <a:ea typeface="Guild A Display"/>
                <a:cs typeface="Guild A Display"/>
                <a:sym typeface="Guild A Display"/>
              </a:rPr>
              <a:t> vary across different social media usage levels?</a:t>
            </a:r>
          </a:p>
        </p:txBody>
      </p:sp>
      <p:sp>
        <p:nvSpPr>
          <p:cNvPr name="TextBox 28" id="28"/>
          <p:cNvSpPr txBox="true"/>
          <p:nvPr/>
        </p:nvSpPr>
        <p:spPr>
          <a:xfrm rot="0">
            <a:off x="2161356" y="1348706"/>
            <a:ext cx="5354472" cy="737235"/>
          </a:xfrm>
          <a:prstGeom prst="rect">
            <a:avLst/>
          </a:prstGeom>
        </p:spPr>
        <p:txBody>
          <a:bodyPr anchor="t" rtlCol="false" tIns="0" lIns="0" bIns="0" rIns="0">
            <a:spAutoFit/>
          </a:bodyPr>
          <a:lstStyle/>
          <a:p>
            <a:pPr algn="ctr">
              <a:lnSpc>
                <a:spcPts val="2939"/>
              </a:lnSpc>
              <a:spcBef>
                <a:spcPct val="0"/>
              </a:spcBef>
            </a:pPr>
            <a:r>
              <a:rPr lang="en-US" sz="2099">
                <a:solidFill>
                  <a:srgbClr val="C1DFC1"/>
                </a:solidFill>
                <a:latin typeface="Guild A Display"/>
                <a:ea typeface="Guild A Display"/>
                <a:cs typeface="Guild A Display"/>
                <a:sym typeface="Guild A Display"/>
              </a:rPr>
              <a:t>6 Does deep-work duration decrease as social media usage increases?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468" t="0" r="468" b="0"/>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739834">
            <a:off x="7172576" y="-2748732"/>
            <a:ext cx="10143482" cy="16288113"/>
          </a:xfrm>
          <a:custGeom>
            <a:avLst/>
            <a:gdLst/>
            <a:ahLst/>
            <a:cxnLst/>
            <a:rect r="r" b="b" t="t" l="l"/>
            <a:pathLst>
              <a:path h="16288113" w="10143482">
                <a:moveTo>
                  <a:pt x="0" y="0"/>
                </a:moveTo>
                <a:lnTo>
                  <a:pt x="10143482" y="0"/>
                </a:lnTo>
                <a:lnTo>
                  <a:pt x="10143482" y="16288113"/>
                </a:lnTo>
                <a:lnTo>
                  <a:pt x="0" y="16288113"/>
                </a:lnTo>
                <a:lnTo>
                  <a:pt x="0" y="0"/>
                </a:lnTo>
                <a:close/>
              </a:path>
            </a:pathLst>
          </a:custGeom>
          <a:blipFill>
            <a:blip r:embed="rId2"/>
            <a:stretch>
              <a:fillRect l="-26366" t="-8982" r="0" b="-8982"/>
            </a:stretch>
          </a:blipFill>
        </p:spPr>
      </p:sp>
      <p:sp>
        <p:nvSpPr>
          <p:cNvPr name="Freeform 3" id="3"/>
          <p:cNvSpPr/>
          <p:nvPr/>
        </p:nvSpPr>
        <p:spPr>
          <a:xfrm flipH="false" flipV="false" rot="0">
            <a:off x="0" y="-136624"/>
            <a:ext cx="11895710" cy="10560247"/>
          </a:xfrm>
          <a:custGeom>
            <a:avLst/>
            <a:gdLst/>
            <a:ahLst/>
            <a:cxnLst/>
            <a:rect r="r" b="b" t="t" l="l"/>
            <a:pathLst>
              <a:path h="10560247" w="11895710">
                <a:moveTo>
                  <a:pt x="0" y="0"/>
                </a:moveTo>
                <a:lnTo>
                  <a:pt x="11895710" y="0"/>
                </a:lnTo>
                <a:lnTo>
                  <a:pt x="11895710" y="10560248"/>
                </a:lnTo>
                <a:lnTo>
                  <a:pt x="0" y="10560248"/>
                </a:lnTo>
                <a:lnTo>
                  <a:pt x="0" y="0"/>
                </a:lnTo>
                <a:close/>
              </a:path>
            </a:pathLst>
          </a:custGeom>
          <a:blipFill>
            <a:blip r:embed="rId3"/>
            <a:stretch>
              <a:fillRect l="-1162" t="0" r="-4100" b="-517"/>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5947090" y="5917029"/>
            <a:ext cx="5792814" cy="3248137"/>
            <a:chOff x="0" y="0"/>
            <a:chExt cx="1525679" cy="855476"/>
          </a:xfrm>
        </p:grpSpPr>
        <p:sp>
          <p:nvSpPr>
            <p:cNvPr name="Freeform 7" id="7"/>
            <p:cNvSpPr/>
            <p:nvPr/>
          </p:nvSpPr>
          <p:spPr>
            <a:xfrm flipH="false" flipV="false" rot="0">
              <a:off x="0" y="0"/>
              <a:ext cx="1525679" cy="855476"/>
            </a:xfrm>
            <a:custGeom>
              <a:avLst/>
              <a:gdLst/>
              <a:ahLst/>
              <a:cxnLst/>
              <a:rect r="r" b="b" t="t" l="l"/>
              <a:pathLst>
                <a:path h="855476" w="1525679">
                  <a:moveTo>
                    <a:pt x="68160" y="0"/>
                  </a:moveTo>
                  <a:lnTo>
                    <a:pt x="1457519" y="0"/>
                  </a:lnTo>
                  <a:cubicBezTo>
                    <a:pt x="1475597" y="0"/>
                    <a:pt x="1492933" y="7181"/>
                    <a:pt x="1505716" y="19964"/>
                  </a:cubicBezTo>
                  <a:cubicBezTo>
                    <a:pt x="1518498" y="32746"/>
                    <a:pt x="1525679" y="50083"/>
                    <a:pt x="1525679" y="68160"/>
                  </a:cubicBezTo>
                  <a:lnTo>
                    <a:pt x="1525679" y="787317"/>
                  </a:lnTo>
                  <a:cubicBezTo>
                    <a:pt x="1525679" y="824960"/>
                    <a:pt x="1495163" y="855476"/>
                    <a:pt x="1457519" y="855476"/>
                  </a:cubicBezTo>
                  <a:lnTo>
                    <a:pt x="68160" y="855476"/>
                  </a:lnTo>
                  <a:cubicBezTo>
                    <a:pt x="50083" y="855476"/>
                    <a:pt x="32746" y="848295"/>
                    <a:pt x="19964" y="835513"/>
                  </a:cubicBezTo>
                  <a:cubicBezTo>
                    <a:pt x="7181" y="822730"/>
                    <a:pt x="0" y="805394"/>
                    <a:pt x="0" y="787317"/>
                  </a:cubicBezTo>
                  <a:lnTo>
                    <a:pt x="0" y="68160"/>
                  </a:lnTo>
                  <a:cubicBezTo>
                    <a:pt x="0" y="50083"/>
                    <a:pt x="7181" y="32746"/>
                    <a:pt x="19964" y="19964"/>
                  </a:cubicBezTo>
                  <a:cubicBezTo>
                    <a:pt x="32746" y="7181"/>
                    <a:pt x="50083" y="0"/>
                    <a:pt x="68160" y="0"/>
                  </a:cubicBezTo>
                  <a:close/>
                </a:path>
              </a:pathLst>
            </a:custGeom>
            <a:solidFill>
              <a:srgbClr val="304543"/>
            </a:solidFill>
          </p:spPr>
        </p:sp>
        <p:sp>
          <p:nvSpPr>
            <p:cNvPr name="TextBox 8" id="8"/>
            <p:cNvSpPr txBox="true"/>
            <p:nvPr/>
          </p:nvSpPr>
          <p:spPr>
            <a:xfrm>
              <a:off x="0" y="-47625"/>
              <a:ext cx="1525679" cy="90310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5963215" y="784699"/>
            <a:ext cx="5744203" cy="3248137"/>
            <a:chOff x="0" y="0"/>
            <a:chExt cx="1512876" cy="855476"/>
          </a:xfrm>
        </p:grpSpPr>
        <p:sp>
          <p:nvSpPr>
            <p:cNvPr name="Freeform 10" id="10"/>
            <p:cNvSpPr/>
            <p:nvPr/>
          </p:nvSpPr>
          <p:spPr>
            <a:xfrm flipH="false" flipV="false" rot="0">
              <a:off x="0" y="0"/>
              <a:ext cx="1512876" cy="855476"/>
            </a:xfrm>
            <a:custGeom>
              <a:avLst/>
              <a:gdLst/>
              <a:ahLst/>
              <a:cxnLst/>
              <a:rect r="r" b="b" t="t" l="l"/>
              <a:pathLst>
                <a:path h="855476" w="1512876">
                  <a:moveTo>
                    <a:pt x="68737" y="0"/>
                  </a:moveTo>
                  <a:lnTo>
                    <a:pt x="1444140" y="0"/>
                  </a:lnTo>
                  <a:cubicBezTo>
                    <a:pt x="1462370" y="0"/>
                    <a:pt x="1479853" y="7242"/>
                    <a:pt x="1492744" y="20133"/>
                  </a:cubicBezTo>
                  <a:cubicBezTo>
                    <a:pt x="1505635" y="33023"/>
                    <a:pt x="1512876" y="50507"/>
                    <a:pt x="1512876" y="68737"/>
                  </a:cubicBezTo>
                  <a:lnTo>
                    <a:pt x="1512876" y="786740"/>
                  </a:lnTo>
                  <a:cubicBezTo>
                    <a:pt x="1512876" y="804970"/>
                    <a:pt x="1505635" y="822453"/>
                    <a:pt x="1492744" y="835344"/>
                  </a:cubicBezTo>
                  <a:cubicBezTo>
                    <a:pt x="1479853" y="848235"/>
                    <a:pt x="1462370" y="855476"/>
                    <a:pt x="1444140" y="855476"/>
                  </a:cubicBezTo>
                  <a:lnTo>
                    <a:pt x="68737" y="855476"/>
                  </a:lnTo>
                  <a:cubicBezTo>
                    <a:pt x="50507" y="855476"/>
                    <a:pt x="33023" y="848235"/>
                    <a:pt x="20133" y="835344"/>
                  </a:cubicBezTo>
                  <a:cubicBezTo>
                    <a:pt x="7242" y="822453"/>
                    <a:pt x="0" y="804970"/>
                    <a:pt x="0" y="786740"/>
                  </a:cubicBezTo>
                  <a:lnTo>
                    <a:pt x="0" y="68737"/>
                  </a:lnTo>
                  <a:cubicBezTo>
                    <a:pt x="0" y="50507"/>
                    <a:pt x="7242" y="33023"/>
                    <a:pt x="20133" y="20133"/>
                  </a:cubicBezTo>
                  <a:cubicBezTo>
                    <a:pt x="33023" y="7242"/>
                    <a:pt x="50507" y="0"/>
                    <a:pt x="68737" y="0"/>
                  </a:cubicBezTo>
                  <a:close/>
                </a:path>
              </a:pathLst>
            </a:custGeom>
            <a:solidFill>
              <a:srgbClr val="304543"/>
            </a:solidFill>
          </p:spPr>
        </p:sp>
        <p:sp>
          <p:nvSpPr>
            <p:cNvPr name="TextBox 11" id="11"/>
            <p:cNvSpPr txBox="true"/>
            <p:nvPr/>
          </p:nvSpPr>
          <p:spPr>
            <a:xfrm>
              <a:off x="0" y="-47625"/>
              <a:ext cx="1512876" cy="903101"/>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6231240" y="6142130"/>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13" id="13"/>
          <p:cNvGrpSpPr/>
          <p:nvPr/>
        </p:nvGrpSpPr>
        <p:grpSpPr>
          <a:xfrm rot="0">
            <a:off x="245186" y="2043647"/>
            <a:ext cx="5493624" cy="5543781"/>
            <a:chOff x="0" y="0"/>
            <a:chExt cx="1446881" cy="1460091"/>
          </a:xfrm>
        </p:grpSpPr>
        <p:sp>
          <p:nvSpPr>
            <p:cNvPr name="Freeform 14" id="14"/>
            <p:cNvSpPr/>
            <p:nvPr/>
          </p:nvSpPr>
          <p:spPr>
            <a:xfrm flipH="false" flipV="false" rot="0">
              <a:off x="0" y="0"/>
              <a:ext cx="1446880" cy="1460091"/>
            </a:xfrm>
            <a:custGeom>
              <a:avLst/>
              <a:gdLst/>
              <a:ahLst/>
              <a:cxnLst/>
              <a:rect r="r" b="b" t="t" l="l"/>
              <a:pathLst>
                <a:path h="1460091" w="1446880">
                  <a:moveTo>
                    <a:pt x="71872" y="0"/>
                  </a:moveTo>
                  <a:lnTo>
                    <a:pt x="1375008" y="0"/>
                  </a:lnTo>
                  <a:cubicBezTo>
                    <a:pt x="1394070" y="0"/>
                    <a:pt x="1412351" y="7572"/>
                    <a:pt x="1425830" y="21051"/>
                  </a:cubicBezTo>
                  <a:cubicBezTo>
                    <a:pt x="1439308" y="34529"/>
                    <a:pt x="1446880" y="52810"/>
                    <a:pt x="1446880" y="71872"/>
                  </a:cubicBezTo>
                  <a:lnTo>
                    <a:pt x="1446880" y="1388218"/>
                  </a:lnTo>
                  <a:cubicBezTo>
                    <a:pt x="1446880" y="1407280"/>
                    <a:pt x="1439308" y="1425561"/>
                    <a:pt x="1425830" y="1439040"/>
                  </a:cubicBezTo>
                  <a:cubicBezTo>
                    <a:pt x="1412351" y="1452518"/>
                    <a:pt x="1394070" y="1460091"/>
                    <a:pt x="1375008" y="1460091"/>
                  </a:cubicBezTo>
                  <a:lnTo>
                    <a:pt x="71872" y="1460091"/>
                  </a:lnTo>
                  <a:cubicBezTo>
                    <a:pt x="52810" y="1460091"/>
                    <a:pt x="34529" y="1452518"/>
                    <a:pt x="21051" y="1439040"/>
                  </a:cubicBezTo>
                  <a:cubicBezTo>
                    <a:pt x="7572" y="1425561"/>
                    <a:pt x="0" y="1407280"/>
                    <a:pt x="0" y="1388218"/>
                  </a:cubicBezTo>
                  <a:lnTo>
                    <a:pt x="0" y="71872"/>
                  </a:lnTo>
                  <a:cubicBezTo>
                    <a:pt x="0" y="52810"/>
                    <a:pt x="7572" y="34529"/>
                    <a:pt x="21051" y="21051"/>
                  </a:cubicBezTo>
                  <a:cubicBezTo>
                    <a:pt x="34529" y="7572"/>
                    <a:pt x="52810" y="0"/>
                    <a:pt x="71872" y="0"/>
                  </a:cubicBezTo>
                  <a:close/>
                </a:path>
              </a:pathLst>
            </a:custGeom>
            <a:solidFill>
              <a:srgbClr val="304543"/>
            </a:solidFill>
          </p:spPr>
        </p:sp>
        <p:sp>
          <p:nvSpPr>
            <p:cNvPr name="TextBox 15" id="15"/>
            <p:cNvSpPr txBox="true"/>
            <p:nvPr/>
          </p:nvSpPr>
          <p:spPr>
            <a:xfrm>
              <a:off x="0" y="-47625"/>
              <a:ext cx="1446881" cy="1507716"/>
            </a:xfrm>
            <a:prstGeom prst="rect">
              <a:avLst/>
            </a:prstGeom>
          </p:spPr>
          <p:txBody>
            <a:bodyPr anchor="ctr" rtlCol="false" tIns="50800" lIns="50800" bIns="50800" rIns="50800"/>
            <a:lstStyle/>
            <a:p>
              <a:pPr algn="ctr">
                <a:lnSpc>
                  <a:spcPts val="2939"/>
                </a:lnSpc>
              </a:pPr>
            </a:p>
          </p:txBody>
        </p:sp>
      </p:grpSp>
      <p:grpSp>
        <p:nvGrpSpPr>
          <p:cNvPr name="Group 16" id="16"/>
          <p:cNvGrpSpPr/>
          <p:nvPr/>
        </p:nvGrpSpPr>
        <p:grpSpPr>
          <a:xfrm rot="0">
            <a:off x="11994154" y="2043647"/>
            <a:ext cx="5944413" cy="5543781"/>
            <a:chOff x="0" y="0"/>
            <a:chExt cx="1565607" cy="1460091"/>
          </a:xfrm>
        </p:grpSpPr>
        <p:sp>
          <p:nvSpPr>
            <p:cNvPr name="Freeform 17" id="17"/>
            <p:cNvSpPr/>
            <p:nvPr/>
          </p:nvSpPr>
          <p:spPr>
            <a:xfrm flipH="false" flipV="false" rot="0">
              <a:off x="0" y="0"/>
              <a:ext cx="1565607" cy="1460091"/>
            </a:xfrm>
            <a:custGeom>
              <a:avLst/>
              <a:gdLst/>
              <a:ahLst/>
              <a:cxnLst/>
              <a:rect r="r" b="b" t="t" l="l"/>
              <a:pathLst>
                <a:path h="1460091" w="1565607">
                  <a:moveTo>
                    <a:pt x="66422" y="0"/>
                  </a:moveTo>
                  <a:lnTo>
                    <a:pt x="1499185" y="0"/>
                  </a:lnTo>
                  <a:cubicBezTo>
                    <a:pt x="1516801" y="0"/>
                    <a:pt x="1533696" y="6998"/>
                    <a:pt x="1546152" y="19454"/>
                  </a:cubicBezTo>
                  <a:cubicBezTo>
                    <a:pt x="1558609" y="31911"/>
                    <a:pt x="1565607" y="48806"/>
                    <a:pt x="1565607" y="66422"/>
                  </a:cubicBezTo>
                  <a:lnTo>
                    <a:pt x="1565607" y="1393669"/>
                  </a:lnTo>
                  <a:cubicBezTo>
                    <a:pt x="1565607" y="1430353"/>
                    <a:pt x="1535869" y="1460091"/>
                    <a:pt x="1499185" y="1460091"/>
                  </a:cubicBezTo>
                  <a:lnTo>
                    <a:pt x="66422" y="1460091"/>
                  </a:lnTo>
                  <a:cubicBezTo>
                    <a:pt x="29738" y="1460091"/>
                    <a:pt x="0" y="1430353"/>
                    <a:pt x="0" y="1393669"/>
                  </a:cubicBezTo>
                  <a:lnTo>
                    <a:pt x="0" y="66422"/>
                  </a:lnTo>
                  <a:cubicBezTo>
                    <a:pt x="0" y="48806"/>
                    <a:pt x="6998" y="31911"/>
                    <a:pt x="19454" y="19454"/>
                  </a:cubicBezTo>
                  <a:cubicBezTo>
                    <a:pt x="31911" y="6998"/>
                    <a:pt x="48806" y="0"/>
                    <a:pt x="66422" y="0"/>
                  </a:cubicBezTo>
                  <a:close/>
                </a:path>
              </a:pathLst>
            </a:custGeom>
            <a:solidFill>
              <a:srgbClr val="304543"/>
            </a:solidFill>
          </p:spPr>
        </p:sp>
        <p:sp>
          <p:nvSpPr>
            <p:cNvPr name="TextBox 18" id="18"/>
            <p:cNvSpPr txBox="true"/>
            <p:nvPr/>
          </p:nvSpPr>
          <p:spPr>
            <a:xfrm>
              <a:off x="0" y="-47625"/>
              <a:ext cx="1565607" cy="1507716"/>
            </a:xfrm>
            <a:prstGeom prst="rect">
              <a:avLst/>
            </a:prstGeom>
          </p:spPr>
          <p:txBody>
            <a:bodyPr anchor="ctr" rtlCol="false" tIns="50800" lIns="50800" bIns="50800" rIns="50800"/>
            <a:lstStyle/>
            <a:p>
              <a:pPr algn="ctr">
                <a:lnSpc>
                  <a:spcPts val="2939"/>
                </a:lnSpc>
              </a:pPr>
            </a:p>
          </p:txBody>
        </p:sp>
      </p:grpSp>
      <p:graphicFrame>
        <p:nvGraphicFramePr>
          <p:cNvPr name="Object 19" id="19"/>
          <p:cNvGraphicFramePr/>
          <p:nvPr/>
        </p:nvGraphicFramePr>
        <p:xfrm>
          <a:off x="6139794" y="857081"/>
          <a:ext cx="5657850" cy="6915150"/>
        </p:xfrm>
        <a:graphic>
          <a:graphicData uri="http://schemas.openxmlformats.org/presentationml/2006/ole">
            <p:oleObj imgW="7035800" imgH="82931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0" id="20"/>
          <p:cNvSpPr txBox="true"/>
          <p:nvPr/>
        </p:nvSpPr>
        <p:spPr>
          <a:xfrm rot="0">
            <a:off x="17335500" y="9493347"/>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18</a:t>
            </a:r>
          </a:p>
        </p:txBody>
      </p:sp>
      <p:sp>
        <p:nvSpPr>
          <p:cNvPr name="TextBox 21" id="21"/>
          <p:cNvSpPr txBox="true"/>
          <p:nvPr/>
        </p:nvSpPr>
        <p:spPr>
          <a:xfrm rot="0">
            <a:off x="202119" y="9505776"/>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2" id="22"/>
          <p:cNvSpPr txBox="true"/>
          <p:nvPr/>
        </p:nvSpPr>
        <p:spPr>
          <a:xfrm rot="0">
            <a:off x="500186" y="2183030"/>
            <a:ext cx="4932554" cy="5042933"/>
          </a:xfrm>
          <a:prstGeom prst="rect">
            <a:avLst/>
          </a:prstGeom>
        </p:spPr>
        <p:txBody>
          <a:bodyPr anchor="t" rtlCol="false" tIns="0" lIns="0" bIns="0" rIns="0">
            <a:spAutoFit/>
          </a:bodyPr>
          <a:lstStyle/>
          <a:p>
            <a:pPr algn="ctr">
              <a:lnSpc>
                <a:spcPts val="2393"/>
              </a:lnSpc>
              <a:spcBef>
                <a:spcPct val="0"/>
              </a:spcBef>
            </a:pPr>
            <a:r>
              <a:rPr lang="en-US" sz="1709">
                <a:solidFill>
                  <a:srgbClr val="C1DFC1"/>
                </a:solidFill>
                <a:latin typeface="Guild A Display"/>
                <a:ea typeface="Guild A Display"/>
                <a:cs typeface="Guild A Display"/>
                <a:sym typeface="Guild A Display"/>
              </a:rPr>
              <a:t>-- 1. How does average sleep duration vary with</a:t>
            </a:r>
          </a:p>
          <a:p>
            <a:pPr algn="ctr">
              <a:lnSpc>
                <a:spcPts val="2670"/>
              </a:lnSpc>
              <a:spcBef>
                <a:spcPct val="0"/>
              </a:spcBef>
            </a:pPr>
            <a:r>
              <a:rPr lang="en-US" sz="1907">
                <a:solidFill>
                  <a:srgbClr val="C1DFC1"/>
                </a:solidFill>
                <a:latin typeface="Guild A Display"/>
                <a:ea typeface="Guild A Display"/>
                <a:cs typeface="Guild A Display"/>
                <a:sym typeface="Guild A Display"/>
              </a:rPr>
              <a:t> daily social media usage?</a:t>
            </a:r>
          </a:p>
          <a:p>
            <a:pPr algn="ctr">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SELECT</a:t>
            </a:r>
          </a:p>
          <a:p>
            <a:pPr algn="l">
              <a:lnSpc>
                <a:spcPts val="2393"/>
              </a:lnSpc>
              <a:spcBef>
                <a:spcPct val="0"/>
              </a:spcBef>
            </a:pPr>
            <a:r>
              <a:rPr lang="en-US" sz="1709">
                <a:solidFill>
                  <a:srgbClr val="0CC0DF"/>
                </a:solidFill>
                <a:latin typeface="Roboto"/>
                <a:ea typeface="Roboto"/>
                <a:cs typeface="Roboto"/>
                <a:sym typeface="Roboto"/>
              </a:rPr>
              <a:t>CASE WHEN</a:t>
            </a:r>
            <a:r>
              <a:rPr lang="en-US" sz="1709">
                <a:solidFill>
                  <a:srgbClr val="F5F5EF"/>
                </a:solidFill>
                <a:latin typeface="Roboto"/>
                <a:ea typeface="Roboto"/>
                <a:cs typeface="Roboto"/>
                <a:sym typeface="Roboto"/>
              </a:rPr>
              <a:t> avg_daily_sm_hours &lt; 3</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'Low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WHEN</a:t>
            </a:r>
            <a:r>
              <a:rPr lang="en-US" sz="1709">
                <a:solidFill>
                  <a:srgbClr val="F5F5EF"/>
                </a:solidFill>
                <a:latin typeface="Roboto"/>
                <a:ea typeface="Roboto"/>
                <a:cs typeface="Roboto"/>
                <a:sym typeface="Roboto"/>
              </a:rPr>
              <a:t> avg_daily_sm_hours &lt; 6</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'Medium Usage</a:t>
            </a:r>
            <a:r>
              <a:rPr lang="en-US" sz="1709">
                <a:solidFill>
                  <a:srgbClr val="0CC0DF"/>
                </a:solidFill>
                <a:latin typeface="Roboto"/>
                <a:ea typeface="Roboto"/>
                <a:cs typeface="Roboto"/>
                <a:sym typeface="Roboto"/>
              </a:rPr>
              <a:t>'ELSE</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'High Usage</a:t>
            </a:r>
            <a:r>
              <a:rPr lang="en-US" sz="1709">
                <a:solidFill>
                  <a:srgbClr val="0CC0DF"/>
                </a:solidFill>
                <a:latin typeface="Roboto"/>
                <a:ea typeface="Roboto"/>
                <a:cs typeface="Roboto"/>
                <a:sym typeface="Roboto"/>
              </a:rPr>
              <a:t>'END AS</a:t>
            </a:r>
            <a:r>
              <a:rPr lang="en-US" sz="1709">
                <a:solidFill>
                  <a:srgbClr val="F5F5EF"/>
                </a:solidFill>
                <a:latin typeface="Roboto"/>
                <a:ea typeface="Roboto"/>
                <a:cs typeface="Roboto"/>
                <a:sym typeface="Roboto"/>
              </a:rPr>
              <a:t> social_media_usage_level,</a:t>
            </a:r>
            <a:r>
              <a:rPr lang="en-US" sz="1709">
                <a:solidFill>
                  <a:srgbClr val="FF66C4"/>
                </a:solidFill>
                <a:latin typeface="Roboto"/>
                <a:ea typeface="Roboto"/>
                <a:cs typeface="Roboto"/>
                <a:sym typeface="Roboto"/>
              </a:rPr>
              <a:t>ROUND</a:t>
            </a:r>
            <a:r>
              <a:rPr lang="en-US" sz="1709">
                <a:solidFill>
                  <a:srgbClr val="F5F5EF"/>
                </a:solidFill>
                <a:latin typeface="Roboto"/>
                <a:ea typeface="Roboto"/>
                <a:cs typeface="Roboto"/>
                <a:sym typeface="Roboto"/>
              </a:rPr>
              <a:t>(</a:t>
            </a:r>
            <a:r>
              <a:rPr lang="en-US" sz="1709">
                <a:solidFill>
                  <a:srgbClr val="FF66C4"/>
                </a:solidFill>
                <a:latin typeface="Roboto"/>
                <a:ea typeface="Roboto"/>
                <a:cs typeface="Roboto"/>
                <a:sym typeface="Roboto"/>
              </a:rPr>
              <a:t>AVG</a:t>
            </a:r>
            <a:r>
              <a:rPr lang="en-US" sz="1709">
                <a:solidFill>
                  <a:srgbClr val="F5F5EF"/>
                </a:solidFill>
                <a:latin typeface="Roboto"/>
                <a:ea typeface="Roboto"/>
                <a:cs typeface="Roboto"/>
                <a:sym typeface="Roboto"/>
              </a:rPr>
              <a:t>(avg_sleep_hours), 2)</a:t>
            </a:r>
            <a:r>
              <a:rPr lang="en-US" sz="1709">
                <a:solidFill>
                  <a:srgbClr val="0CC0DF"/>
                </a:solidFill>
                <a:latin typeface="Roboto"/>
                <a:ea typeface="Roboto"/>
                <a:cs typeface="Roboto"/>
                <a:sym typeface="Roboto"/>
              </a:rPr>
              <a:t> AS</a:t>
            </a:r>
            <a:r>
              <a:rPr lang="en-US" sz="1709">
                <a:solidFill>
                  <a:srgbClr val="F5F5EF"/>
                </a:solidFill>
                <a:latin typeface="Roboto"/>
                <a:ea typeface="Roboto"/>
                <a:cs typeface="Roboto"/>
                <a:sym typeface="Roboto"/>
              </a:rPr>
              <a:t> avg_sleep_hours</a:t>
            </a:r>
          </a:p>
          <a:p>
            <a:pPr algn="l">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FROM</a:t>
            </a:r>
            <a:r>
              <a:rPr lang="en-US" sz="1709">
                <a:solidFill>
                  <a:srgbClr val="F5F5EF"/>
                </a:solidFill>
                <a:latin typeface="Roboto"/>
                <a:ea typeface="Roboto"/>
                <a:cs typeface="Roboto"/>
                <a:sym typeface="Roboto"/>
              </a:rPr>
              <a:t> Fact_User_Metrics </a:t>
            </a:r>
          </a:p>
          <a:p>
            <a:pPr algn="l">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GROUP BYCASEWHEN </a:t>
            </a:r>
            <a:r>
              <a:rPr lang="en-US" sz="1709">
                <a:solidFill>
                  <a:srgbClr val="F5F5EF"/>
                </a:solidFill>
                <a:latin typeface="Roboto"/>
                <a:ea typeface="Roboto"/>
                <a:cs typeface="Roboto"/>
                <a:sym typeface="Roboto"/>
              </a:rPr>
              <a:t>avg_daily_sm_hours &lt; 3</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'Low Usage</a:t>
            </a:r>
            <a:r>
              <a:rPr lang="en-US" sz="1709">
                <a:solidFill>
                  <a:srgbClr val="0CC0DF"/>
                </a:solidFill>
                <a:latin typeface="Roboto"/>
                <a:ea typeface="Roboto"/>
                <a:cs typeface="Roboto"/>
                <a:sym typeface="Roboto"/>
              </a:rPr>
              <a:t>'WHEN</a:t>
            </a:r>
            <a:r>
              <a:rPr lang="en-US" sz="1709">
                <a:solidFill>
                  <a:srgbClr val="F5F5EF"/>
                </a:solidFill>
                <a:latin typeface="Roboto"/>
                <a:ea typeface="Roboto"/>
                <a:cs typeface="Roboto"/>
                <a:sym typeface="Roboto"/>
              </a:rPr>
              <a:t> avg_daily_sm_hours &lt; 6 </a:t>
            </a:r>
            <a:r>
              <a:rPr lang="en-US" sz="1709">
                <a:solidFill>
                  <a:srgbClr val="0CC0DF"/>
                </a:solidFill>
                <a:latin typeface="Roboto"/>
                <a:ea typeface="Roboto"/>
                <a:cs typeface="Roboto"/>
                <a:sym typeface="Roboto"/>
              </a:rPr>
              <a:t>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'Medium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ELSE</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'High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END</a:t>
            </a:r>
            <a:r>
              <a:rPr lang="en-US" sz="1709">
                <a:solidFill>
                  <a:srgbClr val="0CC0DF"/>
                </a:solidFill>
                <a:latin typeface="Roboto"/>
                <a:ea typeface="Roboto"/>
                <a:cs typeface="Roboto"/>
                <a:sym typeface="Roboto"/>
              </a:rPr>
              <a:t>ORDER BY</a:t>
            </a:r>
            <a:r>
              <a:rPr lang="en-US" sz="1709">
                <a:solidFill>
                  <a:srgbClr val="F5F5EF"/>
                </a:solidFill>
                <a:latin typeface="Roboto"/>
                <a:ea typeface="Roboto"/>
                <a:cs typeface="Roboto"/>
                <a:sym typeface="Roboto"/>
              </a:rPr>
              <a:t> avg_sleep_hours</a:t>
            </a:r>
            <a:r>
              <a:rPr lang="en-US" sz="1709">
                <a:solidFill>
                  <a:srgbClr val="0CC0DF"/>
                </a:solidFill>
                <a:latin typeface="Roboto"/>
                <a:ea typeface="Roboto"/>
                <a:cs typeface="Roboto"/>
                <a:sym typeface="Roboto"/>
              </a:rPr>
              <a:t> DESC;</a:t>
            </a:r>
          </a:p>
          <a:p>
            <a:pPr algn="ctr">
              <a:lnSpc>
                <a:spcPts val="2393"/>
              </a:lnSpc>
              <a:spcBef>
                <a:spcPct val="0"/>
              </a:spcBef>
            </a:pPr>
          </a:p>
        </p:txBody>
      </p:sp>
      <p:sp>
        <p:nvSpPr>
          <p:cNvPr name="TextBox 23" id="23"/>
          <p:cNvSpPr txBox="true"/>
          <p:nvPr/>
        </p:nvSpPr>
        <p:spPr>
          <a:xfrm rot="0">
            <a:off x="12273304" y="2163980"/>
            <a:ext cx="4946346" cy="647726"/>
          </a:xfrm>
          <a:prstGeom prst="rect">
            <a:avLst/>
          </a:prstGeom>
        </p:spPr>
        <p:txBody>
          <a:bodyPr anchor="t" rtlCol="false" tIns="0" lIns="0" bIns="0" rIns="0">
            <a:spAutoFit/>
          </a:bodyPr>
          <a:lstStyle/>
          <a:p>
            <a:pPr algn="ctr">
              <a:lnSpc>
                <a:spcPts val="2623"/>
              </a:lnSpc>
              <a:spcBef>
                <a:spcPct val="0"/>
              </a:spcBef>
            </a:pPr>
            <a:r>
              <a:rPr lang="en-US" sz="1873">
                <a:solidFill>
                  <a:srgbClr val="C1DFC1"/>
                </a:solidFill>
                <a:latin typeface="Guild A Display"/>
                <a:ea typeface="Guild A Display"/>
                <a:cs typeface="Guild A Display"/>
                <a:sym typeface="Guild A Display"/>
              </a:rPr>
              <a:t>2. Is late-night scrolling associated with lower sleep quality?</a:t>
            </a:r>
          </a:p>
        </p:txBody>
      </p:sp>
      <p:pic>
        <p:nvPicPr>
          <p:cNvPr name="Picture 24" id="24"/>
          <p:cNvPicPr>
            <a:picLocks noChangeAspect="true"/>
          </p:cNvPicPr>
          <p:nvPr/>
        </p:nvPicPr>
        <p:blipFill>
          <a:blip r:embed="rId7"/>
          <a:stretch>
            <a:fillRect/>
          </a:stretch>
        </p:blipFill>
        <p:spPr>
          <a:xfrm rot="-7164742">
            <a:off x="3471904" y="7408275"/>
            <a:ext cx="2565400" cy="1997237"/>
          </a:xfrm>
          <a:prstGeom prst="rect">
            <a:avLst/>
          </a:prstGeom>
        </p:spPr>
      </p:pic>
      <p:pic>
        <p:nvPicPr>
          <p:cNvPr name="Picture 25" id="25"/>
          <p:cNvPicPr>
            <a:picLocks noChangeAspect="true"/>
          </p:cNvPicPr>
          <p:nvPr/>
        </p:nvPicPr>
        <p:blipFill>
          <a:blip r:embed="rId8"/>
          <a:stretch>
            <a:fillRect/>
          </a:stretch>
        </p:blipFill>
        <p:spPr>
          <a:xfrm rot="3785931">
            <a:off x="11365210" y="111199"/>
            <a:ext cx="2536045" cy="1974383"/>
          </a:xfrm>
          <a:prstGeom prst="rect">
            <a:avLst/>
          </a:prstGeom>
        </p:spPr>
      </p:pic>
      <p:sp>
        <p:nvSpPr>
          <p:cNvPr name="TextBox 26" id="26"/>
          <p:cNvSpPr txBox="true"/>
          <p:nvPr/>
        </p:nvSpPr>
        <p:spPr>
          <a:xfrm rot="0">
            <a:off x="0" y="-66675"/>
            <a:ext cx="7792851" cy="1288279"/>
          </a:xfrm>
          <a:prstGeom prst="rect">
            <a:avLst/>
          </a:prstGeom>
        </p:spPr>
        <p:txBody>
          <a:bodyPr anchor="t" rtlCol="false" tIns="0" lIns="0" bIns="0" rIns="0">
            <a:spAutoFit/>
          </a:bodyPr>
          <a:lstStyle/>
          <a:p>
            <a:pPr algn="l">
              <a:lnSpc>
                <a:spcPts val="5190"/>
              </a:lnSpc>
            </a:pPr>
            <a:r>
              <a:rPr lang="en-US" sz="3707" b="true">
                <a:solidFill>
                  <a:srgbClr val="000000"/>
                </a:solidFill>
                <a:latin typeface="Cormorant Garamond Bold"/>
                <a:ea typeface="Cormorant Garamond Bold"/>
                <a:cs typeface="Cormorant Garamond Bold"/>
                <a:sym typeface="Cormorant Garamond Bold"/>
              </a:rPr>
              <a:t> Social Media, Sleep &amp; Mental Wellbeing</a:t>
            </a:r>
          </a:p>
          <a:p>
            <a:pPr algn="l">
              <a:lnSpc>
                <a:spcPts val="5190"/>
              </a:lnSpc>
              <a:spcBef>
                <a:spcPct val="0"/>
              </a:spcBef>
            </a:pPr>
          </a:p>
        </p:txBody>
      </p:sp>
      <p:sp>
        <p:nvSpPr>
          <p:cNvPr name="TextBox 27" id="27"/>
          <p:cNvSpPr txBox="true"/>
          <p:nvPr/>
        </p:nvSpPr>
        <p:spPr>
          <a:xfrm rot="0">
            <a:off x="12396001" y="3163639"/>
            <a:ext cx="4497072" cy="35979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a:t>
            </a: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m.sleep_quality,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number_of_participants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 s</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Mental_Detox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s.participant_id = m.participant_id</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m.sleep_quality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t>
            </a:r>
          </a:p>
          <a:p>
            <a:pPr algn="l">
              <a:lnSpc>
                <a:spcPts val="2239"/>
              </a:lnSpc>
            </a:pP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number_of_participants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sp>
        <p:nvSpPr>
          <p:cNvPr name="TextBox 6" id="6"/>
          <p:cNvSpPr txBox="true"/>
          <p:nvPr/>
        </p:nvSpPr>
        <p:spPr>
          <a:xfrm rot="0">
            <a:off x="93694" y="-3291"/>
            <a:ext cx="10306832" cy="786639"/>
          </a:xfrm>
          <a:prstGeom prst="rect">
            <a:avLst/>
          </a:prstGeom>
        </p:spPr>
        <p:txBody>
          <a:bodyPr anchor="t" rtlCol="false" tIns="0" lIns="0" bIns="0" rIns="0">
            <a:spAutoFit/>
          </a:bodyPr>
          <a:lstStyle/>
          <a:p>
            <a:pPr algn="l">
              <a:lnSpc>
                <a:spcPts val="6516"/>
              </a:lnSpc>
              <a:spcBef>
                <a:spcPct val="0"/>
              </a:spcBef>
            </a:pPr>
            <a:r>
              <a:rPr lang="en-US" sz="4654" b="true">
                <a:solidFill>
                  <a:srgbClr val="000000"/>
                </a:solidFill>
                <a:latin typeface="Cormorant Garamond Bold"/>
                <a:ea typeface="Cormorant Garamond Bold"/>
                <a:cs typeface="Cormorant Garamond Bold"/>
                <a:sym typeface="Cormorant Garamond Bold"/>
              </a:rPr>
              <a:t> Social Media, Sleep &amp; Mental Wellbeing</a:t>
            </a:r>
          </a:p>
        </p:txBody>
      </p:sp>
      <p:grpSp>
        <p:nvGrpSpPr>
          <p:cNvPr name="Group 7" id="7"/>
          <p:cNvGrpSpPr/>
          <p:nvPr/>
        </p:nvGrpSpPr>
        <p:grpSpPr>
          <a:xfrm rot="0">
            <a:off x="335879" y="5307309"/>
            <a:ext cx="6168003" cy="3444661"/>
            <a:chOff x="0" y="0"/>
            <a:chExt cx="1624495" cy="907236"/>
          </a:xfrm>
        </p:grpSpPr>
        <p:sp>
          <p:nvSpPr>
            <p:cNvPr name="Freeform 8" id="8"/>
            <p:cNvSpPr/>
            <p:nvPr/>
          </p:nvSpPr>
          <p:spPr>
            <a:xfrm flipH="false" flipV="false" rot="0">
              <a:off x="0" y="0"/>
              <a:ext cx="1624495" cy="907236"/>
            </a:xfrm>
            <a:custGeom>
              <a:avLst/>
              <a:gdLst/>
              <a:ahLst/>
              <a:cxnLst/>
              <a:rect r="r" b="b" t="t" l="l"/>
              <a:pathLst>
                <a:path h="907236" w="1624495">
                  <a:moveTo>
                    <a:pt x="64014" y="0"/>
                  </a:moveTo>
                  <a:lnTo>
                    <a:pt x="1560481" y="0"/>
                  </a:lnTo>
                  <a:cubicBezTo>
                    <a:pt x="1595835" y="0"/>
                    <a:pt x="1624495" y="28660"/>
                    <a:pt x="1624495" y="64014"/>
                  </a:cubicBezTo>
                  <a:lnTo>
                    <a:pt x="1624495" y="843222"/>
                  </a:lnTo>
                  <a:cubicBezTo>
                    <a:pt x="1624495" y="878576"/>
                    <a:pt x="1595835" y="907236"/>
                    <a:pt x="1560481" y="907236"/>
                  </a:cubicBezTo>
                  <a:lnTo>
                    <a:pt x="64014" y="907236"/>
                  </a:lnTo>
                  <a:cubicBezTo>
                    <a:pt x="28660" y="907236"/>
                    <a:pt x="0" y="878576"/>
                    <a:pt x="0" y="843222"/>
                  </a:cubicBezTo>
                  <a:lnTo>
                    <a:pt x="0" y="64014"/>
                  </a:lnTo>
                  <a:cubicBezTo>
                    <a:pt x="0" y="28660"/>
                    <a:pt x="28660" y="0"/>
                    <a:pt x="64014" y="0"/>
                  </a:cubicBezTo>
                  <a:close/>
                </a:path>
              </a:pathLst>
            </a:custGeom>
            <a:solidFill>
              <a:srgbClr val="304543"/>
            </a:solidFill>
          </p:spPr>
        </p:sp>
        <p:sp>
          <p:nvSpPr>
            <p:cNvPr name="TextBox 9" id="9"/>
            <p:cNvSpPr txBox="true"/>
            <p:nvPr/>
          </p:nvSpPr>
          <p:spPr>
            <a:xfrm>
              <a:off x="0" y="-47625"/>
              <a:ext cx="1624495" cy="954861"/>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12185009" y="507632"/>
            <a:ext cx="5746362" cy="4967811"/>
            <a:chOff x="0" y="0"/>
            <a:chExt cx="1513445" cy="1308395"/>
          </a:xfrm>
        </p:grpSpPr>
        <p:sp>
          <p:nvSpPr>
            <p:cNvPr name="Freeform 11" id="11"/>
            <p:cNvSpPr/>
            <p:nvPr/>
          </p:nvSpPr>
          <p:spPr>
            <a:xfrm flipH="false" flipV="false" rot="0">
              <a:off x="0" y="0"/>
              <a:ext cx="1513445" cy="1308395"/>
            </a:xfrm>
            <a:custGeom>
              <a:avLst/>
              <a:gdLst/>
              <a:ahLst/>
              <a:cxnLst/>
              <a:rect r="r" b="b" t="t" l="l"/>
              <a:pathLst>
                <a:path h="1308395" w="1513445">
                  <a:moveTo>
                    <a:pt x="68711" y="0"/>
                  </a:moveTo>
                  <a:lnTo>
                    <a:pt x="1444734" y="0"/>
                  </a:lnTo>
                  <a:cubicBezTo>
                    <a:pt x="1462958" y="0"/>
                    <a:pt x="1480434" y="7239"/>
                    <a:pt x="1493320" y="20125"/>
                  </a:cubicBezTo>
                  <a:cubicBezTo>
                    <a:pt x="1506206" y="33011"/>
                    <a:pt x="1513445" y="50488"/>
                    <a:pt x="1513445" y="68711"/>
                  </a:cubicBezTo>
                  <a:lnTo>
                    <a:pt x="1513445" y="1239684"/>
                  </a:lnTo>
                  <a:cubicBezTo>
                    <a:pt x="1513445" y="1277632"/>
                    <a:pt x="1482682" y="1308395"/>
                    <a:pt x="1444734" y="1308395"/>
                  </a:cubicBezTo>
                  <a:lnTo>
                    <a:pt x="68711" y="1308395"/>
                  </a:lnTo>
                  <a:cubicBezTo>
                    <a:pt x="30763" y="1308395"/>
                    <a:pt x="0" y="1277632"/>
                    <a:pt x="0" y="1239684"/>
                  </a:cubicBezTo>
                  <a:lnTo>
                    <a:pt x="0" y="68711"/>
                  </a:lnTo>
                  <a:cubicBezTo>
                    <a:pt x="0" y="30763"/>
                    <a:pt x="30763" y="0"/>
                    <a:pt x="68711" y="0"/>
                  </a:cubicBezTo>
                  <a:close/>
                </a:path>
              </a:pathLst>
            </a:custGeom>
            <a:solidFill>
              <a:srgbClr val="304543"/>
            </a:solidFill>
          </p:spPr>
        </p:sp>
        <p:sp>
          <p:nvSpPr>
            <p:cNvPr name="TextBox 12" id="12"/>
            <p:cNvSpPr txBox="true"/>
            <p:nvPr/>
          </p:nvSpPr>
          <p:spPr>
            <a:xfrm>
              <a:off x="0" y="-47625"/>
              <a:ext cx="1513445" cy="1356020"/>
            </a:xfrm>
            <a:prstGeom prst="rect">
              <a:avLst/>
            </a:prstGeom>
          </p:spPr>
          <p:txBody>
            <a:bodyPr anchor="ctr" rtlCol="false" tIns="50800" lIns="50800" bIns="50800" rIns="50800"/>
            <a:lstStyle/>
            <a:p>
              <a:pPr algn="ctr">
                <a:lnSpc>
                  <a:spcPts val="2939"/>
                </a:lnSpc>
              </a:pPr>
            </a:p>
          </p:txBody>
        </p:sp>
      </p:grpSp>
      <p:sp>
        <p:nvSpPr>
          <p:cNvPr name="TextBox 13" id="13"/>
          <p:cNvSpPr txBox="true"/>
          <p:nvPr/>
        </p:nvSpPr>
        <p:spPr>
          <a:xfrm rot="0">
            <a:off x="12452855" y="573409"/>
            <a:ext cx="5210671" cy="105410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4. Is mental fog more frequent among people with higher social media usage?</a:t>
            </a:r>
          </a:p>
          <a:p>
            <a:pPr algn="ctr">
              <a:lnSpc>
                <a:spcPts val="2800"/>
              </a:lnSpc>
              <a:spcBef>
                <a:spcPct val="0"/>
              </a:spcBef>
            </a:pPr>
          </a:p>
        </p:txBody>
      </p:sp>
      <p:grpSp>
        <p:nvGrpSpPr>
          <p:cNvPr name="Group 14" id="14"/>
          <p:cNvGrpSpPr/>
          <p:nvPr/>
        </p:nvGrpSpPr>
        <p:grpSpPr>
          <a:xfrm rot="0">
            <a:off x="7662184" y="5656417"/>
            <a:ext cx="6146346" cy="3423004"/>
            <a:chOff x="0" y="0"/>
            <a:chExt cx="1618791" cy="901532"/>
          </a:xfrm>
        </p:grpSpPr>
        <p:sp>
          <p:nvSpPr>
            <p:cNvPr name="Freeform 15" id="15"/>
            <p:cNvSpPr/>
            <p:nvPr/>
          </p:nvSpPr>
          <p:spPr>
            <a:xfrm flipH="false" flipV="false" rot="0">
              <a:off x="0" y="0"/>
              <a:ext cx="1618791" cy="901532"/>
            </a:xfrm>
            <a:custGeom>
              <a:avLst/>
              <a:gdLst/>
              <a:ahLst/>
              <a:cxnLst/>
              <a:rect r="r" b="b" t="t" l="l"/>
              <a:pathLst>
                <a:path h="901532" w="1618791">
                  <a:moveTo>
                    <a:pt x="64239" y="0"/>
                  </a:moveTo>
                  <a:lnTo>
                    <a:pt x="1554551" y="0"/>
                  </a:lnTo>
                  <a:cubicBezTo>
                    <a:pt x="1590030" y="0"/>
                    <a:pt x="1618791" y="28761"/>
                    <a:pt x="1618791" y="64239"/>
                  </a:cubicBezTo>
                  <a:lnTo>
                    <a:pt x="1618791" y="837292"/>
                  </a:lnTo>
                  <a:cubicBezTo>
                    <a:pt x="1618791" y="872771"/>
                    <a:pt x="1590030" y="901532"/>
                    <a:pt x="1554551" y="901532"/>
                  </a:cubicBezTo>
                  <a:lnTo>
                    <a:pt x="64239" y="901532"/>
                  </a:lnTo>
                  <a:cubicBezTo>
                    <a:pt x="28761" y="901532"/>
                    <a:pt x="0" y="872771"/>
                    <a:pt x="0" y="837292"/>
                  </a:cubicBezTo>
                  <a:lnTo>
                    <a:pt x="0" y="64239"/>
                  </a:lnTo>
                  <a:cubicBezTo>
                    <a:pt x="0" y="28761"/>
                    <a:pt x="28761" y="0"/>
                    <a:pt x="64239" y="0"/>
                  </a:cubicBezTo>
                  <a:close/>
                </a:path>
              </a:pathLst>
            </a:custGeom>
            <a:solidFill>
              <a:srgbClr val="304543"/>
            </a:solidFill>
          </p:spPr>
        </p:sp>
        <p:sp>
          <p:nvSpPr>
            <p:cNvPr name="TextBox 16" id="16"/>
            <p:cNvSpPr txBox="true"/>
            <p:nvPr/>
          </p:nvSpPr>
          <p:spPr>
            <a:xfrm>
              <a:off x="0" y="-47625"/>
              <a:ext cx="1618791" cy="949157"/>
            </a:xfrm>
            <a:prstGeom prst="rect">
              <a:avLst/>
            </a:prstGeom>
          </p:spPr>
          <p:txBody>
            <a:bodyPr anchor="ctr" rtlCol="false" tIns="50800" lIns="50800" bIns="50800" rIns="50800"/>
            <a:lstStyle/>
            <a:p>
              <a:pPr algn="ctr">
                <a:lnSpc>
                  <a:spcPts val="2939"/>
                </a:lnSpc>
              </a:pPr>
            </a:p>
          </p:txBody>
        </p:sp>
      </p:grpSp>
      <p:graphicFrame>
        <p:nvGraphicFramePr>
          <p:cNvPr name="Object 17" id="17"/>
          <p:cNvGraphicFramePr/>
          <p:nvPr/>
        </p:nvGraphicFramePr>
        <p:xfrm>
          <a:off x="7877496" y="5802825"/>
          <a:ext cx="5657850" cy="5657850"/>
        </p:xfrm>
        <a:graphic>
          <a:graphicData uri="http://schemas.openxmlformats.org/presentationml/2006/ole">
            <p:oleObj imgW="6781800" imgH="6781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8" id="18"/>
          <p:cNvSpPr txBox="true"/>
          <p:nvPr/>
        </p:nvSpPr>
        <p:spPr>
          <a:xfrm rot="0">
            <a:off x="879589" y="5403943"/>
            <a:ext cx="4934261" cy="280564"/>
          </a:xfrm>
          <a:prstGeom prst="rect">
            <a:avLst/>
          </a:prstGeom>
        </p:spPr>
        <p:txBody>
          <a:bodyPr anchor="t" rtlCol="false" tIns="0" lIns="0" bIns="0" rIns="0">
            <a:spAutoFit/>
          </a:bodyPr>
          <a:lstStyle/>
          <a:p>
            <a:pPr algn="ctr">
              <a:lnSpc>
                <a:spcPts val="2385"/>
              </a:lnSpc>
              <a:spcBef>
                <a:spcPct val="0"/>
              </a:spcBef>
            </a:pPr>
            <a:r>
              <a:rPr lang="en-US" sz="1704">
                <a:solidFill>
                  <a:srgbClr val="C1DFC1"/>
                </a:solidFill>
                <a:latin typeface="Guild A Display"/>
                <a:ea typeface="Guild A Display"/>
                <a:cs typeface="Guild A Display"/>
                <a:sym typeface="Guild A Display"/>
              </a:rPr>
              <a:t>3. Does screen time vary across sleep-quality levels?</a:t>
            </a:r>
          </a:p>
        </p:txBody>
      </p:sp>
      <p:grpSp>
        <p:nvGrpSpPr>
          <p:cNvPr name="Group 19" id="19"/>
          <p:cNvGrpSpPr/>
          <p:nvPr/>
        </p:nvGrpSpPr>
        <p:grpSpPr>
          <a:xfrm rot="0">
            <a:off x="3084702" y="1627509"/>
            <a:ext cx="5756519" cy="3333766"/>
            <a:chOff x="0" y="0"/>
            <a:chExt cx="1516120" cy="878029"/>
          </a:xfrm>
        </p:grpSpPr>
        <p:sp>
          <p:nvSpPr>
            <p:cNvPr name="Freeform 20" id="20"/>
            <p:cNvSpPr/>
            <p:nvPr/>
          </p:nvSpPr>
          <p:spPr>
            <a:xfrm flipH="false" flipV="false" rot="0">
              <a:off x="0" y="0"/>
              <a:ext cx="1516120" cy="878029"/>
            </a:xfrm>
            <a:custGeom>
              <a:avLst/>
              <a:gdLst/>
              <a:ahLst/>
              <a:cxnLst/>
              <a:rect r="r" b="b" t="t" l="l"/>
              <a:pathLst>
                <a:path h="878029" w="1516120">
                  <a:moveTo>
                    <a:pt x="68590" y="0"/>
                  </a:moveTo>
                  <a:lnTo>
                    <a:pt x="1447531" y="0"/>
                  </a:lnTo>
                  <a:cubicBezTo>
                    <a:pt x="1465722" y="0"/>
                    <a:pt x="1483168" y="7226"/>
                    <a:pt x="1496031" y="20089"/>
                  </a:cubicBezTo>
                  <a:cubicBezTo>
                    <a:pt x="1508894" y="32953"/>
                    <a:pt x="1516120" y="50399"/>
                    <a:pt x="1516120" y="68590"/>
                  </a:cubicBezTo>
                  <a:lnTo>
                    <a:pt x="1516120" y="809439"/>
                  </a:lnTo>
                  <a:cubicBezTo>
                    <a:pt x="1516120" y="827630"/>
                    <a:pt x="1508894" y="845076"/>
                    <a:pt x="1496031" y="857939"/>
                  </a:cubicBezTo>
                  <a:cubicBezTo>
                    <a:pt x="1483168" y="870803"/>
                    <a:pt x="1465722" y="878029"/>
                    <a:pt x="1447531" y="878029"/>
                  </a:cubicBezTo>
                  <a:lnTo>
                    <a:pt x="68590" y="878029"/>
                  </a:lnTo>
                  <a:cubicBezTo>
                    <a:pt x="50399" y="878029"/>
                    <a:pt x="32953" y="870803"/>
                    <a:pt x="20089" y="857939"/>
                  </a:cubicBezTo>
                  <a:cubicBezTo>
                    <a:pt x="7226" y="845076"/>
                    <a:pt x="0" y="827630"/>
                    <a:pt x="0" y="809439"/>
                  </a:cubicBezTo>
                  <a:lnTo>
                    <a:pt x="0" y="68590"/>
                  </a:lnTo>
                  <a:cubicBezTo>
                    <a:pt x="0" y="50399"/>
                    <a:pt x="7226" y="32953"/>
                    <a:pt x="20089" y="20089"/>
                  </a:cubicBezTo>
                  <a:cubicBezTo>
                    <a:pt x="32953" y="7226"/>
                    <a:pt x="50399" y="0"/>
                    <a:pt x="68590" y="0"/>
                  </a:cubicBezTo>
                  <a:close/>
                </a:path>
              </a:pathLst>
            </a:custGeom>
            <a:solidFill>
              <a:srgbClr val="304543"/>
            </a:solidFill>
          </p:spPr>
        </p:sp>
        <p:sp>
          <p:nvSpPr>
            <p:cNvPr name="TextBox 21" id="21"/>
            <p:cNvSpPr txBox="true"/>
            <p:nvPr/>
          </p:nvSpPr>
          <p:spPr>
            <a:xfrm>
              <a:off x="0" y="-47625"/>
              <a:ext cx="1516120" cy="925654"/>
            </a:xfrm>
            <a:prstGeom prst="rect">
              <a:avLst/>
            </a:prstGeom>
          </p:spPr>
          <p:txBody>
            <a:bodyPr anchor="ctr" rtlCol="false" tIns="50800" lIns="50800" bIns="50800" rIns="50800"/>
            <a:lstStyle/>
            <a:p>
              <a:pPr algn="ctr">
                <a:lnSpc>
                  <a:spcPts val="2939"/>
                </a:lnSpc>
              </a:pPr>
            </a:p>
          </p:txBody>
        </p:sp>
      </p:grpSp>
      <p:graphicFrame>
        <p:nvGraphicFramePr>
          <p:cNvPr name="Object 22" id="22"/>
          <p:cNvGraphicFramePr/>
          <p:nvPr/>
        </p:nvGraphicFramePr>
        <p:xfrm>
          <a:off x="3468748" y="1834034"/>
          <a:ext cx="3771900" cy="3771900"/>
        </p:xfrm>
        <a:graphic>
          <a:graphicData uri="http://schemas.openxmlformats.org/presentationml/2006/ole">
            <p:oleObj imgW="4521200" imgH="4521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3" id="23"/>
          <p:cNvSpPr txBox="true"/>
          <p:nvPr/>
        </p:nvSpPr>
        <p:spPr>
          <a:xfrm rot="0">
            <a:off x="17259300" y="956310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19</a:t>
            </a:r>
          </a:p>
        </p:txBody>
      </p:sp>
      <p:sp>
        <p:nvSpPr>
          <p:cNvPr name="TextBox 24" id="24"/>
          <p:cNvSpPr txBox="true"/>
          <p:nvPr/>
        </p:nvSpPr>
        <p:spPr>
          <a:xfrm rot="0">
            <a:off x="89170" y="9546146"/>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pic>
        <p:nvPicPr>
          <p:cNvPr name="Picture 25" id="25"/>
          <p:cNvPicPr>
            <a:picLocks noChangeAspect="true"/>
          </p:cNvPicPr>
          <p:nvPr/>
        </p:nvPicPr>
        <p:blipFill>
          <a:blip r:embed="rId7"/>
          <a:stretch>
            <a:fillRect/>
          </a:stretch>
        </p:blipFill>
        <p:spPr>
          <a:xfrm rot="-971487">
            <a:off x="9507406" y="3276629"/>
            <a:ext cx="2921022" cy="2274099"/>
          </a:xfrm>
          <a:prstGeom prst="rect">
            <a:avLst/>
          </a:prstGeom>
        </p:spPr>
      </p:pic>
      <p:pic>
        <p:nvPicPr>
          <p:cNvPr name="Picture 26" id="26"/>
          <p:cNvPicPr>
            <a:picLocks noChangeAspect="true"/>
          </p:cNvPicPr>
          <p:nvPr/>
        </p:nvPicPr>
        <p:blipFill>
          <a:blip r:embed="rId8"/>
          <a:stretch>
            <a:fillRect/>
          </a:stretch>
        </p:blipFill>
        <p:spPr>
          <a:xfrm rot="-5730181">
            <a:off x="600806" y="2933367"/>
            <a:ext cx="2832089" cy="2230091"/>
          </a:xfrm>
          <a:prstGeom prst="rect">
            <a:avLst/>
          </a:prstGeom>
        </p:spPr>
      </p:pic>
      <p:sp>
        <p:nvSpPr>
          <p:cNvPr name="TextBox 27" id="27"/>
          <p:cNvSpPr txBox="true"/>
          <p:nvPr/>
        </p:nvSpPr>
        <p:spPr>
          <a:xfrm rot="0">
            <a:off x="585347" y="5977583"/>
            <a:ext cx="4658916"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m</a:t>
            </a:r>
            <a:r>
              <a:rPr lang="en-US" sz="1599">
                <a:solidFill>
                  <a:srgbClr val="F5F5EF"/>
                </a:solidFill>
                <a:latin typeface="Roboto"/>
                <a:ea typeface="Roboto"/>
                <a:cs typeface="Roboto"/>
                <a:sym typeface="Roboto"/>
              </a:rPr>
              <a:t>d.sleep_quality,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(m.avg_daily_screen_time_hours), 2) </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avg_screen_time_hours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Mental_Detox md</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md.participant_id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md.sleep_quality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avg_screen_time_hours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8" id="28"/>
          <p:cNvSpPr txBox="true"/>
          <p:nvPr/>
        </p:nvSpPr>
        <p:spPr>
          <a:xfrm rot="0">
            <a:off x="12385921" y="1231251"/>
            <a:ext cx="5377404" cy="3813210"/>
          </a:xfrm>
          <a:prstGeom prst="rect">
            <a:avLst/>
          </a:prstGeom>
        </p:spPr>
        <p:txBody>
          <a:bodyPr anchor="t" rtlCol="false" tIns="0" lIns="0" bIns="0" rIns="0">
            <a:spAutoFit/>
          </a:bodyPr>
          <a:lstStyle/>
          <a:p>
            <a:pPr algn="l">
              <a:lnSpc>
                <a:spcPts val="1923"/>
              </a:lnSpc>
            </a:pPr>
            <a:r>
              <a:rPr lang="en-US" sz="1373">
                <a:solidFill>
                  <a:srgbClr val="0CC0DF"/>
                </a:solidFill>
                <a:latin typeface="Roboto"/>
                <a:ea typeface="Roboto"/>
                <a:cs typeface="Roboto"/>
                <a:sym typeface="Roboto"/>
              </a:rPr>
              <a:t>SELECT </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CASE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t>
            </a:r>
            <a:r>
              <a:rPr lang="en-US" sz="1373">
                <a:solidFill>
                  <a:srgbClr val="F5F5EF"/>
                </a:solidFill>
                <a:latin typeface="Roboto"/>
                <a:ea typeface="Roboto"/>
                <a:cs typeface="Roboto"/>
                <a:sym typeface="Roboto"/>
              </a:rPr>
              <a:t>.avg_daily_sm_hours &lt; 3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'Low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m.avg_daily_sm_hours &lt; 6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'Medium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ELSE </a:t>
            </a:r>
            <a:r>
              <a:rPr lang="en-US" sz="1373">
                <a:solidFill>
                  <a:srgbClr val="B34057"/>
                </a:solidFill>
                <a:latin typeface="Roboto"/>
                <a:ea typeface="Roboto"/>
                <a:cs typeface="Roboto"/>
                <a:sym typeface="Roboto"/>
              </a:rPr>
              <a:t>'High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END AS</a:t>
            </a:r>
            <a:r>
              <a:rPr lang="en-US" sz="1373">
                <a:solidFill>
                  <a:srgbClr val="F5F5EF"/>
                </a:solidFill>
                <a:latin typeface="Roboto"/>
                <a:ea typeface="Roboto"/>
                <a:cs typeface="Roboto"/>
                <a:sym typeface="Roboto"/>
              </a:rPr>
              <a:t> social_media_usage_level,</a:t>
            </a:r>
          </a:p>
          <a:p>
            <a:pPr algn="l">
              <a:lnSpc>
                <a:spcPts val="1923"/>
              </a:lnSpc>
            </a:pPr>
            <a:r>
              <a:rPr lang="en-US" sz="1373">
                <a:solidFill>
                  <a:srgbClr val="F5F5EF"/>
                </a:solidFill>
                <a:latin typeface="Roboto"/>
                <a:ea typeface="Roboto"/>
                <a:cs typeface="Roboto"/>
                <a:sym typeface="Roboto"/>
              </a:rPr>
              <a:t>     md.mental_fog_frequency,</a:t>
            </a:r>
          </a:p>
          <a:p>
            <a:pPr algn="l">
              <a:lnSpc>
                <a:spcPts val="1923"/>
              </a:lnSpc>
            </a:pPr>
            <a:r>
              <a:rPr lang="en-US" sz="1373">
                <a:solidFill>
                  <a:srgbClr val="F5F5EF"/>
                </a:solidFill>
                <a:latin typeface="Roboto"/>
                <a:ea typeface="Roboto"/>
                <a:cs typeface="Roboto"/>
                <a:sym typeface="Roboto"/>
              </a:rPr>
              <a:t>     </a:t>
            </a:r>
            <a:r>
              <a:rPr lang="en-US" sz="1373">
                <a:solidFill>
                  <a:srgbClr val="FF66C4"/>
                </a:solidFill>
                <a:latin typeface="Roboto"/>
                <a:ea typeface="Roboto"/>
                <a:cs typeface="Roboto"/>
                <a:sym typeface="Roboto"/>
              </a:rPr>
              <a:t>COUNT</a:t>
            </a:r>
            <a:r>
              <a:rPr lang="en-US" sz="1373">
                <a:solidFill>
                  <a:srgbClr val="F5F5EF"/>
                </a:solidFill>
                <a:latin typeface="Roboto"/>
                <a:ea typeface="Roboto"/>
                <a:cs typeface="Roboto"/>
                <a:sym typeface="Roboto"/>
              </a:rPr>
              <a:t>(*) AS number_of_participants</a:t>
            </a:r>
          </a:p>
          <a:p>
            <a:pPr algn="l">
              <a:lnSpc>
                <a:spcPts val="1923"/>
              </a:lnSpc>
            </a:pPr>
            <a:r>
              <a:rPr lang="en-US" sz="1373">
                <a:solidFill>
                  <a:srgbClr val="0CC0DF"/>
                </a:solidFill>
                <a:latin typeface="Roboto"/>
                <a:ea typeface="Roboto"/>
                <a:cs typeface="Roboto"/>
                <a:sym typeface="Roboto"/>
              </a:rPr>
              <a:t>FROM </a:t>
            </a:r>
            <a:r>
              <a:rPr lang="en-US" sz="1373">
                <a:solidFill>
                  <a:srgbClr val="F5F5EF"/>
                </a:solidFill>
                <a:latin typeface="Roboto"/>
                <a:ea typeface="Roboto"/>
                <a:cs typeface="Roboto"/>
                <a:sym typeface="Roboto"/>
              </a:rPr>
              <a:t>Fact_User_Metrics m</a:t>
            </a:r>
          </a:p>
          <a:p>
            <a:pPr algn="l">
              <a:lnSpc>
                <a:spcPts val="1923"/>
              </a:lnSpc>
            </a:pPr>
            <a:r>
              <a:rPr lang="en-US" sz="1373">
                <a:solidFill>
                  <a:srgbClr val="D9D9D9"/>
                </a:solidFill>
                <a:latin typeface="Roboto"/>
                <a:ea typeface="Roboto"/>
                <a:cs typeface="Roboto"/>
                <a:sym typeface="Roboto"/>
              </a:rPr>
              <a:t>JOIN </a:t>
            </a:r>
            <a:r>
              <a:rPr lang="en-US" sz="1373">
                <a:solidFill>
                  <a:srgbClr val="F5F5EF"/>
                </a:solidFill>
                <a:latin typeface="Roboto"/>
                <a:ea typeface="Roboto"/>
                <a:cs typeface="Roboto"/>
                <a:sym typeface="Roboto"/>
              </a:rPr>
              <a:t>Mental_Detox md</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ON </a:t>
            </a:r>
            <a:r>
              <a:rPr lang="en-US" sz="1373">
                <a:solidFill>
                  <a:srgbClr val="F5F5EF"/>
                </a:solidFill>
                <a:latin typeface="Roboto"/>
                <a:ea typeface="Roboto"/>
                <a:cs typeface="Roboto"/>
                <a:sym typeface="Roboto"/>
              </a:rPr>
              <a:t>m.participant_id = md.participant_id</a:t>
            </a:r>
          </a:p>
          <a:p>
            <a:pPr algn="l">
              <a:lnSpc>
                <a:spcPts val="1923"/>
              </a:lnSpc>
            </a:pPr>
            <a:r>
              <a:rPr lang="en-US" sz="1373">
                <a:solidFill>
                  <a:srgbClr val="0CC0DF"/>
                </a:solidFill>
                <a:latin typeface="Roboto"/>
                <a:ea typeface="Roboto"/>
                <a:cs typeface="Roboto"/>
                <a:sym typeface="Roboto"/>
              </a:rPr>
              <a:t>GROUP BY CASE</a:t>
            </a:r>
          </a:p>
          <a:p>
            <a:pPr algn="l">
              <a:lnSpc>
                <a:spcPts val="1923"/>
              </a:lnSpc>
            </a:pPr>
            <a:r>
              <a:rPr lang="en-US" sz="1373">
                <a:solidFill>
                  <a:srgbClr val="0CC0DF"/>
                </a:solidFill>
                <a:latin typeface="Roboto"/>
                <a:ea typeface="Roboto"/>
                <a:cs typeface="Roboto"/>
                <a:sym typeface="Roboto"/>
              </a:rPr>
              <a:t>        WHEN</a:t>
            </a:r>
            <a:r>
              <a:rPr lang="en-US" sz="1373">
                <a:solidFill>
                  <a:srgbClr val="F5F5EF"/>
                </a:solidFill>
                <a:latin typeface="Roboto"/>
                <a:ea typeface="Roboto"/>
                <a:cs typeface="Roboto"/>
                <a:sym typeface="Roboto"/>
              </a:rPr>
              <a:t> m.avg_daily_sm_hours &lt; 3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'Low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m.avg_daily_sm_hours &lt; 6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'Medium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ELSE </a:t>
            </a:r>
            <a:r>
              <a:rPr lang="en-US" sz="1373">
                <a:solidFill>
                  <a:srgbClr val="B34057"/>
                </a:solidFill>
                <a:latin typeface="Roboto"/>
                <a:ea typeface="Roboto"/>
                <a:cs typeface="Roboto"/>
                <a:sym typeface="Roboto"/>
              </a:rPr>
              <a:t>'High Usage'</a:t>
            </a:r>
            <a:r>
              <a:rPr lang="en-US" sz="1373">
                <a:solidFill>
                  <a:srgbClr val="F5F5EF"/>
                </a:solidFill>
                <a:latin typeface="Roboto"/>
                <a:ea typeface="Roboto"/>
                <a:cs typeface="Roboto"/>
                <a:sym typeface="Roboto"/>
              </a:rPr>
              <a:t> </a:t>
            </a:r>
            <a:r>
              <a:rPr lang="en-US" sz="1373">
                <a:solidFill>
                  <a:srgbClr val="B34057"/>
                </a:solidFill>
                <a:latin typeface="Roboto"/>
                <a:ea typeface="Roboto"/>
                <a:cs typeface="Roboto"/>
                <a:sym typeface="Roboto"/>
              </a:rPr>
              <a:t>END</a:t>
            </a:r>
            <a:r>
              <a:rPr lang="en-US" sz="1373">
                <a:solidFill>
                  <a:srgbClr val="F5F5EF"/>
                </a:solidFill>
                <a:latin typeface="Roboto"/>
                <a:ea typeface="Roboto"/>
                <a:cs typeface="Roboto"/>
                <a:sym typeface="Roboto"/>
              </a:rPr>
              <a:t>,    md.mental_fog_frequency</a:t>
            </a:r>
          </a:p>
          <a:p>
            <a:pPr algn="l">
              <a:lnSpc>
                <a:spcPts val="1923"/>
              </a:lnSpc>
            </a:pPr>
            <a:r>
              <a:rPr lang="en-US" sz="1373">
                <a:solidFill>
                  <a:srgbClr val="0CC0DF"/>
                </a:solidFill>
                <a:latin typeface="Roboto"/>
                <a:ea typeface="Roboto"/>
                <a:cs typeface="Roboto"/>
                <a:sym typeface="Roboto"/>
              </a:rPr>
              <a:t>ORDER BY</a:t>
            </a:r>
            <a:r>
              <a:rPr lang="en-US" sz="1373">
                <a:solidFill>
                  <a:srgbClr val="F5F5EF"/>
                </a:solidFill>
                <a:latin typeface="Roboto"/>
                <a:ea typeface="Roboto"/>
                <a:cs typeface="Roboto"/>
                <a:sym typeface="Roboto"/>
              </a:rPr>
              <a:t> social_media_usage_level, number_of_participants DESC;</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0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sp>
        <p:nvSpPr>
          <p:cNvPr name="TextBox 6" id="6"/>
          <p:cNvSpPr txBox="true"/>
          <p:nvPr/>
        </p:nvSpPr>
        <p:spPr>
          <a:xfrm rot="0">
            <a:off x="93694" y="6234"/>
            <a:ext cx="8617966" cy="646387"/>
          </a:xfrm>
          <a:prstGeom prst="rect">
            <a:avLst/>
          </a:prstGeom>
        </p:spPr>
        <p:txBody>
          <a:bodyPr anchor="t" rtlCol="false" tIns="0" lIns="0" bIns="0" rIns="0">
            <a:spAutoFit/>
          </a:bodyPr>
          <a:lstStyle/>
          <a:p>
            <a:pPr algn="l">
              <a:lnSpc>
                <a:spcPts val="5322"/>
              </a:lnSpc>
              <a:spcBef>
                <a:spcPct val="0"/>
              </a:spcBef>
            </a:pPr>
            <a:r>
              <a:rPr lang="en-US" sz="3801" b="true">
                <a:solidFill>
                  <a:srgbClr val="000000"/>
                </a:solidFill>
                <a:latin typeface="Cormorant Garamond Bold"/>
                <a:ea typeface="Cormorant Garamond Bold"/>
                <a:cs typeface="Cormorant Garamond Bold"/>
                <a:sym typeface="Cormorant Garamond Bold"/>
              </a:rPr>
              <a:t> Social Media, Sleep &amp; Mental Wellbeing</a:t>
            </a:r>
          </a:p>
        </p:txBody>
      </p:sp>
      <p:grpSp>
        <p:nvGrpSpPr>
          <p:cNvPr name="Group 7" id="7"/>
          <p:cNvGrpSpPr/>
          <p:nvPr/>
        </p:nvGrpSpPr>
        <p:grpSpPr>
          <a:xfrm rot="0">
            <a:off x="343378" y="1842369"/>
            <a:ext cx="5563714" cy="4687456"/>
            <a:chOff x="0" y="0"/>
            <a:chExt cx="1465340" cy="1234556"/>
          </a:xfrm>
        </p:grpSpPr>
        <p:sp>
          <p:nvSpPr>
            <p:cNvPr name="Freeform 8" id="8"/>
            <p:cNvSpPr/>
            <p:nvPr/>
          </p:nvSpPr>
          <p:spPr>
            <a:xfrm flipH="false" flipV="false" rot="0">
              <a:off x="0" y="0"/>
              <a:ext cx="1465340" cy="1234556"/>
            </a:xfrm>
            <a:custGeom>
              <a:avLst/>
              <a:gdLst/>
              <a:ahLst/>
              <a:cxnLst/>
              <a:rect r="r" b="b" t="t" l="l"/>
              <a:pathLst>
                <a:path h="1234556" w="1465340">
                  <a:moveTo>
                    <a:pt x="70967" y="0"/>
                  </a:moveTo>
                  <a:lnTo>
                    <a:pt x="1394374" y="0"/>
                  </a:lnTo>
                  <a:cubicBezTo>
                    <a:pt x="1433568" y="0"/>
                    <a:pt x="1465340" y="31773"/>
                    <a:pt x="1465340" y="70967"/>
                  </a:cubicBezTo>
                  <a:lnTo>
                    <a:pt x="1465340" y="1163590"/>
                  </a:lnTo>
                  <a:cubicBezTo>
                    <a:pt x="1465340" y="1182411"/>
                    <a:pt x="1457864" y="1200462"/>
                    <a:pt x="1444555" y="1213771"/>
                  </a:cubicBezTo>
                  <a:cubicBezTo>
                    <a:pt x="1431246" y="1227080"/>
                    <a:pt x="1413195" y="1234556"/>
                    <a:pt x="1394374" y="1234556"/>
                  </a:cubicBezTo>
                  <a:lnTo>
                    <a:pt x="70967" y="1234556"/>
                  </a:lnTo>
                  <a:cubicBezTo>
                    <a:pt x="31773" y="1234556"/>
                    <a:pt x="0" y="1202784"/>
                    <a:pt x="0" y="1163590"/>
                  </a:cubicBezTo>
                  <a:lnTo>
                    <a:pt x="0" y="70967"/>
                  </a:lnTo>
                  <a:cubicBezTo>
                    <a:pt x="0" y="31773"/>
                    <a:pt x="31773" y="0"/>
                    <a:pt x="70967" y="0"/>
                  </a:cubicBezTo>
                  <a:close/>
                </a:path>
              </a:pathLst>
            </a:custGeom>
            <a:solidFill>
              <a:srgbClr val="304543"/>
            </a:solidFill>
          </p:spPr>
        </p:sp>
        <p:sp>
          <p:nvSpPr>
            <p:cNvPr name="TextBox 9" id="9"/>
            <p:cNvSpPr txBox="true"/>
            <p:nvPr/>
          </p:nvSpPr>
          <p:spPr>
            <a:xfrm>
              <a:off x="0" y="-47625"/>
              <a:ext cx="1465340" cy="1282181"/>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7108894" y="567891"/>
            <a:ext cx="5984561" cy="3444661"/>
            <a:chOff x="0" y="0"/>
            <a:chExt cx="1576181" cy="907236"/>
          </a:xfrm>
        </p:grpSpPr>
        <p:sp>
          <p:nvSpPr>
            <p:cNvPr name="Freeform 11" id="11"/>
            <p:cNvSpPr/>
            <p:nvPr/>
          </p:nvSpPr>
          <p:spPr>
            <a:xfrm flipH="false" flipV="false" rot="0">
              <a:off x="0" y="0"/>
              <a:ext cx="1576181" cy="907236"/>
            </a:xfrm>
            <a:custGeom>
              <a:avLst/>
              <a:gdLst/>
              <a:ahLst/>
              <a:cxnLst/>
              <a:rect r="r" b="b" t="t" l="l"/>
              <a:pathLst>
                <a:path h="907236" w="1576181">
                  <a:moveTo>
                    <a:pt x="65976" y="0"/>
                  </a:moveTo>
                  <a:lnTo>
                    <a:pt x="1510205" y="0"/>
                  </a:lnTo>
                  <a:cubicBezTo>
                    <a:pt x="1546642" y="0"/>
                    <a:pt x="1576181" y="29539"/>
                    <a:pt x="1576181" y="65976"/>
                  </a:cubicBezTo>
                  <a:lnTo>
                    <a:pt x="1576181" y="841260"/>
                  </a:lnTo>
                  <a:cubicBezTo>
                    <a:pt x="1576181" y="858758"/>
                    <a:pt x="1569230" y="875539"/>
                    <a:pt x="1556857" y="887912"/>
                  </a:cubicBezTo>
                  <a:cubicBezTo>
                    <a:pt x="1544484" y="900285"/>
                    <a:pt x="1527703" y="907236"/>
                    <a:pt x="1510205" y="907236"/>
                  </a:cubicBezTo>
                  <a:lnTo>
                    <a:pt x="65976" y="907236"/>
                  </a:lnTo>
                  <a:cubicBezTo>
                    <a:pt x="29539" y="907236"/>
                    <a:pt x="0" y="877697"/>
                    <a:pt x="0" y="841260"/>
                  </a:cubicBezTo>
                  <a:lnTo>
                    <a:pt x="0" y="65976"/>
                  </a:lnTo>
                  <a:cubicBezTo>
                    <a:pt x="0" y="48478"/>
                    <a:pt x="6951" y="31697"/>
                    <a:pt x="19324" y="19324"/>
                  </a:cubicBezTo>
                  <a:cubicBezTo>
                    <a:pt x="31697" y="6951"/>
                    <a:pt x="48478" y="0"/>
                    <a:pt x="65976" y="0"/>
                  </a:cubicBezTo>
                  <a:close/>
                </a:path>
              </a:pathLst>
            </a:custGeom>
            <a:solidFill>
              <a:srgbClr val="304543"/>
            </a:solidFill>
          </p:spPr>
        </p:sp>
        <p:sp>
          <p:nvSpPr>
            <p:cNvPr name="TextBox 12" id="12"/>
            <p:cNvSpPr txBox="true"/>
            <p:nvPr/>
          </p:nvSpPr>
          <p:spPr>
            <a:xfrm>
              <a:off x="0" y="-47625"/>
              <a:ext cx="1576181" cy="954861"/>
            </a:xfrm>
            <a:prstGeom prst="rect">
              <a:avLst/>
            </a:prstGeom>
          </p:spPr>
          <p:txBody>
            <a:bodyPr anchor="ctr" rtlCol="false" tIns="50800" lIns="50800" bIns="50800" rIns="50800"/>
            <a:lstStyle/>
            <a:p>
              <a:pPr algn="ctr">
                <a:lnSpc>
                  <a:spcPts val="2939"/>
                </a:lnSpc>
              </a:pPr>
            </a:p>
          </p:txBody>
        </p:sp>
      </p:grpSp>
      <p:graphicFrame>
        <p:nvGraphicFramePr>
          <p:cNvPr name="Object 13" id="13"/>
          <p:cNvGraphicFramePr/>
          <p:nvPr/>
        </p:nvGraphicFramePr>
        <p:xfrm>
          <a:off x="7243929" y="772064"/>
          <a:ext cx="3771900" cy="3143250"/>
        </p:xfrm>
        <a:graphic>
          <a:graphicData uri="http://schemas.openxmlformats.org/presentationml/2006/ole">
            <p:oleObj imgW="4521200" imgH="3886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4" id="14"/>
          <p:cNvSpPr txBox="true"/>
          <p:nvPr/>
        </p:nvSpPr>
        <p:spPr>
          <a:xfrm rot="0">
            <a:off x="488596" y="1961391"/>
            <a:ext cx="5273279" cy="691760"/>
          </a:xfrm>
          <a:prstGeom prst="rect">
            <a:avLst/>
          </a:prstGeom>
        </p:spPr>
        <p:txBody>
          <a:bodyPr anchor="t" rtlCol="false" tIns="0" lIns="0" bIns="0" rIns="0">
            <a:spAutoFit/>
          </a:bodyPr>
          <a:lstStyle/>
          <a:p>
            <a:pPr algn="ctr">
              <a:lnSpc>
                <a:spcPts val="2821"/>
              </a:lnSpc>
              <a:spcBef>
                <a:spcPct val="0"/>
              </a:spcBef>
            </a:pPr>
            <a:r>
              <a:rPr lang="en-US" sz="2015">
                <a:solidFill>
                  <a:srgbClr val="C1DFC1"/>
                </a:solidFill>
                <a:latin typeface="Guild A Display"/>
                <a:ea typeface="Guild A Display"/>
                <a:cs typeface="Guild A Display"/>
                <a:sym typeface="Guild A Display"/>
              </a:rPr>
              <a:t>5. Is irritability when offline associated with social media addiction risk?</a:t>
            </a:r>
          </a:p>
        </p:txBody>
      </p:sp>
      <p:grpSp>
        <p:nvGrpSpPr>
          <p:cNvPr name="Group 15" id="15"/>
          <p:cNvGrpSpPr/>
          <p:nvPr/>
        </p:nvGrpSpPr>
        <p:grpSpPr>
          <a:xfrm rot="0">
            <a:off x="12066649" y="4012552"/>
            <a:ext cx="5694716" cy="4203877"/>
            <a:chOff x="0" y="0"/>
            <a:chExt cx="1499843" cy="1107194"/>
          </a:xfrm>
        </p:grpSpPr>
        <p:sp>
          <p:nvSpPr>
            <p:cNvPr name="Freeform 16" id="16"/>
            <p:cNvSpPr/>
            <p:nvPr/>
          </p:nvSpPr>
          <p:spPr>
            <a:xfrm flipH="false" flipV="false" rot="0">
              <a:off x="0" y="0"/>
              <a:ext cx="1499843" cy="1107194"/>
            </a:xfrm>
            <a:custGeom>
              <a:avLst/>
              <a:gdLst/>
              <a:ahLst/>
              <a:cxnLst/>
              <a:rect r="r" b="b" t="t" l="l"/>
              <a:pathLst>
                <a:path h="1107194" w="1499843">
                  <a:moveTo>
                    <a:pt x="69334" y="0"/>
                  </a:moveTo>
                  <a:lnTo>
                    <a:pt x="1430509" y="0"/>
                  </a:lnTo>
                  <a:cubicBezTo>
                    <a:pt x="1468801" y="0"/>
                    <a:pt x="1499843" y="31042"/>
                    <a:pt x="1499843" y="69334"/>
                  </a:cubicBezTo>
                  <a:lnTo>
                    <a:pt x="1499843" y="1037860"/>
                  </a:lnTo>
                  <a:cubicBezTo>
                    <a:pt x="1499843" y="1056248"/>
                    <a:pt x="1492538" y="1073884"/>
                    <a:pt x="1479535" y="1086886"/>
                  </a:cubicBezTo>
                  <a:cubicBezTo>
                    <a:pt x="1466533" y="1099889"/>
                    <a:pt x="1448897" y="1107194"/>
                    <a:pt x="1430509" y="1107194"/>
                  </a:cubicBezTo>
                  <a:lnTo>
                    <a:pt x="69334" y="1107194"/>
                  </a:lnTo>
                  <a:cubicBezTo>
                    <a:pt x="31042" y="1107194"/>
                    <a:pt x="0" y="1076152"/>
                    <a:pt x="0" y="1037860"/>
                  </a:cubicBezTo>
                  <a:lnTo>
                    <a:pt x="0" y="69334"/>
                  </a:lnTo>
                  <a:cubicBezTo>
                    <a:pt x="0" y="50946"/>
                    <a:pt x="7305" y="33310"/>
                    <a:pt x="20307" y="20307"/>
                  </a:cubicBezTo>
                  <a:cubicBezTo>
                    <a:pt x="33310" y="7305"/>
                    <a:pt x="50946" y="0"/>
                    <a:pt x="69334" y="0"/>
                  </a:cubicBezTo>
                  <a:close/>
                </a:path>
              </a:pathLst>
            </a:custGeom>
            <a:solidFill>
              <a:srgbClr val="304543"/>
            </a:solidFill>
          </p:spPr>
        </p:sp>
        <p:sp>
          <p:nvSpPr>
            <p:cNvPr name="TextBox 17" id="17"/>
            <p:cNvSpPr txBox="true"/>
            <p:nvPr/>
          </p:nvSpPr>
          <p:spPr>
            <a:xfrm>
              <a:off x="0" y="-47625"/>
              <a:ext cx="1499843" cy="1154819"/>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grpSp>
        <p:nvGrpSpPr>
          <p:cNvPr name="Group 18" id="18"/>
          <p:cNvGrpSpPr/>
          <p:nvPr/>
        </p:nvGrpSpPr>
        <p:grpSpPr>
          <a:xfrm rot="0">
            <a:off x="5907092" y="5799794"/>
            <a:ext cx="5695301" cy="3287325"/>
            <a:chOff x="0" y="0"/>
            <a:chExt cx="1499997" cy="865798"/>
          </a:xfrm>
        </p:grpSpPr>
        <p:sp>
          <p:nvSpPr>
            <p:cNvPr name="Freeform 19" id="19"/>
            <p:cNvSpPr/>
            <p:nvPr/>
          </p:nvSpPr>
          <p:spPr>
            <a:xfrm flipH="false" flipV="false" rot="0">
              <a:off x="0" y="0"/>
              <a:ext cx="1499997" cy="865798"/>
            </a:xfrm>
            <a:custGeom>
              <a:avLst/>
              <a:gdLst/>
              <a:ahLst/>
              <a:cxnLst/>
              <a:rect r="r" b="b" t="t" l="l"/>
              <a:pathLst>
                <a:path h="865798" w="1499997">
                  <a:moveTo>
                    <a:pt x="69327" y="0"/>
                  </a:moveTo>
                  <a:lnTo>
                    <a:pt x="1430670" y="0"/>
                  </a:lnTo>
                  <a:cubicBezTo>
                    <a:pt x="1449057" y="0"/>
                    <a:pt x="1466690" y="7304"/>
                    <a:pt x="1479692" y="20305"/>
                  </a:cubicBezTo>
                  <a:cubicBezTo>
                    <a:pt x="1492693" y="33307"/>
                    <a:pt x="1499997" y="50940"/>
                    <a:pt x="1499997" y="69327"/>
                  </a:cubicBezTo>
                  <a:lnTo>
                    <a:pt x="1499997" y="796471"/>
                  </a:lnTo>
                  <a:cubicBezTo>
                    <a:pt x="1499997" y="814857"/>
                    <a:pt x="1492693" y="832491"/>
                    <a:pt x="1479692" y="845492"/>
                  </a:cubicBezTo>
                  <a:cubicBezTo>
                    <a:pt x="1466690" y="858494"/>
                    <a:pt x="1449057" y="865798"/>
                    <a:pt x="1430670" y="865798"/>
                  </a:cubicBezTo>
                  <a:lnTo>
                    <a:pt x="69327" y="865798"/>
                  </a:lnTo>
                  <a:cubicBezTo>
                    <a:pt x="50940" y="865798"/>
                    <a:pt x="33307" y="858494"/>
                    <a:pt x="20305" y="845492"/>
                  </a:cubicBezTo>
                  <a:cubicBezTo>
                    <a:pt x="7304" y="832491"/>
                    <a:pt x="0" y="814857"/>
                    <a:pt x="0" y="796471"/>
                  </a:cubicBezTo>
                  <a:lnTo>
                    <a:pt x="0" y="69327"/>
                  </a:lnTo>
                  <a:cubicBezTo>
                    <a:pt x="0" y="50940"/>
                    <a:pt x="7304" y="33307"/>
                    <a:pt x="20305" y="20305"/>
                  </a:cubicBezTo>
                  <a:cubicBezTo>
                    <a:pt x="33307" y="7304"/>
                    <a:pt x="50940" y="0"/>
                    <a:pt x="69327" y="0"/>
                  </a:cubicBezTo>
                  <a:close/>
                </a:path>
              </a:pathLst>
            </a:custGeom>
            <a:solidFill>
              <a:srgbClr val="304543"/>
            </a:solidFill>
          </p:spPr>
        </p:sp>
        <p:sp>
          <p:nvSpPr>
            <p:cNvPr name="TextBox 20" id="20"/>
            <p:cNvSpPr txBox="true"/>
            <p:nvPr/>
          </p:nvSpPr>
          <p:spPr>
            <a:xfrm>
              <a:off x="0" y="-47625"/>
              <a:ext cx="1499997" cy="913423"/>
            </a:xfrm>
            <a:prstGeom prst="rect">
              <a:avLst/>
            </a:prstGeom>
          </p:spPr>
          <p:txBody>
            <a:bodyPr anchor="ctr" rtlCol="false" tIns="50800" lIns="50800" bIns="50800" rIns="50800"/>
            <a:lstStyle/>
            <a:p>
              <a:pPr algn="ctr">
                <a:lnSpc>
                  <a:spcPts val="2939"/>
                </a:lnSpc>
              </a:pPr>
            </a:p>
          </p:txBody>
        </p:sp>
      </p:grpSp>
      <p:graphicFrame>
        <p:nvGraphicFramePr>
          <p:cNvPr name="Object 21" id="21"/>
          <p:cNvGraphicFramePr/>
          <p:nvPr/>
        </p:nvGraphicFramePr>
        <p:xfrm>
          <a:off x="6193736" y="5933822"/>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4773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20</a:t>
            </a:r>
          </a:p>
        </p:txBody>
      </p:sp>
      <p:sp>
        <p:nvSpPr>
          <p:cNvPr name="TextBox 23" id="23"/>
          <p:cNvSpPr txBox="true"/>
          <p:nvPr/>
        </p:nvSpPr>
        <p:spPr>
          <a:xfrm rot="0">
            <a:off x="89170" y="9557165"/>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pic>
        <p:nvPicPr>
          <p:cNvPr name="Picture 24" id="24"/>
          <p:cNvPicPr>
            <a:picLocks noChangeAspect="true"/>
          </p:cNvPicPr>
          <p:nvPr/>
        </p:nvPicPr>
        <p:blipFill>
          <a:blip r:embed="rId7"/>
          <a:stretch>
            <a:fillRect/>
          </a:stretch>
        </p:blipFill>
        <p:spPr>
          <a:xfrm rot="7529914">
            <a:off x="11343456" y="8007688"/>
            <a:ext cx="1940830" cy="1528281"/>
          </a:xfrm>
          <a:prstGeom prst="rect">
            <a:avLst/>
          </a:prstGeom>
        </p:spPr>
      </p:pic>
      <p:pic>
        <p:nvPicPr>
          <p:cNvPr name="Picture 25" id="25"/>
          <p:cNvPicPr>
            <a:picLocks noChangeAspect="true"/>
          </p:cNvPicPr>
          <p:nvPr/>
        </p:nvPicPr>
        <p:blipFill>
          <a:blip r:embed="rId8"/>
          <a:stretch>
            <a:fillRect/>
          </a:stretch>
        </p:blipFill>
        <p:spPr>
          <a:xfrm rot="-3117104">
            <a:off x="5165681" y="611492"/>
            <a:ext cx="1940830" cy="1528281"/>
          </a:xfrm>
          <a:prstGeom prst="rect">
            <a:avLst/>
          </a:prstGeom>
        </p:spPr>
      </p:pic>
      <p:sp>
        <p:nvSpPr>
          <p:cNvPr name="TextBox 26" id="26"/>
          <p:cNvSpPr txBox="true"/>
          <p:nvPr/>
        </p:nvSpPr>
        <p:spPr>
          <a:xfrm rot="0">
            <a:off x="630021" y="3021034"/>
            <a:ext cx="5563714" cy="2473960"/>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md.irritability_when_offline,</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ROUND</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AVG</a:t>
            </a:r>
            <a:r>
              <a:rPr lang="en-US" sz="1599">
                <a:solidFill>
                  <a:srgbClr val="F5F5EF"/>
                </a:solidFill>
                <a:latin typeface="Canva Sans"/>
                <a:ea typeface="Canva Sans"/>
                <a:cs typeface="Canva Sans"/>
                <a:sym typeface="Canva Sans"/>
              </a:rPr>
              <a:t>(m.sm_addiction_risk_score), 2)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avg_addiction_risk</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Fact_User_Metrics m</a:t>
            </a:r>
          </a:p>
          <a:p>
            <a:pPr algn="l">
              <a:lnSpc>
                <a:spcPts val="2239"/>
              </a:lnSpc>
            </a:pPr>
            <a:r>
              <a:rPr lang="en-US" sz="1599">
                <a:solidFill>
                  <a:srgbClr val="D9D9D9"/>
                </a:solidFill>
                <a:latin typeface="Canva Sans"/>
                <a:ea typeface="Canva Sans"/>
                <a:cs typeface="Canva Sans"/>
                <a:sym typeface="Canva Sans"/>
              </a:rPr>
              <a:t>JOIN </a:t>
            </a:r>
            <a:r>
              <a:rPr lang="en-US" sz="1599">
                <a:solidFill>
                  <a:srgbClr val="F5F5EF"/>
                </a:solidFill>
                <a:latin typeface="Canva Sans"/>
                <a:ea typeface="Canva Sans"/>
                <a:cs typeface="Canva Sans"/>
                <a:sym typeface="Canva Sans"/>
              </a:rPr>
              <a:t>Mental_Detox md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ON </a:t>
            </a:r>
            <a:r>
              <a:rPr lang="en-US" sz="1599">
                <a:solidFill>
                  <a:srgbClr val="F5F5EF"/>
                </a:solidFill>
                <a:latin typeface="Canva Sans"/>
                <a:ea typeface="Canva Sans"/>
                <a:cs typeface="Canva Sans"/>
                <a:sym typeface="Canva Sans"/>
              </a:rPr>
              <a:t>m.participant_id = md.participant_id</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md.irritability_when_offline</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avg_addiction_risk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
        <p:nvSpPr>
          <p:cNvPr name="TextBox 27" id="27"/>
          <p:cNvSpPr txBox="true"/>
          <p:nvPr/>
        </p:nvSpPr>
        <p:spPr>
          <a:xfrm rot="0">
            <a:off x="12277367" y="4234202"/>
            <a:ext cx="5273279" cy="691760"/>
          </a:xfrm>
          <a:prstGeom prst="rect">
            <a:avLst/>
          </a:prstGeom>
        </p:spPr>
        <p:txBody>
          <a:bodyPr anchor="t" rtlCol="false" tIns="0" lIns="0" bIns="0" rIns="0">
            <a:spAutoFit/>
          </a:bodyPr>
          <a:lstStyle/>
          <a:p>
            <a:pPr algn="ctr">
              <a:lnSpc>
                <a:spcPts val="2821"/>
              </a:lnSpc>
              <a:spcBef>
                <a:spcPct val="0"/>
              </a:spcBef>
            </a:pPr>
            <a:r>
              <a:rPr lang="en-US" sz="2015">
                <a:solidFill>
                  <a:srgbClr val="C1DFC1"/>
                </a:solidFill>
                <a:latin typeface="Guild A Display"/>
                <a:ea typeface="Guild A Display"/>
                <a:cs typeface="Guild A Display"/>
                <a:sym typeface="Guild A Display"/>
              </a:rPr>
              <a:t>6</a:t>
            </a:r>
            <a:r>
              <a:rPr lang="en-US" sz="2015">
                <a:solidFill>
                  <a:srgbClr val="C1DFC1"/>
                </a:solidFill>
                <a:latin typeface="Guild A Display"/>
                <a:ea typeface="Guild A Display"/>
                <a:cs typeface="Guild A Display"/>
                <a:sym typeface="Guild A Display"/>
              </a:rPr>
              <a:t>. Is boredom-to-phone reflex associated with addiction risk?</a:t>
            </a:r>
          </a:p>
        </p:txBody>
      </p:sp>
      <p:sp>
        <p:nvSpPr>
          <p:cNvPr name="TextBox 28" id="28"/>
          <p:cNvSpPr txBox="true"/>
          <p:nvPr/>
        </p:nvSpPr>
        <p:spPr>
          <a:xfrm rot="0">
            <a:off x="12449305" y="5154561"/>
            <a:ext cx="5563714" cy="2473960"/>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md.boredom_to_phone_reflex,</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ROUND</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AVG</a:t>
            </a:r>
            <a:r>
              <a:rPr lang="en-US" sz="1599">
                <a:solidFill>
                  <a:srgbClr val="F5F5EF"/>
                </a:solidFill>
                <a:latin typeface="Canva Sans"/>
                <a:ea typeface="Canva Sans"/>
                <a:cs typeface="Canva Sans"/>
                <a:sym typeface="Canva Sans"/>
              </a:rPr>
              <a:t>(m.sm_addiction_risk_score), 2)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avg_addiction_risk</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Fact_User_Metrics m</a:t>
            </a:r>
          </a:p>
          <a:p>
            <a:pPr algn="l">
              <a:lnSpc>
                <a:spcPts val="2239"/>
              </a:lnSpc>
            </a:pPr>
            <a:r>
              <a:rPr lang="en-US" sz="1599">
                <a:solidFill>
                  <a:srgbClr val="D9D9D9"/>
                </a:solidFill>
                <a:latin typeface="Canva Sans"/>
                <a:ea typeface="Canva Sans"/>
                <a:cs typeface="Canva Sans"/>
                <a:sym typeface="Canva Sans"/>
              </a:rPr>
              <a:t>JOIN </a:t>
            </a:r>
            <a:r>
              <a:rPr lang="en-US" sz="1599">
                <a:solidFill>
                  <a:srgbClr val="F5F5EF"/>
                </a:solidFill>
                <a:latin typeface="Canva Sans"/>
                <a:ea typeface="Canva Sans"/>
                <a:cs typeface="Canva Sans"/>
                <a:sym typeface="Canva Sans"/>
              </a:rPr>
              <a:t>Mental_Detox md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D9D9D9"/>
                </a:solidFill>
                <a:latin typeface="Canva Sans"/>
                <a:ea typeface="Canva Sans"/>
                <a:cs typeface="Canva Sans"/>
                <a:sym typeface="Canva Sans"/>
              </a:rPr>
              <a:t>ON </a:t>
            </a:r>
            <a:r>
              <a:rPr lang="en-US" sz="1599">
                <a:solidFill>
                  <a:srgbClr val="F5F5EF"/>
                </a:solidFill>
                <a:latin typeface="Canva Sans"/>
                <a:ea typeface="Canva Sans"/>
                <a:cs typeface="Canva Sans"/>
                <a:sym typeface="Canva Sans"/>
              </a:rPr>
              <a:t>m.participant_id = md.participant_id</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md.boredom_to_phone_reflex</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avg_addiction_risk DESC;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8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93694" y="1332147"/>
            <a:ext cx="6969313" cy="6787201"/>
            <a:chOff x="0" y="0"/>
            <a:chExt cx="1835539" cy="1787576"/>
          </a:xfrm>
        </p:grpSpPr>
        <p:sp>
          <p:nvSpPr>
            <p:cNvPr name="Freeform 7" id="7"/>
            <p:cNvSpPr/>
            <p:nvPr/>
          </p:nvSpPr>
          <p:spPr>
            <a:xfrm flipH="false" flipV="false" rot="0">
              <a:off x="0" y="0"/>
              <a:ext cx="1835539" cy="1787576"/>
            </a:xfrm>
            <a:custGeom>
              <a:avLst/>
              <a:gdLst/>
              <a:ahLst/>
              <a:cxnLst/>
              <a:rect r="r" b="b" t="t" l="l"/>
              <a:pathLst>
                <a:path h="1787576" w="1835539">
                  <a:moveTo>
                    <a:pt x="56654" y="0"/>
                  </a:moveTo>
                  <a:lnTo>
                    <a:pt x="1778885" y="0"/>
                  </a:lnTo>
                  <a:cubicBezTo>
                    <a:pt x="1793911" y="0"/>
                    <a:pt x="1808321" y="5969"/>
                    <a:pt x="1818946" y="16594"/>
                  </a:cubicBezTo>
                  <a:cubicBezTo>
                    <a:pt x="1829570" y="27218"/>
                    <a:pt x="1835539" y="41628"/>
                    <a:pt x="1835539" y="56654"/>
                  </a:cubicBezTo>
                  <a:lnTo>
                    <a:pt x="1835539" y="1730922"/>
                  </a:lnTo>
                  <a:cubicBezTo>
                    <a:pt x="1835539" y="1762211"/>
                    <a:pt x="1810174" y="1787576"/>
                    <a:pt x="1778885" y="1787576"/>
                  </a:cubicBezTo>
                  <a:lnTo>
                    <a:pt x="56654" y="1787576"/>
                  </a:lnTo>
                  <a:cubicBezTo>
                    <a:pt x="41628" y="1787576"/>
                    <a:pt x="27218" y="1781607"/>
                    <a:pt x="16594" y="1770982"/>
                  </a:cubicBezTo>
                  <a:cubicBezTo>
                    <a:pt x="5969" y="1760357"/>
                    <a:pt x="0" y="1745947"/>
                    <a:pt x="0" y="1730922"/>
                  </a:cubicBezTo>
                  <a:lnTo>
                    <a:pt x="0" y="56654"/>
                  </a:lnTo>
                  <a:cubicBezTo>
                    <a:pt x="0" y="41628"/>
                    <a:pt x="5969" y="27218"/>
                    <a:pt x="16594" y="16594"/>
                  </a:cubicBezTo>
                  <a:cubicBezTo>
                    <a:pt x="27218" y="5969"/>
                    <a:pt x="41628" y="0"/>
                    <a:pt x="56654" y="0"/>
                  </a:cubicBezTo>
                  <a:close/>
                </a:path>
              </a:pathLst>
            </a:custGeom>
            <a:solidFill>
              <a:srgbClr val="304543"/>
            </a:solidFill>
          </p:spPr>
        </p:sp>
        <p:sp>
          <p:nvSpPr>
            <p:cNvPr name="TextBox 8" id="8"/>
            <p:cNvSpPr txBox="true"/>
            <p:nvPr/>
          </p:nvSpPr>
          <p:spPr>
            <a:xfrm>
              <a:off x="0" y="-47625"/>
              <a:ext cx="1835539" cy="183520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573363" y="3422905"/>
            <a:ext cx="7380796" cy="5119610"/>
            <a:chOff x="0" y="0"/>
            <a:chExt cx="1943913" cy="1348375"/>
          </a:xfrm>
        </p:grpSpPr>
        <p:sp>
          <p:nvSpPr>
            <p:cNvPr name="Freeform 10" id="10"/>
            <p:cNvSpPr/>
            <p:nvPr/>
          </p:nvSpPr>
          <p:spPr>
            <a:xfrm flipH="false" flipV="false" rot="0">
              <a:off x="0" y="0"/>
              <a:ext cx="1943913" cy="1348375"/>
            </a:xfrm>
            <a:custGeom>
              <a:avLst/>
              <a:gdLst/>
              <a:ahLst/>
              <a:cxnLst/>
              <a:rect r="r" b="b" t="t" l="l"/>
              <a:pathLst>
                <a:path h="1348375" w="1943913">
                  <a:moveTo>
                    <a:pt x="53495" y="0"/>
                  </a:moveTo>
                  <a:lnTo>
                    <a:pt x="1890418" y="0"/>
                  </a:lnTo>
                  <a:cubicBezTo>
                    <a:pt x="1919963" y="0"/>
                    <a:pt x="1943913" y="23951"/>
                    <a:pt x="1943913" y="53495"/>
                  </a:cubicBezTo>
                  <a:lnTo>
                    <a:pt x="1943913" y="1294879"/>
                  </a:lnTo>
                  <a:cubicBezTo>
                    <a:pt x="1943913" y="1324424"/>
                    <a:pt x="1919963" y="1348375"/>
                    <a:pt x="1890418" y="1348375"/>
                  </a:cubicBezTo>
                  <a:lnTo>
                    <a:pt x="53495" y="1348375"/>
                  </a:lnTo>
                  <a:cubicBezTo>
                    <a:pt x="23951" y="1348375"/>
                    <a:pt x="0" y="1324424"/>
                    <a:pt x="0" y="1294879"/>
                  </a:cubicBezTo>
                  <a:lnTo>
                    <a:pt x="0" y="53495"/>
                  </a:lnTo>
                  <a:cubicBezTo>
                    <a:pt x="0" y="23951"/>
                    <a:pt x="23951" y="0"/>
                    <a:pt x="53495" y="0"/>
                  </a:cubicBezTo>
                  <a:close/>
                </a:path>
              </a:pathLst>
            </a:custGeom>
            <a:solidFill>
              <a:srgbClr val="304543"/>
            </a:solidFill>
          </p:spPr>
        </p:sp>
        <p:sp>
          <p:nvSpPr>
            <p:cNvPr name="TextBox 11" id="11"/>
            <p:cNvSpPr txBox="true"/>
            <p:nvPr/>
          </p:nvSpPr>
          <p:spPr>
            <a:xfrm>
              <a:off x="0" y="-47625"/>
              <a:ext cx="1943913" cy="1396000"/>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10793257" y="3634489"/>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3" id="13"/>
          <p:cNvSpPr txBox="true"/>
          <p:nvPr/>
        </p:nvSpPr>
        <p:spPr>
          <a:xfrm rot="0">
            <a:off x="93694" y="82320"/>
            <a:ext cx="9316242" cy="763059"/>
          </a:xfrm>
          <a:prstGeom prst="rect">
            <a:avLst/>
          </a:prstGeom>
        </p:spPr>
        <p:txBody>
          <a:bodyPr anchor="t" rtlCol="false" tIns="0" lIns="0" bIns="0" rIns="0">
            <a:spAutoFit/>
          </a:bodyPr>
          <a:lstStyle/>
          <a:p>
            <a:pPr algn="l">
              <a:lnSpc>
                <a:spcPts val="6241"/>
              </a:lnSpc>
              <a:spcBef>
                <a:spcPct val="0"/>
              </a:spcBef>
            </a:pPr>
            <a:r>
              <a:rPr lang="en-US" sz="4458" b="true">
                <a:solidFill>
                  <a:srgbClr val="000000"/>
                </a:solidFill>
                <a:latin typeface="Cormorant Garamond Bold"/>
                <a:ea typeface="Cormorant Garamond Bold"/>
                <a:cs typeface="Cormorant Garamond Bold"/>
                <a:sym typeface="Cormorant Garamond Bold"/>
              </a:rPr>
              <a:t> Social Media, Sleep &amp; Mental Wellbeing</a:t>
            </a:r>
          </a:p>
        </p:txBody>
      </p:sp>
      <p:sp>
        <p:nvSpPr>
          <p:cNvPr name="TextBox 14" id="14"/>
          <p:cNvSpPr txBox="true"/>
          <p:nvPr/>
        </p:nvSpPr>
        <p:spPr>
          <a:xfrm rot="0">
            <a:off x="17259300" y="9433294"/>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21</a:t>
            </a:r>
          </a:p>
        </p:txBody>
      </p:sp>
      <p:sp>
        <p:nvSpPr>
          <p:cNvPr name="TextBox 15" id="15"/>
          <p:cNvSpPr txBox="true"/>
          <p:nvPr/>
        </p:nvSpPr>
        <p:spPr>
          <a:xfrm rot="0">
            <a:off x="89170" y="9500235"/>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16" id="16"/>
          <p:cNvSpPr txBox="true"/>
          <p:nvPr/>
        </p:nvSpPr>
        <p:spPr>
          <a:xfrm rot="0">
            <a:off x="0" y="1597320"/>
            <a:ext cx="6883766" cy="587543"/>
          </a:xfrm>
          <a:prstGeom prst="rect">
            <a:avLst/>
          </a:prstGeom>
        </p:spPr>
        <p:txBody>
          <a:bodyPr anchor="t" rtlCol="false" tIns="0" lIns="0" bIns="0" rIns="0">
            <a:spAutoFit/>
          </a:bodyPr>
          <a:lstStyle/>
          <a:p>
            <a:pPr algn="ctr">
              <a:lnSpc>
                <a:spcPts val="2374"/>
              </a:lnSpc>
              <a:spcBef>
                <a:spcPct val="0"/>
              </a:spcBef>
            </a:pPr>
            <a:r>
              <a:rPr lang="en-US" sz="1696">
                <a:solidFill>
                  <a:srgbClr val="F5F5EF"/>
                </a:solidFill>
                <a:latin typeface="Guild A Display"/>
                <a:ea typeface="Guild A Display"/>
                <a:cs typeface="Guild A Display"/>
                <a:sym typeface="Guild A Display"/>
              </a:rPr>
              <a:t>-</a:t>
            </a:r>
            <a:r>
              <a:rPr lang="en-US" sz="1696">
                <a:solidFill>
                  <a:srgbClr val="C1DFC1"/>
                </a:solidFill>
                <a:latin typeface="Guild A Display"/>
                <a:ea typeface="Guild A Display"/>
                <a:cs typeface="Guild A Display"/>
                <a:sym typeface="Guild A Display"/>
              </a:rPr>
              <a:t>- 7. How does digital wellbeing score vary across social media usage levels</a:t>
            </a:r>
            <a:r>
              <a:rPr lang="en-US" sz="1696">
                <a:solidFill>
                  <a:srgbClr val="F5F5EF"/>
                </a:solidFill>
                <a:latin typeface="Guild A Display"/>
                <a:ea typeface="Guild A Display"/>
                <a:cs typeface="Guild A Display"/>
                <a:sym typeface="Guild A Display"/>
              </a:rPr>
              <a:t>?</a:t>
            </a:r>
          </a:p>
        </p:txBody>
      </p:sp>
      <p:grpSp>
        <p:nvGrpSpPr>
          <p:cNvPr name="Group 17" id="17"/>
          <p:cNvGrpSpPr/>
          <p:nvPr/>
        </p:nvGrpSpPr>
        <p:grpSpPr>
          <a:xfrm rot="1369065">
            <a:off x="7478041" y="4163099"/>
            <a:ext cx="2680288" cy="1125298"/>
            <a:chOff x="0" y="0"/>
            <a:chExt cx="1935965" cy="812800"/>
          </a:xfrm>
        </p:grpSpPr>
        <p:sp>
          <p:nvSpPr>
            <p:cNvPr name="Freeform 18" id="18"/>
            <p:cNvSpPr/>
            <p:nvPr/>
          </p:nvSpPr>
          <p:spPr>
            <a:xfrm flipH="false" flipV="false" rot="0">
              <a:off x="0" y="0"/>
              <a:ext cx="1935965" cy="812800"/>
            </a:xfrm>
            <a:custGeom>
              <a:avLst/>
              <a:gdLst/>
              <a:ahLst/>
              <a:cxnLst/>
              <a:rect r="r" b="b" t="t" l="l"/>
              <a:pathLst>
                <a:path h="812800" w="1935965">
                  <a:moveTo>
                    <a:pt x="1935965" y="406400"/>
                  </a:moveTo>
                  <a:lnTo>
                    <a:pt x="1529565" y="0"/>
                  </a:lnTo>
                  <a:lnTo>
                    <a:pt x="1529565" y="203200"/>
                  </a:lnTo>
                  <a:lnTo>
                    <a:pt x="0" y="203200"/>
                  </a:lnTo>
                  <a:lnTo>
                    <a:pt x="0" y="609600"/>
                  </a:lnTo>
                  <a:lnTo>
                    <a:pt x="1529565" y="609600"/>
                  </a:lnTo>
                  <a:lnTo>
                    <a:pt x="1529565" y="812800"/>
                  </a:lnTo>
                  <a:lnTo>
                    <a:pt x="1935965" y="406400"/>
                  </a:lnTo>
                  <a:close/>
                </a:path>
              </a:pathLst>
            </a:custGeom>
            <a:solidFill>
              <a:srgbClr val="C1DFC1"/>
            </a:solidFill>
          </p:spPr>
        </p:sp>
        <p:sp>
          <p:nvSpPr>
            <p:cNvPr name="TextBox 19" id="19"/>
            <p:cNvSpPr txBox="true"/>
            <p:nvPr/>
          </p:nvSpPr>
          <p:spPr>
            <a:xfrm>
              <a:off x="0" y="155575"/>
              <a:ext cx="1834365" cy="454025"/>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226444" y="2492057"/>
            <a:ext cx="6703814" cy="52552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CASE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END AS </a:t>
            </a:r>
            <a:r>
              <a:rPr lang="en-US" sz="1599">
                <a:solidFill>
                  <a:srgbClr val="FFFFFF"/>
                </a:solidFill>
                <a:latin typeface="Roboto"/>
                <a:ea typeface="Roboto"/>
                <a:cs typeface="Roboto"/>
                <a:sym typeface="Roboto"/>
              </a:rPr>
              <a:t>social_media_usage_level,</a:t>
            </a:r>
          </a:p>
          <a:p>
            <a:pPr algn="l">
              <a:lnSpc>
                <a:spcPts val="2239"/>
              </a:lnSpc>
            </a:pPr>
            <a:r>
              <a:rPr lang="en-US" sz="1599">
                <a:solidFill>
                  <a:srgbClr val="FFFFFF"/>
                </a:solidFill>
                <a:latin typeface="Roboto"/>
                <a:ea typeface="Roboto"/>
                <a:cs typeface="Roboto"/>
                <a:sym typeface="Roboto"/>
              </a:rPr>
              <a:t>    </a:t>
            </a:r>
          </a:p>
          <a:p>
            <a:pPr algn="l">
              <a:lnSpc>
                <a:spcPts val="2239"/>
              </a:lnSpc>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FFFF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FFFFF"/>
                </a:solidFill>
                <a:latin typeface="Roboto"/>
                <a:ea typeface="Roboto"/>
                <a:cs typeface="Roboto"/>
                <a:sym typeface="Roboto"/>
              </a:rPr>
              <a:t>(digital_wellbeing_score), 2) </a:t>
            </a:r>
            <a:r>
              <a:rPr lang="en-US" sz="1599">
                <a:solidFill>
                  <a:srgbClr val="0CC0DF"/>
                </a:solidFill>
                <a:latin typeface="Roboto"/>
                <a:ea typeface="Roboto"/>
                <a:cs typeface="Roboto"/>
                <a:sym typeface="Roboto"/>
              </a:rPr>
              <a:t>AS </a:t>
            </a:r>
            <a:r>
              <a:rPr lang="en-US" sz="1599">
                <a:solidFill>
                  <a:srgbClr val="FFFFFF"/>
                </a:solidFill>
                <a:latin typeface="Roboto"/>
                <a:ea typeface="Roboto"/>
                <a:cs typeface="Roboto"/>
                <a:sym typeface="Roboto"/>
              </a:rPr>
              <a:t>avg_digital_wellbeing_score</a:t>
            </a:r>
          </a:p>
          <a:p>
            <a:pPr algn="l">
              <a:lnSpc>
                <a:spcPts val="2239"/>
              </a:lnSpc>
            </a:pPr>
          </a:p>
          <a:p>
            <a:pPr algn="l">
              <a:lnSpc>
                <a:spcPts val="2239"/>
              </a:lnSpc>
            </a:pPr>
            <a:r>
              <a:rPr lang="en-US" sz="1599">
                <a:solidFill>
                  <a:srgbClr val="0CC0DF"/>
                </a:solidFill>
                <a:latin typeface="Roboto"/>
                <a:ea typeface="Roboto"/>
                <a:cs typeface="Roboto"/>
                <a:sym typeface="Roboto"/>
              </a:rPr>
              <a:t>FROM </a:t>
            </a:r>
            <a:r>
              <a:rPr lang="en-US" sz="1599">
                <a:solidFill>
                  <a:srgbClr val="FFFFFF"/>
                </a:solidFill>
                <a:latin typeface="Roboto"/>
                <a:ea typeface="Roboto"/>
                <a:cs typeface="Roboto"/>
                <a:sym typeface="Roboto"/>
              </a:rPr>
              <a:t>Fact_User_Metrics</a:t>
            </a:r>
          </a:p>
          <a:p>
            <a:pPr algn="l">
              <a:lnSpc>
                <a:spcPts val="2239"/>
              </a:lnSpc>
            </a:pP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0CC0DF"/>
                </a:solidFill>
                <a:latin typeface="Roboto"/>
                <a:ea typeface="Roboto"/>
                <a:cs typeface="Roboto"/>
                <a:sym typeface="Roboto"/>
              </a:rPr>
              <a:t>    CASE</a:t>
            </a:r>
          </a:p>
          <a:p>
            <a:pPr algn="l">
              <a:lnSpc>
                <a:spcPts val="2239"/>
              </a:lnSpc>
            </a:pPr>
            <a:r>
              <a:rPr lang="en-US" sz="1599">
                <a:solidFill>
                  <a:srgbClr val="0CC0DF"/>
                </a:solidFill>
                <a:latin typeface="Roboto"/>
                <a:ea typeface="Roboto"/>
                <a:cs typeface="Roboto"/>
                <a:sym typeface="Roboto"/>
              </a:rPr>
              <a:t>        WHEN</a:t>
            </a:r>
            <a:r>
              <a:rPr lang="en-US" sz="1599">
                <a:solidFill>
                  <a:srgbClr val="FFFFFF"/>
                </a:solidFill>
                <a:latin typeface="Roboto"/>
                <a:ea typeface="Roboto"/>
                <a:cs typeface="Roboto"/>
                <a:sym typeface="Roboto"/>
              </a:rPr>
              <a:t> avg_daily_sm_hours &lt; 3 THEN</a:t>
            </a:r>
            <a:r>
              <a:rPr lang="en-US" sz="1599">
                <a:solidFill>
                  <a:srgbClr val="B34057"/>
                </a:solidFill>
                <a:latin typeface="Roboto"/>
                <a:ea typeface="Roboto"/>
                <a:cs typeface="Roboto"/>
                <a:sym typeface="Roboto"/>
              </a:rPr>
              <a:t> 'Low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6 THEN</a:t>
            </a:r>
            <a:r>
              <a:rPr lang="en-US" sz="1599">
                <a:solidFill>
                  <a:srgbClr val="B34057"/>
                </a:solidFill>
                <a:latin typeface="Roboto"/>
                <a:ea typeface="Roboto"/>
                <a:cs typeface="Roboto"/>
                <a:sym typeface="Roboto"/>
              </a:rPr>
              <a:t> 'Medium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ELSE</a:t>
            </a:r>
            <a:r>
              <a:rPr lang="en-US" sz="1599">
                <a:solidFill>
                  <a:srgbClr val="B34057"/>
                </a:solidFill>
                <a:latin typeface="Roboto"/>
                <a:ea typeface="Roboto"/>
                <a:cs typeface="Roboto"/>
                <a:sym typeface="Roboto"/>
              </a:rPr>
              <a:t> 'High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pPr>
          </a:p>
          <a:p>
            <a:pPr algn="l">
              <a:lnSpc>
                <a:spcPts val="2239"/>
              </a:lnSpc>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avg_digital_wellbeing_score DESC;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37" r="0" b="37"/>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92134" y="-990608"/>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9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325078" y="1332147"/>
            <a:ext cx="7337482" cy="3711904"/>
            <a:chOff x="0" y="0"/>
            <a:chExt cx="1932506" cy="977621"/>
          </a:xfrm>
        </p:grpSpPr>
        <p:sp>
          <p:nvSpPr>
            <p:cNvPr name="Freeform 7" id="7"/>
            <p:cNvSpPr/>
            <p:nvPr/>
          </p:nvSpPr>
          <p:spPr>
            <a:xfrm flipH="false" flipV="false" rot="0">
              <a:off x="0" y="0"/>
              <a:ext cx="1932505" cy="977621"/>
            </a:xfrm>
            <a:custGeom>
              <a:avLst/>
              <a:gdLst/>
              <a:ahLst/>
              <a:cxnLst/>
              <a:rect r="r" b="b" t="t" l="l"/>
              <a:pathLst>
                <a:path h="977621" w="1932505">
                  <a:moveTo>
                    <a:pt x="53811" y="0"/>
                  </a:moveTo>
                  <a:lnTo>
                    <a:pt x="1878694" y="0"/>
                  </a:lnTo>
                  <a:cubicBezTo>
                    <a:pt x="1908414" y="0"/>
                    <a:pt x="1932505" y="24092"/>
                    <a:pt x="1932505" y="53811"/>
                  </a:cubicBezTo>
                  <a:lnTo>
                    <a:pt x="1932505" y="923810"/>
                  </a:lnTo>
                  <a:cubicBezTo>
                    <a:pt x="1932505" y="953529"/>
                    <a:pt x="1908414" y="977621"/>
                    <a:pt x="1878694" y="977621"/>
                  </a:cubicBezTo>
                  <a:lnTo>
                    <a:pt x="53811" y="977621"/>
                  </a:lnTo>
                  <a:cubicBezTo>
                    <a:pt x="39540" y="977621"/>
                    <a:pt x="25852" y="971952"/>
                    <a:pt x="15761" y="961860"/>
                  </a:cubicBezTo>
                  <a:cubicBezTo>
                    <a:pt x="5669" y="951768"/>
                    <a:pt x="0" y="938081"/>
                    <a:pt x="0" y="923810"/>
                  </a:cubicBezTo>
                  <a:lnTo>
                    <a:pt x="0" y="53811"/>
                  </a:lnTo>
                  <a:cubicBezTo>
                    <a:pt x="0" y="39540"/>
                    <a:pt x="5669" y="25852"/>
                    <a:pt x="15761" y="15761"/>
                  </a:cubicBezTo>
                  <a:cubicBezTo>
                    <a:pt x="25852" y="5669"/>
                    <a:pt x="39540" y="0"/>
                    <a:pt x="53811" y="0"/>
                  </a:cubicBezTo>
                  <a:close/>
                </a:path>
              </a:pathLst>
            </a:custGeom>
            <a:solidFill>
              <a:srgbClr val="304543"/>
            </a:solidFill>
          </p:spPr>
        </p:sp>
        <p:sp>
          <p:nvSpPr>
            <p:cNvPr name="TextBox 8" id="8"/>
            <p:cNvSpPr txBox="true"/>
            <p:nvPr/>
          </p:nvSpPr>
          <p:spPr>
            <a:xfrm>
              <a:off x="0" y="-47625"/>
              <a:ext cx="1932506" cy="1025246"/>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254914" y="466089"/>
            <a:ext cx="7552978" cy="4366978"/>
            <a:chOff x="0" y="0"/>
            <a:chExt cx="1989262" cy="1150151"/>
          </a:xfrm>
        </p:grpSpPr>
        <p:sp>
          <p:nvSpPr>
            <p:cNvPr name="Freeform 10" id="10"/>
            <p:cNvSpPr/>
            <p:nvPr/>
          </p:nvSpPr>
          <p:spPr>
            <a:xfrm flipH="false" flipV="false" rot="0">
              <a:off x="0" y="0"/>
              <a:ext cx="1989262" cy="1150151"/>
            </a:xfrm>
            <a:custGeom>
              <a:avLst/>
              <a:gdLst/>
              <a:ahLst/>
              <a:cxnLst/>
              <a:rect r="r" b="b" t="t" l="l"/>
              <a:pathLst>
                <a:path h="1150151" w="1989262">
                  <a:moveTo>
                    <a:pt x="52276" y="0"/>
                  </a:moveTo>
                  <a:lnTo>
                    <a:pt x="1936986" y="0"/>
                  </a:lnTo>
                  <a:cubicBezTo>
                    <a:pt x="1950850" y="0"/>
                    <a:pt x="1964147" y="5508"/>
                    <a:pt x="1973950" y="15311"/>
                  </a:cubicBezTo>
                  <a:cubicBezTo>
                    <a:pt x="1983754" y="25115"/>
                    <a:pt x="1989262" y="38411"/>
                    <a:pt x="1989262" y="52276"/>
                  </a:cubicBezTo>
                  <a:lnTo>
                    <a:pt x="1989262" y="1097875"/>
                  </a:lnTo>
                  <a:cubicBezTo>
                    <a:pt x="1989262" y="1111739"/>
                    <a:pt x="1983754" y="1125036"/>
                    <a:pt x="1973950" y="1134839"/>
                  </a:cubicBezTo>
                  <a:cubicBezTo>
                    <a:pt x="1964147" y="1144643"/>
                    <a:pt x="1950850" y="1150151"/>
                    <a:pt x="1936986" y="1150151"/>
                  </a:cubicBezTo>
                  <a:lnTo>
                    <a:pt x="52276" y="1150151"/>
                  </a:lnTo>
                  <a:cubicBezTo>
                    <a:pt x="38411" y="1150151"/>
                    <a:pt x="25115" y="1144643"/>
                    <a:pt x="15311" y="1134839"/>
                  </a:cubicBezTo>
                  <a:cubicBezTo>
                    <a:pt x="5508" y="1125036"/>
                    <a:pt x="0" y="1111739"/>
                    <a:pt x="0" y="1097875"/>
                  </a:cubicBezTo>
                  <a:lnTo>
                    <a:pt x="0" y="52276"/>
                  </a:lnTo>
                  <a:cubicBezTo>
                    <a:pt x="0" y="38411"/>
                    <a:pt x="5508" y="25115"/>
                    <a:pt x="15311" y="15311"/>
                  </a:cubicBezTo>
                  <a:cubicBezTo>
                    <a:pt x="25115" y="5508"/>
                    <a:pt x="38411" y="0"/>
                    <a:pt x="52276" y="0"/>
                  </a:cubicBezTo>
                  <a:close/>
                </a:path>
              </a:pathLst>
            </a:custGeom>
            <a:solidFill>
              <a:srgbClr val="304543"/>
            </a:solidFill>
          </p:spPr>
        </p:sp>
        <p:sp>
          <p:nvSpPr>
            <p:cNvPr name="TextBox 11" id="11"/>
            <p:cNvSpPr txBox="true"/>
            <p:nvPr/>
          </p:nvSpPr>
          <p:spPr>
            <a:xfrm>
              <a:off x="0" y="-47625"/>
              <a:ext cx="1989262" cy="1197776"/>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325078" y="5425052"/>
            <a:ext cx="7337482" cy="3726541"/>
            <a:chOff x="0" y="0"/>
            <a:chExt cx="1932506" cy="981476"/>
          </a:xfrm>
        </p:grpSpPr>
        <p:sp>
          <p:nvSpPr>
            <p:cNvPr name="Freeform 13" id="13"/>
            <p:cNvSpPr/>
            <p:nvPr/>
          </p:nvSpPr>
          <p:spPr>
            <a:xfrm flipH="false" flipV="false" rot="0">
              <a:off x="0" y="0"/>
              <a:ext cx="1932505" cy="981476"/>
            </a:xfrm>
            <a:custGeom>
              <a:avLst/>
              <a:gdLst/>
              <a:ahLst/>
              <a:cxnLst/>
              <a:rect r="r" b="b" t="t" l="l"/>
              <a:pathLst>
                <a:path h="981476" w="1932505">
                  <a:moveTo>
                    <a:pt x="53811" y="0"/>
                  </a:moveTo>
                  <a:lnTo>
                    <a:pt x="1878694" y="0"/>
                  </a:lnTo>
                  <a:cubicBezTo>
                    <a:pt x="1908414" y="0"/>
                    <a:pt x="1932505" y="24092"/>
                    <a:pt x="1932505" y="53811"/>
                  </a:cubicBezTo>
                  <a:lnTo>
                    <a:pt x="1932505" y="927665"/>
                  </a:lnTo>
                  <a:cubicBezTo>
                    <a:pt x="1932505" y="941936"/>
                    <a:pt x="1926836" y="955623"/>
                    <a:pt x="1916745" y="965715"/>
                  </a:cubicBezTo>
                  <a:cubicBezTo>
                    <a:pt x="1906653" y="975807"/>
                    <a:pt x="1892966" y="981476"/>
                    <a:pt x="1878694" y="981476"/>
                  </a:cubicBezTo>
                  <a:lnTo>
                    <a:pt x="53811" y="981476"/>
                  </a:lnTo>
                  <a:cubicBezTo>
                    <a:pt x="39540" y="981476"/>
                    <a:pt x="25852" y="975807"/>
                    <a:pt x="15761" y="965715"/>
                  </a:cubicBezTo>
                  <a:cubicBezTo>
                    <a:pt x="5669" y="955623"/>
                    <a:pt x="0" y="941936"/>
                    <a:pt x="0" y="927665"/>
                  </a:cubicBezTo>
                  <a:lnTo>
                    <a:pt x="0" y="53811"/>
                  </a:lnTo>
                  <a:cubicBezTo>
                    <a:pt x="0" y="39540"/>
                    <a:pt x="5669" y="25852"/>
                    <a:pt x="15761" y="15761"/>
                  </a:cubicBezTo>
                  <a:cubicBezTo>
                    <a:pt x="25852" y="5669"/>
                    <a:pt x="39540" y="0"/>
                    <a:pt x="53811" y="0"/>
                  </a:cubicBezTo>
                  <a:close/>
                </a:path>
              </a:pathLst>
            </a:custGeom>
            <a:solidFill>
              <a:srgbClr val="304543"/>
            </a:solidFill>
          </p:spPr>
        </p:sp>
        <p:sp>
          <p:nvSpPr>
            <p:cNvPr name="TextBox 14" id="14"/>
            <p:cNvSpPr txBox="true"/>
            <p:nvPr/>
          </p:nvSpPr>
          <p:spPr>
            <a:xfrm>
              <a:off x="0" y="-47625"/>
              <a:ext cx="1932506" cy="1029101"/>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254914" y="5044052"/>
            <a:ext cx="7552978" cy="4029032"/>
            <a:chOff x="0" y="0"/>
            <a:chExt cx="1989262" cy="1061144"/>
          </a:xfrm>
        </p:grpSpPr>
        <p:sp>
          <p:nvSpPr>
            <p:cNvPr name="Freeform 16" id="16"/>
            <p:cNvSpPr/>
            <p:nvPr/>
          </p:nvSpPr>
          <p:spPr>
            <a:xfrm flipH="false" flipV="false" rot="0">
              <a:off x="0" y="0"/>
              <a:ext cx="1989262" cy="1061144"/>
            </a:xfrm>
            <a:custGeom>
              <a:avLst/>
              <a:gdLst/>
              <a:ahLst/>
              <a:cxnLst/>
              <a:rect r="r" b="b" t="t" l="l"/>
              <a:pathLst>
                <a:path h="1061144" w="1989262">
                  <a:moveTo>
                    <a:pt x="52276" y="0"/>
                  </a:moveTo>
                  <a:lnTo>
                    <a:pt x="1936986" y="0"/>
                  </a:lnTo>
                  <a:cubicBezTo>
                    <a:pt x="1950850" y="0"/>
                    <a:pt x="1964147" y="5508"/>
                    <a:pt x="1973950" y="15311"/>
                  </a:cubicBezTo>
                  <a:cubicBezTo>
                    <a:pt x="1983754" y="25115"/>
                    <a:pt x="1989262" y="38411"/>
                    <a:pt x="1989262" y="52276"/>
                  </a:cubicBezTo>
                  <a:lnTo>
                    <a:pt x="1989262" y="1008868"/>
                  </a:lnTo>
                  <a:cubicBezTo>
                    <a:pt x="1989262" y="1022733"/>
                    <a:pt x="1983754" y="1036029"/>
                    <a:pt x="1973950" y="1045833"/>
                  </a:cubicBezTo>
                  <a:cubicBezTo>
                    <a:pt x="1964147" y="1055637"/>
                    <a:pt x="1950850" y="1061144"/>
                    <a:pt x="1936986" y="1061144"/>
                  </a:cubicBezTo>
                  <a:lnTo>
                    <a:pt x="52276" y="1061144"/>
                  </a:lnTo>
                  <a:cubicBezTo>
                    <a:pt x="38411" y="1061144"/>
                    <a:pt x="25115" y="1055637"/>
                    <a:pt x="15311" y="1045833"/>
                  </a:cubicBezTo>
                  <a:cubicBezTo>
                    <a:pt x="5508" y="1036029"/>
                    <a:pt x="0" y="1022733"/>
                    <a:pt x="0" y="1008868"/>
                  </a:cubicBezTo>
                  <a:lnTo>
                    <a:pt x="0" y="52276"/>
                  </a:lnTo>
                  <a:cubicBezTo>
                    <a:pt x="0" y="38411"/>
                    <a:pt x="5508" y="25115"/>
                    <a:pt x="15311" y="15311"/>
                  </a:cubicBezTo>
                  <a:cubicBezTo>
                    <a:pt x="25115" y="5508"/>
                    <a:pt x="38411" y="0"/>
                    <a:pt x="52276" y="0"/>
                  </a:cubicBezTo>
                  <a:close/>
                </a:path>
              </a:pathLst>
            </a:custGeom>
            <a:solidFill>
              <a:srgbClr val="304543"/>
            </a:solidFill>
          </p:spPr>
        </p:sp>
        <p:sp>
          <p:nvSpPr>
            <p:cNvPr name="TextBox 17" id="17"/>
            <p:cNvSpPr txBox="true"/>
            <p:nvPr/>
          </p:nvSpPr>
          <p:spPr>
            <a:xfrm>
              <a:off x="0" y="-47625"/>
              <a:ext cx="1989262" cy="1108769"/>
            </a:xfrm>
            <a:prstGeom prst="rect">
              <a:avLst/>
            </a:prstGeom>
          </p:spPr>
          <p:txBody>
            <a:bodyPr anchor="ctr" rtlCol="false" tIns="50800" lIns="50800" bIns="50800" rIns="50800"/>
            <a:lstStyle/>
            <a:p>
              <a:pPr algn="ctr">
                <a:lnSpc>
                  <a:spcPts val="2939"/>
                </a:lnSpc>
              </a:pPr>
            </a:p>
          </p:txBody>
        </p:sp>
      </p:grpSp>
      <p:grpSp>
        <p:nvGrpSpPr>
          <p:cNvPr name="Group 18" id="18"/>
          <p:cNvGrpSpPr/>
          <p:nvPr/>
        </p:nvGrpSpPr>
        <p:grpSpPr>
          <a:xfrm rot="817358">
            <a:off x="7839364" y="1552967"/>
            <a:ext cx="1997688" cy="1026196"/>
            <a:chOff x="0" y="0"/>
            <a:chExt cx="1582272" cy="812800"/>
          </a:xfrm>
        </p:grpSpPr>
        <p:sp>
          <p:nvSpPr>
            <p:cNvPr name="Freeform 19" id="19"/>
            <p:cNvSpPr/>
            <p:nvPr/>
          </p:nvSpPr>
          <p:spPr>
            <a:xfrm flipH="false" flipV="false" rot="0">
              <a:off x="0" y="0"/>
              <a:ext cx="1582272" cy="812800"/>
            </a:xfrm>
            <a:custGeom>
              <a:avLst/>
              <a:gdLst/>
              <a:ahLst/>
              <a:cxnLst/>
              <a:rect r="r" b="b" t="t" l="l"/>
              <a:pathLst>
                <a:path h="812800" w="1582272">
                  <a:moveTo>
                    <a:pt x="1582272" y="406400"/>
                  </a:moveTo>
                  <a:lnTo>
                    <a:pt x="1175872" y="0"/>
                  </a:lnTo>
                  <a:lnTo>
                    <a:pt x="1175872" y="203200"/>
                  </a:lnTo>
                  <a:lnTo>
                    <a:pt x="0" y="203200"/>
                  </a:lnTo>
                  <a:lnTo>
                    <a:pt x="0" y="609600"/>
                  </a:lnTo>
                  <a:lnTo>
                    <a:pt x="1175872" y="609600"/>
                  </a:lnTo>
                  <a:lnTo>
                    <a:pt x="1175872" y="812800"/>
                  </a:lnTo>
                  <a:lnTo>
                    <a:pt x="1582272" y="406400"/>
                  </a:lnTo>
                  <a:close/>
                </a:path>
              </a:pathLst>
            </a:custGeom>
            <a:solidFill>
              <a:srgbClr val="C1DFC1"/>
            </a:solidFill>
          </p:spPr>
        </p:sp>
        <p:sp>
          <p:nvSpPr>
            <p:cNvPr name="TextBox 20" id="20"/>
            <p:cNvSpPr txBox="true"/>
            <p:nvPr/>
          </p:nvSpPr>
          <p:spPr>
            <a:xfrm>
              <a:off x="0" y="155575"/>
              <a:ext cx="1480672" cy="454025"/>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1444106">
            <a:off x="7776730" y="6809784"/>
            <a:ext cx="1863134" cy="957077"/>
            <a:chOff x="0" y="0"/>
            <a:chExt cx="1582272" cy="812800"/>
          </a:xfrm>
        </p:grpSpPr>
        <p:sp>
          <p:nvSpPr>
            <p:cNvPr name="Freeform 22" id="22"/>
            <p:cNvSpPr/>
            <p:nvPr/>
          </p:nvSpPr>
          <p:spPr>
            <a:xfrm flipH="false" flipV="false" rot="0">
              <a:off x="0" y="0"/>
              <a:ext cx="1582272" cy="812800"/>
            </a:xfrm>
            <a:custGeom>
              <a:avLst/>
              <a:gdLst/>
              <a:ahLst/>
              <a:cxnLst/>
              <a:rect r="r" b="b" t="t" l="l"/>
              <a:pathLst>
                <a:path h="812800" w="1582272">
                  <a:moveTo>
                    <a:pt x="1582272" y="406400"/>
                  </a:moveTo>
                  <a:lnTo>
                    <a:pt x="1175872" y="0"/>
                  </a:lnTo>
                  <a:lnTo>
                    <a:pt x="1175872" y="203200"/>
                  </a:lnTo>
                  <a:lnTo>
                    <a:pt x="0" y="203200"/>
                  </a:lnTo>
                  <a:lnTo>
                    <a:pt x="0" y="609600"/>
                  </a:lnTo>
                  <a:lnTo>
                    <a:pt x="1175872" y="609600"/>
                  </a:lnTo>
                  <a:lnTo>
                    <a:pt x="1175872" y="812800"/>
                  </a:lnTo>
                  <a:lnTo>
                    <a:pt x="1582272" y="406400"/>
                  </a:lnTo>
                  <a:close/>
                </a:path>
              </a:pathLst>
            </a:custGeom>
            <a:solidFill>
              <a:srgbClr val="C1DFC1"/>
            </a:solidFill>
          </p:spPr>
        </p:sp>
        <p:sp>
          <p:nvSpPr>
            <p:cNvPr name="TextBox 23" id="23"/>
            <p:cNvSpPr txBox="true"/>
            <p:nvPr/>
          </p:nvSpPr>
          <p:spPr>
            <a:xfrm>
              <a:off x="0" y="155575"/>
              <a:ext cx="1480672" cy="454025"/>
            </a:xfrm>
            <a:prstGeom prst="rect">
              <a:avLst/>
            </a:prstGeom>
          </p:spPr>
          <p:txBody>
            <a:bodyPr anchor="ctr" rtlCol="false" tIns="50800" lIns="50800" bIns="50800" rIns="50800"/>
            <a:lstStyle/>
            <a:p>
              <a:pPr algn="ctr">
                <a:lnSpc>
                  <a:spcPts val="2940"/>
                </a:lnSpc>
              </a:pPr>
            </a:p>
          </p:txBody>
        </p:sp>
      </p:grpSp>
      <p:graphicFrame>
        <p:nvGraphicFramePr>
          <p:cNvPr name="Object 24" id="24"/>
          <p:cNvGraphicFramePr/>
          <p:nvPr/>
        </p:nvGraphicFramePr>
        <p:xfrm>
          <a:off x="10666585" y="764019"/>
          <a:ext cx="3771900" cy="5029200"/>
        </p:xfrm>
        <a:graphic>
          <a:graphicData uri="http://schemas.openxmlformats.org/presentationml/2006/ole">
            <p:oleObj imgW="4775200" imgH="6032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10854406" y="5129207"/>
          <a:ext cx="3771900" cy="5029200"/>
        </p:xfrm>
        <a:graphic>
          <a:graphicData uri="http://schemas.openxmlformats.org/presentationml/2006/ole">
            <p:oleObj imgW="4775200" imgH="6032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6" id="26"/>
          <p:cNvSpPr txBox="true"/>
          <p:nvPr/>
        </p:nvSpPr>
        <p:spPr>
          <a:xfrm rot="0">
            <a:off x="93694" y="-12816"/>
            <a:ext cx="8351076" cy="862560"/>
          </a:xfrm>
          <a:prstGeom prst="rect">
            <a:avLst/>
          </a:prstGeom>
        </p:spPr>
        <p:txBody>
          <a:bodyPr anchor="t" rtlCol="false" tIns="0" lIns="0" bIns="0" rIns="0">
            <a:spAutoFit/>
          </a:bodyPr>
          <a:lstStyle/>
          <a:p>
            <a:pPr algn="l">
              <a:lnSpc>
                <a:spcPts val="7057"/>
              </a:lnSpc>
              <a:spcBef>
                <a:spcPct val="0"/>
              </a:spcBef>
            </a:pPr>
            <a:r>
              <a:rPr lang="en-US" sz="5040" b="true">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27" id="27"/>
          <p:cNvSpPr txBox="true"/>
          <p:nvPr/>
        </p:nvSpPr>
        <p:spPr>
          <a:xfrm rot="0">
            <a:off x="17259300" y="946785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23</a:t>
            </a:r>
          </a:p>
        </p:txBody>
      </p:sp>
      <p:sp>
        <p:nvSpPr>
          <p:cNvPr name="TextBox 28" id="28"/>
          <p:cNvSpPr txBox="true"/>
          <p:nvPr/>
        </p:nvSpPr>
        <p:spPr>
          <a:xfrm rot="0">
            <a:off x="89170" y="951354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9" id="29"/>
          <p:cNvSpPr txBox="true"/>
          <p:nvPr/>
        </p:nvSpPr>
        <p:spPr>
          <a:xfrm rot="0">
            <a:off x="387477" y="1505032"/>
            <a:ext cx="7359139" cy="339725"/>
          </a:xfrm>
          <a:prstGeom prst="rect">
            <a:avLst/>
          </a:prstGeom>
        </p:spPr>
        <p:txBody>
          <a:bodyPr anchor="t" rtlCol="false" tIns="0" lIns="0" bIns="0" rIns="0">
            <a:spAutoFit/>
          </a:bodyPr>
          <a:lstStyle/>
          <a:p>
            <a:pPr algn="ctr">
              <a:lnSpc>
                <a:spcPts val="2799"/>
              </a:lnSpc>
              <a:spcBef>
                <a:spcPct val="0"/>
              </a:spcBef>
            </a:pPr>
            <a:r>
              <a:rPr lang="en-US" sz="1999">
                <a:solidFill>
                  <a:srgbClr val="C1DFC1"/>
                </a:solidFill>
                <a:latin typeface="Guild A Display"/>
                <a:ea typeface="Guild A Display"/>
                <a:cs typeface="Guild A Display"/>
                <a:sym typeface="Guild A Display"/>
              </a:rPr>
              <a:t>--1. How does social media addiction risk vary by age group?</a:t>
            </a:r>
          </a:p>
        </p:txBody>
      </p:sp>
      <p:sp>
        <p:nvSpPr>
          <p:cNvPr name="TextBox 30" id="30"/>
          <p:cNvSpPr txBox="true"/>
          <p:nvPr/>
        </p:nvSpPr>
        <p:spPr>
          <a:xfrm rot="0">
            <a:off x="111727" y="5672702"/>
            <a:ext cx="7381468"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--2. How does digital wellbeing score vary by age group?</a:t>
            </a:r>
          </a:p>
        </p:txBody>
      </p:sp>
      <p:sp>
        <p:nvSpPr>
          <p:cNvPr name="TextBox 31" id="31"/>
          <p:cNvSpPr txBox="true"/>
          <p:nvPr/>
        </p:nvSpPr>
        <p:spPr>
          <a:xfrm rot="0">
            <a:off x="658013" y="2228907"/>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p.age_group,</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(m.sm_addiction_risk_score)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avg_addiction_risk</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just">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avg_addiction_risk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32" id="32"/>
          <p:cNvSpPr txBox="true"/>
          <p:nvPr/>
        </p:nvSpPr>
        <p:spPr>
          <a:xfrm rot="0">
            <a:off x="789227" y="6402952"/>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p.age_group,</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(m.digital_wellbeing_score)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avg_digital_wellbeing_score</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just">
              <a:lnSpc>
                <a:spcPts val="2239"/>
              </a:lnSpc>
            </a:pPr>
            <a:r>
              <a:rPr lang="en-US" sz="1599">
                <a:solidFill>
                  <a:srgbClr val="0CC0DF"/>
                </a:solidFill>
                <a:latin typeface="Roboto"/>
                <a:ea typeface="Roboto"/>
                <a:cs typeface="Roboto"/>
                <a:sym typeface="Roboto"/>
              </a:rPr>
              <a:t>ORDER BY </a:t>
            </a:r>
            <a:r>
              <a:rPr lang="en-US" sz="1599">
                <a:solidFill>
                  <a:srgbClr val="F5F5EF"/>
                </a:solidFill>
                <a:latin typeface="Roboto"/>
                <a:ea typeface="Roboto"/>
                <a:cs typeface="Roboto"/>
                <a:sym typeface="Roboto"/>
              </a:rPr>
              <a:t>avg_digital_wellbeing_score DESC;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972496" y="-781196"/>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9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1437326" y="1053349"/>
            <a:ext cx="7205495" cy="3793935"/>
            <a:chOff x="0" y="0"/>
            <a:chExt cx="1897744" cy="999226"/>
          </a:xfrm>
        </p:grpSpPr>
        <p:sp>
          <p:nvSpPr>
            <p:cNvPr name="Freeform 7" id="7"/>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8" id="8"/>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397747" y="249047"/>
            <a:ext cx="6732426" cy="3820138"/>
            <a:chOff x="0" y="0"/>
            <a:chExt cx="1773149" cy="1006127"/>
          </a:xfrm>
        </p:grpSpPr>
        <p:sp>
          <p:nvSpPr>
            <p:cNvPr name="Freeform 10" id="10"/>
            <p:cNvSpPr/>
            <p:nvPr/>
          </p:nvSpPr>
          <p:spPr>
            <a:xfrm flipH="false" flipV="false" rot="0">
              <a:off x="0" y="0"/>
              <a:ext cx="1773149" cy="1006127"/>
            </a:xfrm>
            <a:custGeom>
              <a:avLst/>
              <a:gdLst/>
              <a:ahLst/>
              <a:cxnLst/>
              <a:rect r="r" b="b" t="t" l="l"/>
              <a:pathLst>
                <a:path h="1006127" w="1773149">
                  <a:moveTo>
                    <a:pt x="58647" y="0"/>
                  </a:moveTo>
                  <a:lnTo>
                    <a:pt x="1714502" y="0"/>
                  </a:lnTo>
                  <a:cubicBezTo>
                    <a:pt x="1730056" y="0"/>
                    <a:pt x="1744973" y="6179"/>
                    <a:pt x="1755972" y="17177"/>
                  </a:cubicBezTo>
                  <a:cubicBezTo>
                    <a:pt x="1766970" y="28176"/>
                    <a:pt x="1773149" y="43093"/>
                    <a:pt x="1773149" y="58647"/>
                  </a:cubicBezTo>
                  <a:lnTo>
                    <a:pt x="1773149" y="947480"/>
                  </a:lnTo>
                  <a:cubicBezTo>
                    <a:pt x="1773149" y="963034"/>
                    <a:pt x="1766970" y="977951"/>
                    <a:pt x="1755972" y="988949"/>
                  </a:cubicBezTo>
                  <a:cubicBezTo>
                    <a:pt x="1744973" y="999948"/>
                    <a:pt x="1730056" y="1006127"/>
                    <a:pt x="1714502" y="1006127"/>
                  </a:cubicBezTo>
                  <a:lnTo>
                    <a:pt x="58647" y="1006127"/>
                  </a:lnTo>
                  <a:cubicBezTo>
                    <a:pt x="43093" y="1006127"/>
                    <a:pt x="28176" y="999948"/>
                    <a:pt x="17177" y="988949"/>
                  </a:cubicBezTo>
                  <a:cubicBezTo>
                    <a:pt x="6179" y="977951"/>
                    <a:pt x="0" y="963034"/>
                    <a:pt x="0" y="947480"/>
                  </a:cubicBezTo>
                  <a:lnTo>
                    <a:pt x="0" y="58647"/>
                  </a:lnTo>
                  <a:cubicBezTo>
                    <a:pt x="0" y="43093"/>
                    <a:pt x="6179" y="28176"/>
                    <a:pt x="17177" y="17177"/>
                  </a:cubicBezTo>
                  <a:cubicBezTo>
                    <a:pt x="28176" y="6179"/>
                    <a:pt x="43093" y="0"/>
                    <a:pt x="58647" y="0"/>
                  </a:cubicBezTo>
                  <a:close/>
                </a:path>
              </a:pathLst>
            </a:custGeom>
            <a:solidFill>
              <a:srgbClr val="304543"/>
            </a:solidFill>
          </p:spPr>
        </p:sp>
        <p:sp>
          <p:nvSpPr>
            <p:cNvPr name="TextBox 11" id="11"/>
            <p:cNvSpPr txBox="true"/>
            <p:nvPr/>
          </p:nvSpPr>
          <p:spPr>
            <a:xfrm>
              <a:off x="0" y="-47625"/>
              <a:ext cx="1773149" cy="1053752"/>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2068150" y="5228284"/>
            <a:ext cx="7205495" cy="3793935"/>
            <a:chOff x="0" y="0"/>
            <a:chExt cx="1897744" cy="999226"/>
          </a:xfrm>
        </p:grpSpPr>
        <p:sp>
          <p:nvSpPr>
            <p:cNvPr name="Freeform 13" id="13"/>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14" id="14"/>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710399" y="4662069"/>
            <a:ext cx="7205495" cy="3793935"/>
            <a:chOff x="0" y="0"/>
            <a:chExt cx="1897744" cy="999226"/>
          </a:xfrm>
        </p:grpSpPr>
        <p:sp>
          <p:nvSpPr>
            <p:cNvPr name="Freeform 16" id="16"/>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17" id="17"/>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sp>
        <p:nvSpPr>
          <p:cNvPr name="TextBox 18" id="18"/>
          <p:cNvSpPr txBox="true"/>
          <p:nvPr/>
        </p:nvSpPr>
        <p:spPr>
          <a:xfrm rot="0">
            <a:off x="10898310" y="4821925"/>
            <a:ext cx="6829673"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--4. How does digital wellbeing vary by education level?</a:t>
            </a:r>
          </a:p>
        </p:txBody>
      </p:sp>
      <p:pic>
        <p:nvPicPr>
          <p:cNvPr name="Picture 19" id="19"/>
          <p:cNvPicPr>
            <a:picLocks noChangeAspect="true"/>
          </p:cNvPicPr>
          <p:nvPr/>
        </p:nvPicPr>
        <p:blipFill>
          <a:blip r:embed="rId3"/>
          <a:stretch>
            <a:fillRect/>
          </a:stretch>
        </p:blipFill>
        <p:spPr>
          <a:xfrm rot="7529914">
            <a:off x="9133606" y="6803072"/>
            <a:ext cx="1940830" cy="1528281"/>
          </a:xfrm>
          <a:prstGeom prst="rect">
            <a:avLst/>
          </a:prstGeom>
        </p:spPr>
      </p:pic>
      <p:pic>
        <p:nvPicPr>
          <p:cNvPr name="Picture 20" id="20"/>
          <p:cNvPicPr>
            <a:picLocks noChangeAspect="true"/>
          </p:cNvPicPr>
          <p:nvPr/>
        </p:nvPicPr>
        <p:blipFill>
          <a:blip r:embed="rId4"/>
          <a:stretch>
            <a:fillRect/>
          </a:stretch>
        </p:blipFill>
        <p:spPr>
          <a:xfrm rot="-2057816">
            <a:off x="8357705" y="1330551"/>
            <a:ext cx="2104462" cy="1657131"/>
          </a:xfrm>
          <a:prstGeom prst="rect">
            <a:avLst/>
          </a:prstGeom>
        </p:spPr>
      </p:pic>
      <p:graphicFrame>
        <p:nvGraphicFramePr>
          <p:cNvPr name="Object 21" id="21"/>
          <p:cNvGraphicFramePr/>
          <p:nvPr/>
        </p:nvGraphicFramePr>
        <p:xfrm>
          <a:off x="10673847" y="481368"/>
          <a:ext cx="3771900" cy="2514600"/>
        </p:xfrm>
        <a:graphic>
          <a:graphicData uri="http://schemas.openxmlformats.org/presentationml/2006/ole">
            <p:oleObj imgW="4521200" imgH="3263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aphicFrame>
        <p:nvGraphicFramePr>
          <p:cNvPr name="Object 22" id="22"/>
          <p:cNvGraphicFramePr/>
          <p:nvPr/>
        </p:nvGraphicFramePr>
        <p:xfrm>
          <a:off x="2261474" y="5353280"/>
          <a:ext cx="3771900" cy="2514600"/>
        </p:xfrm>
        <a:graphic>
          <a:graphicData uri="http://schemas.openxmlformats.org/presentationml/2006/ole">
            <p:oleObj imgW="4521200" imgH="3263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23" id="23"/>
          <p:cNvSpPr txBox="true"/>
          <p:nvPr/>
        </p:nvSpPr>
        <p:spPr>
          <a:xfrm rot="0">
            <a:off x="89170" y="68012"/>
            <a:ext cx="8908018" cy="903538"/>
          </a:xfrm>
          <a:prstGeom prst="rect">
            <a:avLst/>
          </a:prstGeom>
        </p:spPr>
        <p:txBody>
          <a:bodyPr anchor="t" rtlCol="false" tIns="0" lIns="0" bIns="0" rIns="0">
            <a:spAutoFit/>
          </a:bodyPr>
          <a:lstStyle/>
          <a:p>
            <a:pPr algn="l">
              <a:lnSpc>
                <a:spcPts val="7423"/>
              </a:lnSpc>
              <a:spcBef>
                <a:spcPct val="0"/>
              </a:spcBef>
            </a:pPr>
            <a:r>
              <a:rPr lang="en-US" b="true" sz="5302">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24</a:t>
            </a:r>
          </a:p>
        </p:txBody>
      </p:sp>
      <p:sp>
        <p:nvSpPr>
          <p:cNvPr name="TextBox 25" id="25"/>
          <p:cNvSpPr txBox="true"/>
          <p:nvPr/>
        </p:nvSpPr>
        <p:spPr>
          <a:xfrm rot="0">
            <a:off x="89170" y="961739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6" id="26"/>
          <p:cNvSpPr txBox="true"/>
          <p:nvPr/>
        </p:nvSpPr>
        <p:spPr>
          <a:xfrm rot="0">
            <a:off x="1932325" y="1244213"/>
            <a:ext cx="6215498" cy="692224"/>
          </a:xfrm>
          <a:prstGeom prst="rect">
            <a:avLst/>
          </a:prstGeom>
        </p:spPr>
        <p:txBody>
          <a:bodyPr anchor="t" rtlCol="false" tIns="0" lIns="0" bIns="0" rIns="0">
            <a:spAutoFit/>
          </a:bodyPr>
          <a:lstStyle/>
          <a:p>
            <a:pPr algn="ctr">
              <a:lnSpc>
                <a:spcPts val="2795"/>
              </a:lnSpc>
              <a:spcBef>
                <a:spcPct val="0"/>
              </a:spcBef>
            </a:pPr>
            <a:r>
              <a:rPr lang="en-US" sz="1997">
                <a:solidFill>
                  <a:srgbClr val="C1DFC1"/>
                </a:solidFill>
                <a:latin typeface="Guild A Display"/>
                <a:ea typeface="Guild A Display"/>
                <a:cs typeface="Guild A Display"/>
                <a:sym typeface="Guild A Display"/>
              </a:rPr>
              <a:t>3. Does gender show differences in social media addiction risk</a:t>
            </a:r>
            <a:r>
              <a:rPr lang="en-US" sz="1997">
                <a:solidFill>
                  <a:srgbClr val="F5F5EF"/>
                </a:solidFill>
                <a:latin typeface="Guild A Display"/>
                <a:ea typeface="Guild A Display"/>
                <a:cs typeface="Guild A Display"/>
                <a:sym typeface="Guild A Display"/>
              </a:rPr>
              <a:t>?</a:t>
            </a:r>
          </a:p>
        </p:txBody>
      </p:sp>
      <p:sp>
        <p:nvSpPr>
          <p:cNvPr name="TextBox 27" id="27"/>
          <p:cNvSpPr txBox="true"/>
          <p:nvPr/>
        </p:nvSpPr>
        <p:spPr>
          <a:xfrm rot="0">
            <a:off x="1806518" y="2060627"/>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p.gender,</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(m.sm_addiction_risk_score)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avg_addiction_risk</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p.gender</a:t>
            </a:r>
          </a:p>
          <a:p>
            <a:pPr algn="just">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avg_addiction_risk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8" id="28"/>
          <p:cNvSpPr txBox="true"/>
          <p:nvPr/>
        </p:nvSpPr>
        <p:spPr>
          <a:xfrm rot="0">
            <a:off x="11064043" y="5531538"/>
            <a:ext cx="5916335" cy="2216785"/>
          </a:xfrm>
          <a:prstGeom prst="rect">
            <a:avLst/>
          </a:prstGeom>
        </p:spPr>
        <p:txBody>
          <a:bodyPr anchor="t" rtlCol="false" tIns="0" lIns="0" bIns="0" rIns="0">
            <a:spAutoFit/>
          </a:bodyPr>
          <a:lstStyle/>
          <a:p>
            <a:pPr algn="l">
              <a:lnSpc>
                <a:spcPts val="2240"/>
              </a:lnSpc>
              <a:spcBef>
                <a:spcPct val="0"/>
              </a:spcBef>
            </a:pPr>
            <a:r>
              <a:rPr lang="en-US" sz="1600">
                <a:solidFill>
                  <a:srgbClr val="0CC0DF"/>
                </a:solidFill>
                <a:latin typeface="Roboto"/>
                <a:ea typeface="Roboto"/>
                <a:cs typeface="Roboto"/>
                <a:sym typeface="Roboto"/>
              </a:rPr>
              <a:t>SELECT </a:t>
            </a:r>
          </a:p>
          <a:p>
            <a:pPr algn="l">
              <a:lnSpc>
                <a:spcPts val="2240"/>
              </a:lnSpc>
              <a:spcBef>
                <a:spcPct val="0"/>
              </a:spcBef>
            </a:pPr>
            <a:r>
              <a:rPr lang="en-US" sz="1600">
                <a:solidFill>
                  <a:srgbClr val="FFFFFF"/>
                </a:solidFill>
                <a:latin typeface="Roboto"/>
                <a:ea typeface="Roboto"/>
                <a:cs typeface="Roboto"/>
                <a:sym typeface="Roboto"/>
              </a:rPr>
              <a:t>    p.education_level,</a:t>
            </a:r>
          </a:p>
          <a:p>
            <a:pPr algn="l">
              <a:lnSpc>
                <a:spcPts val="2240"/>
              </a:lnSpc>
              <a:spcBef>
                <a:spcPct val="0"/>
              </a:spcBef>
            </a:pPr>
            <a:r>
              <a:rPr lang="en-US" sz="1600">
                <a:solidFill>
                  <a:srgbClr val="FFFFFF"/>
                </a:solidFill>
                <a:latin typeface="Roboto"/>
                <a:ea typeface="Roboto"/>
                <a:cs typeface="Roboto"/>
                <a:sym typeface="Roboto"/>
              </a:rPr>
              <a:t>    </a:t>
            </a:r>
            <a:r>
              <a:rPr lang="en-US" sz="1600">
                <a:solidFill>
                  <a:srgbClr val="FF66C4"/>
                </a:solidFill>
                <a:latin typeface="Roboto"/>
                <a:ea typeface="Roboto"/>
                <a:cs typeface="Roboto"/>
                <a:sym typeface="Roboto"/>
              </a:rPr>
              <a:t>AVG</a:t>
            </a:r>
            <a:r>
              <a:rPr lang="en-US" sz="1600">
                <a:solidFill>
                  <a:srgbClr val="FFFFFF"/>
                </a:solidFill>
                <a:latin typeface="Roboto"/>
                <a:ea typeface="Roboto"/>
                <a:cs typeface="Roboto"/>
                <a:sym typeface="Roboto"/>
              </a:rPr>
              <a:t>(m.digital_wellbeing_score) </a:t>
            </a:r>
            <a:r>
              <a:rPr lang="en-US" sz="1600">
                <a:solidFill>
                  <a:srgbClr val="0CC0DF"/>
                </a:solidFill>
                <a:latin typeface="Roboto"/>
                <a:ea typeface="Roboto"/>
                <a:cs typeface="Roboto"/>
                <a:sym typeface="Roboto"/>
              </a:rPr>
              <a:t>AS </a:t>
            </a:r>
            <a:r>
              <a:rPr lang="en-US" sz="1600">
                <a:solidFill>
                  <a:srgbClr val="FFFFFF"/>
                </a:solidFill>
                <a:latin typeface="Roboto"/>
                <a:ea typeface="Roboto"/>
                <a:cs typeface="Roboto"/>
                <a:sym typeface="Roboto"/>
              </a:rPr>
              <a:t>avg_digital_wellbeing_score</a:t>
            </a:r>
          </a:p>
          <a:p>
            <a:pPr algn="l">
              <a:lnSpc>
                <a:spcPts val="2240"/>
              </a:lnSpc>
              <a:spcBef>
                <a:spcPct val="0"/>
              </a:spcBef>
            </a:pPr>
            <a:r>
              <a:rPr lang="en-US" sz="1600">
                <a:solidFill>
                  <a:srgbClr val="0CC0DF"/>
                </a:solidFill>
                <a:latin typeface="Roboto"/>
                <a:ea typeface="Roboto"/>
                <a:cs typeface="Roboto"/>
                <a:sym typeface="Roboto"/>
              </a:rPr>
              <a:t>FROM </a:t>
            </a:r>
            <a:r>
              <a:rPr lang="en-US" sz="1600">
                <a:solidFill>
                  <a:srgbClr val="FFFFFF"/>
                </a:solidFill>
                <a:latin typeface="Roboto"/>
                <a:ea typeface="Roboto"/>
                <a:cs typeface="Roboto"/>
                <a:sym typeface="Roboto"/>
              </a:rPr>
              <a:t>Participant p</a:t>
            </a:r>
          </a:p>
          <a:p>
            <a:pPr algn="l">
              <a:lnSpc>
                <a:spcPts val="2240"/>
              </a:lnSpc>
              <a:spcBef>
                <a:spcPct val="0"/>
              </a:spcBef>
            </a:pPr>
            <a:r>
              <a:rPr lang="en-US" sz="1600">
                <a:solidFill>
                  <a:srgbClr val="D9D9D9"/>
                </a:solidFill>
                <a:latin typeface="Roboto"/>
                <a:ea typeface="Roboto"/>
                <a:cs typeface="Roboto"/>
                <a:sym typeface="Roboto"/>
              </a:rPr>
              <a:t>JOIN </a:t>
            </a:r>
            <a:r>
              <a:rPr lang="en-US" sz="1600">
                <a:solidFill>
                  <a:srgbClr val="FFFFFF"/>
                </a:solidFill>
                <a:latin typeface="Roboto"/>
                <a:ea typeface="Roboto"/>
                <a:cs typeface="Roboto"/>
                <a:sym typeface="Roboto"/>
              </a:rPr>
              <a:t>Fact_User_Metrics m</a:t>
            </a:r>
          </a:p>
          <a:p>
            <a:pPr algn="l">
              <a:lnSpc>
                <a:spcPts val="2240"/>
              </a:lnSpc>
              <a:spcBef>
                <a:spcPct val="0"/>
              </a:spcBef>
            </a:pPr>
            <a:r>
              <a:rPr lang="en-US" sz="1600">
                <a:solidFill>
                  <a:srgbClr val="FFFFFF"/>
                </a:solidFill>
                <a:latin typeface="Roboto"/>
                <a:ea typeface="Roboto"/>
                <a:cs typeface="Roboto"/>
                <a:sym typeface="Roboto"/>
              </a:rPr>
              <a:t>    </a:t>
            </a:r>
            <a:r>
              <a:rPr lang="en-US" sz="1600">
                <a:solidFill>
                  <a:srgbClr val="0CC0DF"/>
                </a:solidFill>
                <a:latin typeface="Roboto"/>
                <a:ea typeface="Roboto"/>
                <a:cs typeface="Roboto"/>
                <a:sym typeface="Roboto"/>
              </a:rPr>
              <a:t>ON </a:t>
            </a:r>
            <a:r>
              <a:rPr lang="en-US" sz="1600">
                <a:solidFill>
                  <a:srgbClr val="FFFFFF"/>
                </a:solidFill>
                <a:latin typeface="Roboto"/>
                <a:ea typeface="Roboto"/>
                <a:cs typeface="Roboto"/>
                <a:sym typeface="Roboto"/>
              </a:rPr>
              <a:t>p.participant_id = m.participant_id</a:t>
            </a:r>
          </a:p>
          <a:p>
            <a:pPr algn="l">
              <a:lnSpc>
                <a:spcPts val="2240"/>
              </a:lnSpc>
              <a:spcBef>
                <a:spcPct val="0"/>
              </a:spcBef>
            </a:pPr>
            <a:r>
              <a:rPr lang="en-US" sz="1600">
                <a:solidFill>
                  <a:srgbClr val="0CC0DF"/>
                </a:solidFill>
                <a:latin typeface="Roboto"/>
                <a:ea typeface="Roboto"/>
                <a:cs typeface="Roboto"/>
                <a:sym typeface="Roboto"/>
              </a:rPr>
              <a:t>GROUP BY</a:t>
            </a:r>
            <a:r>
              <a:rPr lang="en-US" sz="1600">
                <a:solidFill>
                  <a:srgbClr val="FFFFFF"/>
                </a:solidFill>
                <a:latin typeface="Roboto"/>
                <a:ea typeface="Roboto"/>
                <a:cs typeface="Roboto"/>
                <a:sym typeface="Roboto"/>
              </a:rPr>
              <a:t> p.education_level</a:t>
            </a:r>
          </a:p>
          <a:p>
            <a:pPr algn="l">
              <a:lnSpc>
                <a:spcPts val="2240"/>
              </a:lnSpc>
              <a:spcBef>
                <a:spcPct val="0"/>
              </a:spcBef>
            </a:pPr>
            <a:r>
              <a:rPr lang="en-US" sz="1600">
                <a:solidFill>
                  <a:srgbClr val="0CC0DF"/>
                </a:solidFill>
                <a:latin typeface="Roboto"/>
                <a:ea typeface="Roboto"/>
                <a:cs typeface="Roboto"/>
                <a:sym typeface="Roboto"/>
              </a:rPr>
              <a:t>ORDER BY</a:t>
            </a:r>
            <a:r>
              <a:rPr lang="en-US" sz="1600">
                <a:solidFill>
                  <a:srgbClr val="FFFFFF"/>
                </a:solidFill>
                <a:latin typeface="Roboto"/>
                <a:ea typeface="Roboto"/>
                <a:cs typeface="Roboto"/>
                <a:sym typeface="Roboto"/>
              </a:rPr>
              <a:t> avg_digital_wellbeing_score DESC;</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92134" y="-990608"/>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1000708" y="956955"/>
            <a:ext cx="5364649" cy="4333872"/>
            <a:chOff x="0" y="0"/>
            <a:chExt cx="1412912" cy="1141431"/>
          </a:xfrm>
        </p:grpSpPr>
        <p:sp>
          <p:nvSpPr>
            <p:cNvPr name="Freeform 7" id="7"/>
            <p:cNvSpPr/>
            <p:nvPr/>
          </p:nvSpPr>
          <p:spPr>
            <a:xfrm flipH="false" flipV="false" rot="0">
              <a:off x="0" y="0"/>
              <a:ext cx="1412912" cy="1141431"/>
            </a:xfrm>
            <a:custGeom>
              <a:avLst/>
              <a:gdLst/>
              <a:ahLst/>
              <a:cxnLst/>
              <a:rect r="r" b="b" t="t" l="l"/>
              <a:pathLst>
                <a:path h="1141431" w="1412912">
                  <a:moveTo>
                    <a:pt x="73600" y="0"/>
                  </a:moveTo>
                  <a:lnTo>
                    <a:pt x="1339312" y="0"/>
                  </a:lnTo>
                  <a:cubicBezTo>
                    <a:pt x="1379960" y="0"/>
                    <a:pt x="1412912" y="32952"/>
                    <a:pt x="1412912" y="73600"/>
                  </a:cubicBezTo>
                  <a:lnTo>
                    <a:pt x="1412912" y="1067831"/>
                  </a:lnTo>
                  <a:cubicBezTo>
                    <a:pt x="1412912" y="1108480"/>
                    <a:pt x="1379960" y="1141431"/>
                    <a:pt x="1339312" y="1141431"/>
                  </a:cubicBezTo>
                  <a:lnTo>
                    <a:pt x="73600" y="1141431"/>
                  </a:lnTo>
                  <a:cubicBezTo>
                    <a:pt x="32952" y="1141431"/>
                    <a:pt x="0" y="1108480"/>
                    <a:pt x="0" y="1067831"/>
                  </a:cubicBezTo>
                  <a:lnTo>
                    <a:pt x="0" y="73600"/>
                  </a:lnTo>
                  <a:cubicBezTo>
                    <a:pt x="0" y="32952"/>
                    <a:pt x="32952" y="0"/>
                    <a:pt x="73600" y="0"/>
                  </a:cubicBezTo>
                  <a:close/>
                </a:path>
              </a:pathLst>
            </a:custGeom>
            <a:solidFill>
              <a:srgbClr val="304543"/>
            </a:solidFill>
          </p:spPr>
        </p:sp>
        <p:sp>
          <p:nvSpPr>
            <p:cNvPr name="TextBox 8" id="8"/>
            <p:cNvSpPr txBox="true"/>
            <p:nvPr/>
          </p:nvSpPr>
          <p:spPr>
            <a:xfrm>
              <a:off x="0" y="-47625"/>
              <a:ext cx="1412912" cy="1189056"/>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649135" y="82434"/>
            <a:ext cx="6750334" cy="3914431"/>
            <a:chOff x="0" y="0"/>
            <a:chExt cx="1777866" cy="1030961"/>
          </a:xfrm>
        </p:grpSpPr>
        <p:sp>
          <p:nvSpPr>
            <p:cNvPr name="Freeform 10" id="10"/>
            <p:cNvSpPr/>
            <p:nvPr/>
          </p:nvSpPr>
          <p:spPr>
            <a:xfrm flipH="false" flipV="false" rot="0">
              <a:off x="0" y="0"/>
              <a:ext cx="1777866" cy="1030961"/>
            </a:xfrm>
            <a:custGeom>
              <a:avLst/>
              <a:gdLst/>
              <a:ahLst/>
              <a:cxnLst/>
              <a:rect r="r" b="b" t="t" l="l"/>
              <a:pathLst>
                <a:path h="1030961" w="1777866">
                  <a:moveTo>
                    <a:pt x="58492" y="0"/>
                  </a:moveTo>
                  <a:lnTo>
                    <a:pt x="1719374" y="0"/>
                  </a:lnTo>
                  <a:cubicBezTo>
                    <a:pt x="1751678" y="0"/>
                    <a:pt x="1777866" y="26188"/>
                    <a:pt x="1777866" y="58492"/>
                  </a:cubicBezTo>
                  <a:lnTo>
                    <a:pt x="1777866" y="972470"/>
                  </a:lnTo>
                  <a:cubicBezTo>
                    <a:pt x="1777866" y="1004774"/>
                    <a:pt x="1751678" y="1030961"/>
                    <a:pt x="1719374" y="1030961"/>
                  </a:cubicBezTo>
                  <a:lnTo>
                    <a:pt x="58492" y="1030961"/>
                  </a:lnTo>
                  <a:cubicBezTo>
                    <a:pt x="26188" y="1030961"/>
                    <a:pt x="0" y="1004774"/>
                    <a:pt x="0" y="972470"/>
                  </a:cubicBezTo>
                  <a:lnTo>
                    <a:pt x="0" y="58492"/>
                  </a:lnTo>
                  <a:cubicBezTo>
                    <a:pt x="0" y="26188"/>
                    <a:pt x="26188" y="0"/>
                    <a:pt x="58492" y="0"/>
                  </a:cubicBezTo>
                  <a:close/>
                </a:path>
              </a:pathLst>
            </a:custGeom>
            <a:solidFill>
              <a:srgbClr val="304543"/>
            </a:solidFill>
          </p:spPr>
        </p:sp>
        <p:sp>
          <p:nvSpPr>
            <p:cNvPr name="TextBox 11" id="11"/>
            <p:cNvSpPr txBox="true"/>
            <p:nvPr/>
          </p:nvSpPr>
          <p:spPr>
            <a:xfrm>
              <a:off x="0" y="-47625"/>
              <a:ext cx="1777866" cy="1078586"/>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6736269" y="1209775"/>
            <a:ext cx="3376764" cy="2236882"/>
            <a:chOff x="0" y="0"/>
            <a:chExt cx="889354" cy="589138"/>
          </a:xfrm>
        </p:grpSpPr>
        <p:sp>
          <p:nvSpPr>
            <p:cNvPr name="Freeform 13" id="13"/>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14" id="14"/>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221017" y="4409579"/>
            <a:ext cx="7606569" cy="4300575"/>
            <a:chOff x="0" y="0"/>
            <a:chExt cx="2003376" cy="1132662"/>
          </a:xfrm>
        </p:grpSpPr>
        <p:sp>
          <p:nvSpPr>
            <p:cNvPr name="Freeform 16" id="16"/>
            <p:cNvSpPr/>
            <p:nvPr/>
          </p:nvSpPr>
          <p:spPr>
            <a:xfrm flipH="false" flipV="false" rot="0">
              <a:off x="0" y="0"/>
              <a:ext cx="2003376" cy="1132662"/>
            </a:xfrm>
            <a:custGeom>
              <a:avLst/>
              <a:gdLst/>
              <a:ahLst/>
              <a:cxnLst/>
              <a:rect r="r" b="b" t="t" l="l"/>
              <a:pathLst>
                <a:path h="1132662" w="2003376">
                  <a:moveTo>
                    <a:pt x="51907" y="0"/>
                  </a:moveTo>
                  <a:lnTo>
                    <a:pt x="1951469" y="0"/>
                  </a:lnTo>
                  <a:cubicBezTo>
                    <a:pt x="1965235" y="0"/>
                    <a:pt x="1978438" y="5469"/>
                    <a:pt x="1988173" y="15203"/>
                  </a:cubicBezTo>
                  <a:cubicBezTo>
                    <a:pt x="1997907" y="24938"/>
                    <a:pt x="2003376" y="38141"/>
                    <a:pt x="2003376" y="51907"/>
                  </a:cubicBezTo>
                  <a:lnTo>
                    <a:pt x="2003376" y="1080754"/>
                  </a:lnTo>
                  <a:cubicBezTo>
                    <a:pt x="2003376" y="1094521"/>
                    <a:pt x="1997907" y="1107724"/>
                    <a:pt x="1988173" y="1117458"/>
                  </a:cubicBezTo>
                  <a:cubicBezTo>
                    <a:pt x="1978438" y="1127193"/>
                    <a:pt x="1965235" y="1132662"/>
                    <a:pt x="1951469" y="1132662"/>
                  </a:cubicBezTo>
                  <a:lnTo>
                    <a:pt x="51907" y="1132662"/>
                  </a:lnTo>
                  <a:cubicBezTo>
                    <a:pt x="38141" y="1132662"/>
                    <a:pt x="24938" y="1127193"/>
                    <a:pt x="15203" y="1117458"/>
                  </a:cubicBezTo>
                  <a:cubicBezTo>
                    <a:pt x="5469" y="1107724"/>
                    <a:pt x="0" y="1094521"/>
                    <a:pt x="0" y="1080754"/>
                  </a:cubicBezTo>
                  <a:lnTo>
                    <a:pt x="0" y="51907"/>
                  </a:lnTo>
                  <a:cubicBezTo>
                    <a:pt x="0" y="38141"/>
                    <a:pt x="5469" y="24938"/>
                    <a:pt x="15203" y="15203"/>
                  </a:cubicBezTo>
                  <a:cubicBezTo>
                    <a:pt x="24938" y="5469"/>
                    <a:pt x="38141" y="0"/>
                    <a:pt x="51907" y="0"/>
                  </a:cubicBezTo>
                  <a:close/>
                </a:path>
              </a:pathLst>
            </a:custGeom>
            <a:solidFill>
              <a:srgbClr val="304543"/>
            </a:solidFill>
          </p:spPr>
        </p:sp>
        <p:sp>
          <p:nvSpPr>
            <p:cNvPr name="TextBox 17" id="17"/>
            <p:cNvSpPr txBox="true"/>
            <p:nvPr/>
          </p:nvSpPr>
          <p:spPr>
            <a:xfrm>
              <a:off x="0" y="-47625"/>
              <a:ext cx="2003376" cy="1180287"/>
            </a:xfrm>
            <a:prstGeom prst="rect">
              <a:avLst/>
            </a:prstGeom>
          </p:spPr>
          <p:txBody>
            <a:bodyPr anchor="ctr" rtlCol="false" tIns="50800" lIns="50800" bIns="50800" rIns="50800"/>
            <a:lstStyle/>
            <a:p>
              <a:pPr algn="ctr">
                <a:lnSpc>
                  <a:spcPts val="2939"/>
                </a:lnSpc>
              </a:pPr>
            </a:p>
          </p:txBody>
        </p:sp>
      </p:grpSp>
      <p:grpSp>
        <p:nvGrpSpPr>
          <p:cNvPr name="Group 18" id="18"/>
          <p:cNvGrpSpPr/>
          <p:nvPr/>
        </p:nvGrpSpPr>
        <p:grpSpPr>
          <a:xfrm rot="-10800000">
            <a:off x="6767361" y="5496139"/>
            <a:ext cx="3211575" cy="2127455"/>
            <a:chOff x="0" y="0"/>
            <a:chExt cx="889354" cy="589138"/>
          </a:xfrm>
        </p:grpSpPr>
        <p:sp>
          <p:nvSpPr>
            <p:cNvPr name="Freeform 19" id="19"/>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20" id="20"/>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grpSp>
        <p:nvGrpSpPr>
          <p:cNvPr name="Group 21" id="21"/>
          <p:cNvGrpSpPr/>
          <p:nvPr/>
        </p:nvGrpSpPr>
        <p:grpSpPr>
          <a:xfrm rot="0">
            <a:off x="481192" y="5595628"/>
            <a:ext cx="6044088" cy="3356914"/>
            <a:chOff x="0" y="0"/>
            <a:chExt cx="1591859" cy="884125"/>
          </a:xfrm>
        </p:grpSpPr>
        <p:sp>
          <p:nvSpPr>
            <p:cNvPr name="Freeform 22" id="22"/>
            <p:cNvSpPr/>
            <p:nvPr/>
          </p:nvSpPr>
          <p:spPr>
            <a:xfrm flipH="false" flipV="false" rot="0">
              <a:off x="0" y="0"/>
              <a:ext cx="1591859" cy="884125"/>
            </a:xfrm>
            <a:custGeom>
              <a:avLst/>
              <a:gdLst/>
              <a:ahLst/>
              <a:cxnLst/>
              <a:rect r="r" b="b" t="t" l="l"/>
              <a:pathLst>
                <a:path h="884125" w="1591859">
                  <a:moveTo>
                    <a:pt x="65326" y="0"/>
                  </a:moveTo>
                  <a:lnTo>
                    <a:pt x="1526533" y="0"/>
                  </a:lnTo>
                  <a:cubicBezTo>
                    <a:pt x="1562611" y="0"/>
                    <a:pt x="1591859" y="29248"/>
                    <a:pt x="1591859" y="65326"/>
                  </a:cubicBezTo>
                  <a:lnTo>
                    <a:pt x="1591859" y="818799"/>
                  </a:lnTo>
                  <a:cubicBezTo>
                    <a:pt x="1591859" y="836125"/>
                    <a:pt x="1584976" y="852741"/>
                    <a:pt x="1572725" y="864992"/>
                  </a:cubicBezTo>
                  <a:cubicBezTo>
                    <a:pt x="1560474" y="877243"/>
                    <a:pt x="1543858" y="884125"/>
                    <a:pt x="1526533" y="884125"/>
                  </a:cubicBezTo>
                  <a:lnTo>
                    <a:pt x="65326" y="884125"/>
                  </a:lnTo>
                  <a:cubicBezTo>
                    <a:pt x="48001" y="884125"/>
                    <a:pt x="31385" y="877243"/>
                    <a:pt x="19134" y="864992"/>
                  </a:cubicBezTo>
                  <a:cubicBezTo>
                    <a:pt x="6883" y="852741"/>
                    <a:pt x="0" y="836125"/>
                    <a:pt x="0" y="818799"/>
                  </a:cubicBezTo>
                  <a:lnTo>
                    <a:pt x="0" y="65326"/>
                  </a:lnTo>
                  <a:cubicBezTo>
                    <a:pt x="0" y="48001"/>
                    <a:pt x="6883" y="31385"/>
                    <a:pt x="19134" y="19134"/>
                  </a:cubicBezTo>
                  <a:cubicBezTo>
                    <a:pt x="31385" y="6883"/>
                    <a:pt x="48001" y="0"/>
                    <a:pt x="65326" y="0"/>
                  </a:cubicBezTo>
                  <a:close/>
                </a:path>
              </a:pathLst>
            </a:custGeom>
            <a:solidFill>
              <a:srgbClr val="304543"/>
            </a:solidFill>
          </p:spPr>
        </p:sp>
        <p:sp>
          <p:nvSpPr>
            <p:cNvPr name="TextBox 23" id="23"/>
            <p:cNvSpPr txBox="true"/>
            <p:nvPr/>
          </p:nvSpPr>
          <p:spPr>
            <a:xfrm>
              <a:off x="0" y="-47625"/>
              <a:ext cx="1591859" cy="931750"/>
            </a:xfrm>
            <a:prstGeom prst="rect">
              <a:avLst/>
            </a:prstGeom>
          </p:spPr>
          <p:txBody>
            <a:bodyPr anchor="ctr" rtlCol="false" tIns="50800" lIns="50800" bIns="50800" rIns="50800"/>
            <a:lstStyle/>
            <a:p>
              <a:pPr algn="ctr">
                <a:lnSpc>
                  <a:spcPts val="2939"/>
                </a:lnSpc>
              </a:pPr>
            </a:p>
          </p:txBody>
        </p:sp>
      </p:grpSp>
      <p:graphicFrame>
        <p:nvGraphicFramePr>
          <p:cNvPr name="Object 24" id="24"/>
          <p:cNvGraphicFramePr/>
          <p:nvPr/>
        </p:nvGraphicFramePr>
        <p:xfrm>
          <a:off x="10857480" y="259141"/>
          <a:ext cx="3291840" cy="8229600"/>
        </p:xfrm>
        <a:graphic>
          <a:graphicData uri="http://schemas.openxmlformats.org/presentationml/2006/ole">
            <p:oleObj imgW="49276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771066" y="5729952"/>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6" id="26"/>
          <p:cNvSpPr txBox="true"/>
          <p:nvPr/>
        </p:nvSpPr>
        <p:spPr>
          <a:xfrm rot="0">
            <a:off x="130370" y="-3291"/>
            <a:ext cx="8376876" cy="796101"/>
          </a:xfrm>
          <a:prstGeom prst="rect">
            <a:avLst/>
          </a:prstGeom>
        </p:spPr>
        <p:txBody>
          <a:bodyPr anchor="t" rtlCol="false" tIns="0" lIns="0" bIns="0" rIns="0">
            <a:spAutoFit/>
          </a:bodyPr>
          <a:lstStyle/>
          <a:p>
            <a:pPr algn="l">
              <a:lnSpc>
                <a:spcPts val="6555"/>
              </a:lnSpc>
              <a:spcBef>
                <a:spcPct val="0"/>
              </a:spcBef>
            </a:pPr>
            <a:r>
              <a:rPr lang="en-US" b="true" sz="4682">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27" id="27"/>
          <p:cNvSpPr txBox="true"/>
          <p:nvPr/>
        </p:nvSpPr>
        <p:spPr>
          <a:xfrm rot="0">
            <a:off x="17259300" y="9445897"/>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25</a:t>
            </a:r>
          </a:p>
        </p:txBody>
      </p:sp>
      <p:sp>
        <p:nvSpPr>
          <p:cNvPr name="TextBox 28" id="28"/>
          <p:cNvSpPr txBox="true"/>
          <p:nvPr/>
        </p:nvSpPr>
        <p:spPr>
          <a:xfrm rot="0">
            <a:off x="89170" y="952859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9" id="29"/>
          <p:cNvSpPr txBox="true"/>
          <p:nvPr/>
        </p:nvSpPr>
        <p:spPr>
          <a:xfrm rot="0">
            <a:off x="1206266" y="1162150"/>
            <a:ext cx="4953532" cy="701675"/>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5. Which occupation categories have the highest average screen time?</a:t>
            </a:r>
          </a:p>
        </p:txBody>
      </p:sp>
      <p:sp>
        <p:nvSpPr>
          <p:cNvPr name="TextBox 30" id="30"/>
          <p:cNvSpPr txBox="true"/>
          <p:nvPr/>
        </p:nvSpPr>
        <p:spPr>
          <a:xfrm rot="0">
            <a:off x="10221017" y="4794250"/>
            <a:ext cx="7325658"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6 Does relationship status relate to social media usage?</a:t>
            </a:r>
          </a:p>
        </p:txBody>
      </p:sp>
      <p:sp>
        <p:nvSpPr>
          <p:cNvPr name="TextBox 31" id="31"/>
          <p:cNvSpPr txBox="true"/>
          <p:nvPr/>
        </p:nvSpPr>
        <p:spPr>
          <a:xfrm rot="0">
            <a:off x="1266845" y="2176339"/>
            <a:ext cx="5364649"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p.occupation_category,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(m.avg_daily_screen_time_hours)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avg_screen_time_hours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p.occupation_category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avg_screen_time_hours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32" id="32"/>
          <p:cNvSpPr txBox="true"/>
          <p:nvPr/>
        </p:nvSpPr>
        <p:spPr>
          <a:xfrm rot="0">
            <a:off x="10588537" y="5548003"/>
            <a:ext cx="7606569" cy="2216785"/>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p.relationship_status,</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(m.avg_daily_sm_hours)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avg_social_media_hours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p.relationship_status</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avg_social_media_hours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867803" y="-752381"/>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290475" y="2513171"/>
            <a:ext cx="7179852" cy="5290439"/>
            <a:chOff x="0" y="0"/>
            <a:chExt cx="1890990" cy="1393367"/>
          </a:xfrm>
        </p:grpSpPr>
        <p:sp>
          <p:nvSpPr>
            <p:cNvPr name="Freeform 7" id="7"/>
            <p:cNvSpPr/>
            <p:nvPr/>
          </p:nvSpPr>
          <p:spPr>
            <a:xfrm flipH="false" flipV="false" rot="0">
              <a:off x="0" y="0"/>
              <a:ext cx="1890990" cy="1393367"/>
            </a:xfrm>
            <a:custGeom>
              <a:avLst/>
              <a:gdLst/>
              <a:ahLst/>
              <a:cxnLst/>
              <a:rect r="r" b="b" t="t" l="l"/>
              <a:pathLst>
                <a:path h="1393367" w="1890990">
                  <a:moveTo>
                    <a:pt x="54992" y="0"/>
                  </a:moveTo>
                  <a:lnTo>
                    <a:pt x="1835997" y="0"/>
                  </a:lnTo>
                  <a:cubicBezTo>
                    <a:pt x="1850582" y="0"/>
                    <a:pt x="1864570" y="5794"/>
                    <a:pt x="1874883" y="16107"/>
                  </a:cubicBezTo>
                  <a:cubicBezTo>
                    <a:pt x="1885196" y="26420"/>
                    <a:pt x="1890990" y="40408"/>
                    <a:pt x="1890990" y="54992"/>
                  </a:cubicBezTo>
                  <a:lnTo>
                    <a:pt x="1890990" y="1338374"/>
                  </a:lnTo>
                  <a:cubicBezTo>
                    <a:pt x="1890990" y="1368746"/>
                    <a:pt x="1866369" y="1393367"/>
                    <a:pt x="1835997" y="1393367"/>
                  </a:cubicBezTo>
                  <a:lnTo>
                    <a:pt x="54992" y="1393367"/>
                  </a:lnTo>
                  <a:cubicBezTo>
                    <a:pt x="24621" y="1393367"/>
                    <a:pt x="0" y="1368746"/>
                    <a:pt x="0" y="1338374"/>
                  </a:cubicBezTo>
                  <a:lnTo>
                    <a:pt x="0" y="54992"/>
                  </a:lnTo>
                  <a:cubicBezTo>
                    <a:pt x="0" y="24621"/>
                    <a:pt x="24621" y="0"/>
                    <a:pt x="54992" y="0"/>
                  </a:cubicBezTo>
                  <a:close/>
                </a:path>
              </a:pathLst>
            </a:custGeom>
            <a:solidFill>
              <a:srgbClr val="304543"/>
            </a:solidFill>
          </p:spPr>
        </p:sp>
        <p:sp>
          <p:nvSpPr>
            <p:cNvPr name="TextBox 8" id="8"/>
            <p:cNvSpPr txBox="true"/>
            <p:nvPr/>
          </p:nvSpPr>
          <p:spPr>
            <a:xfrm>
              <a:off x="0" y="-57150"/>
              <a:ext cx="1890990" cy="1450517"/>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9" id="9"/>
          <p:cNvGrpSpPr/>
          <p:nvPr/>
        </p:nvGrpSpPr>
        <p:grpSpPr>
          <a:xfrm rot="0">
            <a:off x="10838308" y="567891"/>
            <a:ext cx="7021830" cy="8380490"/>
            <a:chOff x="0" y="0"/>
            <a:chExt cx="1849371" cy="2207207"/>
          </a:xfrm>
        </p:grpSpPr>
        <p:sp>
          <p:nvSpPr>
            <p:cNvPr name="Freeform 10" id="10"/>
            <p:cNvSpPr/>
            <p:nvPr/>
          </p:nvSpPr>
          <p:spPr>
            <a:xfrm flipH="false" flipV="false" rot="0">
              <a:off x="0" y="0"/>
              <a:ext cx="1849371" cy="2207207"/>
            </a:xfrm>
            <a:custGeom>
              <a:avLst/>
              <a:gdLst/>
              <a:ahLst/>
              <a:cxnLst/>
              <a:rect r="r" b="b" t="t" l="l"/>
              <a:pathLst>
                <a:path h="2207207" w="1849371">
                  <a:moveTo>
                    <a:pt x="56230" y="0"/>
                  </a:moveTo>
                  <a:lnTo>
                    <a:pt x="1793141" y="0"/>
                  </a:lnTo>
                  <a:cubicBezTo>
                    <a:pt x="1808054" y="0"/>
                    <a:pt x="1822356" y="5924"/>
                    <a:pt x="1832901" y="16469"/>
                  </a:cubicBezTo>
                  <a:cubicBezTo>
                    <a:pt x="1843446" y="27015"/>
                    <a:pt x="1849371" y="41317"/>
                    <a:pt x="1849371" y="56230"/>
                  </a:cubicBezTo>
                  <a:lnTo>
                    <a:pt x="1849371" y="2150977"/>
                  </a:lnTo>
                  <a:cubicBezTo>
                    <a:pt x="1849371" y="2165890"/>
                    <a:pt x="1843446" y="2180193"/>
                    <a:pt x="1832901" y="2190738"/>
                  </a:cubicBezTo>
                  <a:cubicBezTo>
                    <a:pt x="1822356" y="2201283"/>
                    <a:pt x="1808054" y="2207207"/>
                    <a:pt x="1793141" y="2207207"/>
                  </a:cubicBezTo>
                  <a:lnTo>
                    <a:pt x="56230" y="2207207"/>
                  </a:lnTo>
                  <a:cubicBezTo>
                    <a:pt x="41317" y="2207207"/>
                    <a:pt x="27015" y="2201283"/>
                    <a:pt x="16469" y="2190738"/>
                  </a:cubicBezTo>
                  <a:cubicBezTo>
                    <a:pt x="5924" y="2180193"/>
                    <a:pt x="0" y="2165890"/>
                    <a:pt x="0" y="2150977"/>
                  </a:cubicBezTo>
                  <a:lnTo>
                    <a:pt x="0" y="56230"/>
                  </a:lnTo>
                  <a:cubicBezTo>
                    <a:pt x="0" y="41317"/>
                    <a:pt x="5924" y="27015"/>
                    <a:pt x="16469" y="16469"/>
                  </a:cubicBezTo>
                  <a:cubicBezTo>
                    <a:pt x="27015" y="5924"/>
                    <a:pt x="41317" y="0"/>
                    <a:pt x="56230" y="0"/>
                  </a:cubicBezTo>
                  <a:close/>
                </a:path>
              </a:pathLst>
            </a:custGeom>
            <a:solidFill>
              <a:srgbClr val="304543"/>
            </a:solidFill>
          </p:spPr>
        </p:sp>
        <p:sp>
          <p:nvSpPr>
            <p:cNvPr name="TextBox 11" id="11"/>
            <p:cNvSpPr txBox="true"/>
            <p:nvPr/>
          </p:nvSpPr>
          <p:spPr>
            <a:xfrm>
              <a:off x="0" y="-47625"/>
              <a:ext cx="1849371" cy="2254832"/>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11115739" y="634566"/>
          <a:ext cx="3771900" cy="9220200"/>
        </p:xfrm>
        <a:graphic>
          <a:graphicData uri="http://schemas.openxmlformats.org/presentationml/2006/ole">
            <p:oleObj imgW="5613400" imgH="110617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3" id="13"/>
          <p:cNvSpPr txBox="true"/>
          <p:nvPr/>
        </p:nvSpPr>
        <p:spPr>
          <a:xfrm rot="0">
            <a:off x="357150" y="15759"/>
            <a:ext cx="8741321" cy="828252"/>
          </a:xfrm>
          <a:prstGeom prst="rect">
            <a:avLst/>
          </a:prstGeom>
        </p:spPr>
        <p:txBody>
          <a:bodyPr anchor="t" rtlCol="false" tIns="0" lIns="0" bIns="0" rIns="0">
            <a:spAutoFit/>
          </a:bodyPr>
          <a:lstStyle/>
          <a:p>
            <a:pPr algn="l">
              <a:lnSpc>
                <a:spcPts val="6848"/>
              </a:lnSpc>
              <a:spcBef>
                <a:spcPct val="0"/>
              </a:spcBef>
            </a:pPr>
            <a:r>
              <a:rPr lang="en-US" sz="4891" b="true">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14" id="14"/>
          <p:cNvSpPr txBox="true"/>
          <p:nvPr/>
        </p:nvSpPr>
        <p:spPr>
          <a:xfrm rot="0">
            <a:off x="17259300" y="946785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26</a:t>
            </a:r>
          </a:p>
        </p:txBody>
      </p:sp>
      <p:sp>
        <p:nvSpPr>
          <p:cNvPr name="TextBox 15" id="15"/>
          <p:cNvSpPr txBox="true"/>
          <p:nvPr/>
        </p:nvSpPr>
        <p:spPr>
          <a:xfrm rot="0">
            <a:off x="89170" y="9492707"/>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16" id="16"/>
          <p:cNvGrpSpPr/>
          <p:nvPr/>
        </p:nvGrpSpPr>
        <p:grpSpPr>
          <a:xfrm rot="0">
            <a:off x="7618422" y="4098000"/>
            <a:ext cx="3071791" cy="2034857"/>
            <a:chOff x="0" y="0"/>
            <a:chExt cx="889354" cy="589138"/>
          </a:xfrm>
        </p:grpSpPr>
        <p:sp>
          <p:nvSpPr>
            <p:cNvPr name="Freeform 17" id="17"/>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18" id="18"/>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sp>
        <p:nvSpPr>
          <p:cNvPr name="TextBox 19" id="19"/>
          <p:cNvSpPr txBox="true"/>
          <p:nvPr/>
        </p:nvSpPr>
        <p:spPr>
          <a:xfrm rot="0">
            <a:off x="3341072" y="5381308"/>
            <a:ext cx="11605856" cy="198120"/>
          </a:xfrm>
          <a:prstGeom prst="rect">
            <a:avLst/>
          </a:prstGeom>
        </p:spPr>
        <p:txBody>
          <a:bodyPr anchor="t" rtlCol="false" tIns="0" lIns="0" bIns="0" rIns="0">
            <a:spAutoFit/>
          </a:bodyPr>
          <a:lstStyle/>
          <a:p>
            <a:pPr algn="ctr">
              <a:lnSpc>
                <a:spcPts val="1679"/>
              </a:lnSpc>
            </a:pPr>
            <a:r>
              <a:rPr lang="en-US" sz="1200">
                <a:solidFill>
                  <a:srgbClr val="FFFFFF"/>
                </a:solidFill>
                <a:latin typeface="Guild A Display"/>
                <a:ea typeface="Guild A Display"/>
                <a:cs typeface="Guild A Display"/>
                <a:sym typeface="Guild A Display"/>
              </a:rPr>
              <a:t>Guild A Display</a:t>
            </a:r>
          </a:p>
        </p:txBody>
      </p:sp>
      <p:sp>
        <p:nvSpPr>
          <p:cNvPr name="TextBox 20" id="20"/>
          <p:cNvSpPr txBox="true"/>
          <p:nvPr/>
        </p:nvSpPr>
        <p:spPr>
          <a:xfrm rot="0">
            <a:off x="-1922527" y="2776997"/>
            <a:ext cx="11605856" cy="349250"/>
          </a:xfrm>
          <a:prstGeom prst="rect">
            <a:avLst/>
          </a:prstGeom>
        </p:spPr>
        <p:txBody>
          <a:bodyPr anchor="t" rtlCol="false" tIns="0" lIns="0" bIns="0" rIns="0">
            <a:spAutoFit/>
          </a:bodyPr>
          <a:lstStyle/>
          <a:p>
            <a:pPr algn="ctr">
              <a:lnSpc>
                <a:spcPts val="2800"/>
              </a:lnSpc>
            </a:pPr>
            <a:r>
              <a:rPr lang="en-US" sz="2000">
                <a:solidFill>
                  <a:srgbClr val="FFFFFF"/>
                </a:solidFill>
                <a:latin typeface="Guild A Display"/>
                <a:ea typeface="Guild A Display"/>
                <a:cs typeface="Guild A Display"/>
                <a:sym typeface="Guild A Display"/>
              </a:rPr>
              <a:t>7.</a:t>
            </a:r>
            <a:r>
              <a:rPr lang="en-US" sz="2000">
                <a:solidFill>
                  <a:srgbClr val="FFFFFF"/>
                </a:solidFill>
                <a:latin typeface="Guild A Display"/>
                <a:ea typeface="Guild A Display"/>
                <a:cs typeface="Guild A Display"/>
                <a:sym typeface="Guild A Display"/>
              </a:rPr>
              <a:t> How does mental fog frequency vary across age groups?</a:t>
            </a:r>
          </a:p>
        </p:txBody>
      </p:sp>
      <p:sp>
        <p:nvSpPr>
          <p:cNvPr name="TextBox 21" id="21"/>
          <p:cNvSpPr txBox="true"/>
          <p:nvPr/>
        </p:nvSpPr>
        <p:spPr>
          <a:xfrm rot="0">
            <a:off x="598683" y="3667125"/>
            <a:ext cx="7179852" cy="35979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md.mental_fog_frequency,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number_of_participants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Mental_Detox md</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md.participant_id</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md.mental_fog_frequency</a:t>
            </a:r>
          </a:p>
          <a:p>
            <a:pPr algn="l">
              <a:lnSpc>
                <a:spcPts val="2239"/>
              </a:lnSpc>
            </a:pPr>
            <a:r>
              <a:rPr lang="en-US" sz="1599">
                <a:solidFill>
                  <a:srgbClr val="0CC0DF"/>
                </a:solidFill>
                <a:latin typeface="Roboto"/>
                <a:ea typeface="Roboto"/>
                <a:cs typeface="Roboto"/>
                <a:sym typeface="Roboto"/>
              </a:rPr>
              <a:t>ORDER BY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number_of_participants DESC;</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080480"/>
          </a:xfrm>
          <a:custGeom>
            <a:avLst/>
            <a:gdLst/>
            <a:ahLst/>
            <a:cxnLst/>
            <a:rect r="r" b="b" t="t" l="l"/>
            <a:pathLst>
              <a:path h="10080480" w="18288000">
                <a:moveTo>
                  <a:pt x="0" y="0"/>
                </a:moveTo>
                <a:lnTo>
                  <a:pt x="18288000" y="0"/>
                </a:lnTo>
                <a:lnTo>
                  <a:pt x="18288000" y="10080480"/>
                </a:lnTo>
                <a:lnTo>
                  <a:pt x="0" y="10080480"/>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11288" y="133350"/>
            <a:ext cx="10578166" cy="9048535"/>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2000"/>
              </a:blip>
              <a:stretch>
                <a:fillRect l="0" t="-8452" r="0" b="-8452"/>
              </a:stretch>
            </a:blipFill>
          </p:spPr>
        </p:sp>
      </p:grpSp>
      <p:sp>
        <p:nvSpPr>
          <p:cNvPr name="TextBox 4" id="4"/>
          <p:cNvSpPr txBox="true"/>
          <p:nvPr/>
        </p:nvSpPr>
        <p:spPr>
          <a:xfrm rot="0">
            <a:off x="697968" y="9110444"/>
            <a:ext cx="8694088" cy="311660"/>
          </a:xfrm>
          <a:prstGeom prst="rect">
            <a:avLst/>
          </a:prstGeom>
        </p:spPr>
        <p:txBody>
          <a:bodyPr anchor="t" rtlCol="false" tIns="0" lIns="0" bIns="0" rIns="0">
            <a:spAutoFit/>
          </a:bodyPr>
          <a:lstStyle/>
          <a:p>
            <a:pPr algn="ctr">
              <a:lnSpc>
                <a:spcPts val="2551"/>
              </a:lnSpc>
              <a:spcBef>
                <a:spcPct val="0"/>
              </a:spcBef>
            </a:pPr>
            <a:r>
              <a:rPr lang="en-US" sz="1822" spc="218">
                <a:solidFill>
                  <a:srgbClr val="C1DFC1"/>
                </a:solidFill>
                <a:latin typeface="HK Grotesk Light"/>
                <a:ea typeface="HK Grotesk Light"/>
                <a:cs typeface="HK Grotesk Light"/>
                <a:sym typeface="HK Grotesk Light"/>
              </a:rPr>
              <a:t>SOCIAL MEDIA, DOPAMINE AND PRODUCTIVITY |DATA ANALYSIS</a:t>
            </a:r>
          </a:p>
        </p:txBody>
      </p:sp>
      <p:sp>
        <p:nvSpPr>
          <p:cNvPr name="TextBox 5" id="5"/>
          <p:cNvSpPr txBox="true"/>
          <p:nvPr/>
        </p:nvSpPr>
        <p:spPr>
          <a:xfrm rot="0">
            <a:off x="614793" y="1134999"/>
            <a:ext cx="9940524" cy="1524885"/>
          </a:xfrm>
          <a:prstGeom prst="rect">
            <a:avLst/>
          </a:prstGeom>
        </p:spPr>
        <p:txBody>
          <a:bodyPr anchor="t" rtlCol="false" tIns="0" lIns="0" bIns="0" rIns="0">
            <a:spAutoFit/>
          </a:bodyPr>
          <a:lstStyle/>
          <a:p>
            <a:pPr algn="ctr">
              <a:lnSpc>
                <a:spcPts val="3917"/>
              </a:lnSpc>
              <a:spcBef>
                <a:spcPct val="0"/>
              </a:spcBef>
            </a:pPr>
            <a:r>
              <a:rPr lang="en-US" sz="2798">
                <a:solidFill>
                  <a:srgbClr val="C1DFC1"/>
                </a:solidFill>
                <a:latin typeface="Guild A Display"/>
                <a:ea typeface="Guild A Display"/>
                <a:cs typeface="Guild A Display"/>
                <a:sym typeface="Guild A Display"/>
              </a:rPr>
              <a:t>1. Social Media Usage &amp; Habits</a:t>
            </a:r>
          </a:p>
          <a:p>
            <a:pPr algn="ctr">
              <a:lnSpc>
                <a:spcPts val="2742"/>
              </a:lnSpc>
              <a:spcBef>
                <a:spcPct val="0"/>
              </a:spcBef>
            </a:pPr>
            <a:r>
              <a:rPr lang="en-US" sz="1958">
                <a:solidFill>
                  <a:srgbClr val="C1DFC1"/>
                </a:solidFill>
                <a:latin typeface="Guild A Display"/>
                <a:ea typeface="Guild A Display"/>
                <a:cs typeface="Guild A Display"/>
                <a:sym typeface="Guild A Display"/>
              </a:rPr>
              <a:t>Higher social media usage can be compared with differences in screen time and productivity.</a:t>
            </a:r>
          </a:p>
          <a:p>
            <a:pPr algn="ctr">
              <a:lnSpc>
                <a:spcPts val="2742"/>
              </a:lnSpc>
              <a:spcBef>
                <a:spcPct val="0"/>
              </a:spcBef>
            </a:pPr>
            <a:r>
              <a:rPr lang="en-US" sz="1958">
                <a:solidFill>
                  <a:srgbClr val="C1DFC1"/>
                </a:solidFill>
                <a:latin typeface="Guild A Display"/>
                <a:ea typeface="Guild A Display"/>
                <a:cs typeface="Guild A Display"/>
                <a:sym typeface="Guild A Display"/>
              </a:rPr>
              <a:t>Frequent checking and purposeless scrolling highlight different patterns of social media use.</a:t>
            </a:r>
          </a:p>
          <a:p>
            <a:pPr algn="ctr">
              <a:lnSpc>
                <a:spcPts val="2742"/>
              </a:lnSpc>
              <a:spcBef>
                <a:spcPct val="0"/>
              </a:spcBef>
            </a:pPr>
            <a:r>
              <a:rPr lang="en-US" sz="1958">
                <a:solidFill>
                  <a:srgbClr val="C1DFC1"/>
                </a:solidFill>
                <a:latin typeface="Guild A Display"/>
                <a:ea typeface="Guild A Display"/>
                <a:cs typeface="Guild A Display"/>
                <a:sym typeface="Guild A Display"/>
              </a:rPr>
              <a:t>Late-night scrolling can be examined in relation to sleep duration and sleep quality.</a:t>
            </a:r>
          </a:p>
        </p:txBody>
      </p:sp>
      <p:grpSp>
        <p:nvGrpSpPr>
          <p:cNvPr name="Group 6" id="6"/>
          <p:cNvGrpSpPr/>
          <p:nvPr/>
        </p:nvGrpSpPr>
        <p:grpSpPr>
          <a:xfrm rot="0">
            <a:off x="614793" y="1115877"/>
            <a:ext cx="11134299" cy="1663213"/>
            <a:chOff x="0" y="0"/>
            <a:chExt cx="3143867" cy="469623"/>
          </a:xfrm>
        </p:grpSpPr>
        <p:sp>
          <p:nvSpPr>
            <p:cNvPr name="Freeform 7" id="7"/>
            <p:cNvSpPr/>
            <p:nvPr/>
          </p:nvSpPr>
          <p:spPr>
            <a:xfrm flipH="false" flipV="false" rot="0">
              <a:off x="0" y="0"/>
              <a:ext cx="3143867" cy="469623"/>
            </a:xfrm>
            <a:custGeom>
              <a:avLst/>
              <a:gdLst/>
              <a:ahLst/>
              <a:cxnLst/>
              <a:rect r="r" b="b" t="t" l="l"/>
              <a:pathLst>
                <a:path h="469623" w="3143867">
                  <a:moveTo>
                    <a:pt x="35461" y="0"/>
                  </a:moveTo>
                  <a:lnTo>
                    <a:pt x="3108405" y="0"/>
                  </a:lnTo>
                  <a:cubicBezTo>
                    <a:pt x="3117810" y="0"/>
                    <a:pt x="3126830" y="3736"/>
                    <a:pt x="3133480" y="10386"/>
                  </a:cubicBezTo>
                  <a:cubicBezTo>
                    <a:pt x="3140131" y="17037"/>
                    <a:pt x="3143867" y="26056"/>
                    <a:pt x="3143867" y="35461"/>
                  </a:cubicBezTo>
                  <a:lnTo>
                    <a:pt x="3143867" y="434161"/>
                  </a:lnTo>
                  <a:cubicBezTo>
                    <a:pt x="3143867" y="453746"/>
                    <a:pt x="3127990" y="469623"/>
                    <a:pt x="3108405" y="469623"/>
                  </a:cubicBezTo>
                  <a:lnTo>
                    <a:pt x="35461" y="469623"/>
                  </a:lnTo>
                  <a:cubicBezTo>
                    <a:pt x="26056" y="469623"/>
                    <a:pt x="17037" y="465887"/>
                    <a:pt x="10386" y="459236"/>
                  </a:cubicBezTo>
                  <a:cubicBezTo>
                    <a:pt x="3736" y="452586"/>
                    <a:pt x="0" y="443566"/>
                    <a:pt x="0" y="434161"/>
                  </a:cubicBezTo>
                  <a:lnTo>
                    <a:pt x="0" y="35461"/>
                  </a:lnTo>
                  <a:cubicBezTo>
                    <a:pt x="0" y="15877"/>
                    <a:pt x="15877" y="0"/>
                    <a:pt x="35461" y="0"/>
                  </a:cubicBezTo>
                  <a:close/>
                </a:path>
              </a:pathLst>
            </a:custGeom>
            <a:solidFill>
              <a:srgbClr val="304543"/>
            </a:solidFill>
          </p:spPr>
        </p:sp>
        <p:sp>
          <p:nvSpPr>
            <p:cNvPr name="TextBox 8" id="8"/>
            <p:cNvSpPr txBox="true"/>
            <p:nvPr/>
          </p:nvSpPr>
          <p:spPr>
            <a:xfrm>
              <a:off x="0" y="-57150"/>
              <a:ext cx="3143867" cy="52677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9" id="9"/>
          <p:cNvGrpSpPr/>
          <p:nvPr/>
        </p:nvGrpSpPr>
        <p:grpSpPr>
          <a:xfrm rot="0">
            <a:off x="6050576" y="2858209"/>
            <a:ext cx="11432520" cy="1742332"/>
            <a:chOff x="0" y="0"/>
            <a:chExt cx="3228072" cy="491963"/>
          </a:xfrm>
        </p:grpSpPr>
        <p:sp>
          <p:nvSpPr>
            <p:cNvPr name="Freeform 10" id="10"/>
            <p:cNvSpPr/>
            <p:nvPr/>
          </p:nvSpPr>
          <p:spPr>
            <a:xfrm flipH="false" flipV="false" rot="0">
              <a:off x="0" y="0"/>
              <a:ext cx="3228072" cy="491963"/>
            </a:xfrm>
            <a:custGeom>
              <a:avLst/>
              <a:gdLst/>
              <a:ahLst/>
              <a:cxnLst/>
              <a:rect r="r" b="b" t="t" l="l"/>
              <a:pathLst>
                <a:path h="491963" w="3228072">
                  <a:moveTo>
                    <a:pt x="34536" y="0"/>
                  </a:moveTo>
                  <a:lnTo>
                    <a:pt x="3193536" y="0"/>
                  </a:lnTo>
                  <a:cubicBezTo>
                    <a:pt x="3202695" y="0"/>
                    <a:pt x="3211480" y="3639"/>
                    <a:pt x="3217957" y="10115"/>
                  </a:cubicBezTo>
                  <a:cubicBezTo>
                    <a:pt x="3224433" y="16592"/>
                    <a:pt x="3228072" y="25377"/>
                    <a:pt x="3228072" y="34536"/>
                  </a:cubicBezTo>
                  <a:lnTo>
                    <a:pt x="3228072" y="457426"/>
                  </a:lnTo>
                  <a:cubicBezTo>
                    <a:pt x="3228072" y="466586"/>
                    <a:pt x="3224433" y="475370"/>
                    <a:pt x="3217957" y="481847"/>
                  </a:cubicBezTo>
                  <a:cubicBezTo>
                    <a:pt x="3211480" y="488324"/>
                    <a:pt x="3202695" y="491963"/>
                    <a:pt x="3193536" y="491963"/>
                  </a:cubicBezTo>
                  <a:lnTo>
                    <a:pt x="34536" y="491963"/>
                  </a:lnTo>
                  <a:cubicBezTo>
                    <a:pt x="25377" y="491963"/>
                    <a:pt x="16592" y="488324"/>
                    <a:pt x="10115" y="481847"/>
                  </a:cubicBezTo>
                  <a:cubicBezTo>
                    <a:pt x="3639" y="475370"/>
                    <a:pt x="0" y="466586"/>
                    <a:pt x="0" y="457426"/>
                  </a:cubicBezTo>
                  <a:lnTo>
                    <a:pt x="0" y="34536"/>
                  </a:lnTo>
                  <a:cubicBezTo>
                    <a:pt x="0" y="25377"/>
                    <a:pt x="3639" y="16592"/>
                    <a:pt x="10115" y="10115"/>
                  </a:cubicBezTo>
                  <a:cubicBezTo>
                    <a:pt x="16592" y="3639"/>
                    <a:pt x="25377" y="0"/>
                    <a:pt x="34536" y="0"/>
                  </a:cubicBezTo>
                  <a:close/>
                </a:path>
              </a:pathLst>
            </a:custGeom>
            <a:solidFill>
              <a:srgbClr val="304543"/>
            </a:solidFill>
          </p:spPr>
        </p:sp>
        <p:sp>
          <p:nvSpPr>
            <p:cNvPr name="TextBox 11" id="11"/>
            <p:cNvSpPr txBox="true"/>
            <p:nvPr/>
          </p:nvSpPr>
          <p:spPr>
            <a:xfrm>
              <a:off x="0" y="-57150"/>
              <a:ext cx="3228072" cy="54911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2" id="12"/>
          <p:cNvGrpSpPr/>
          <p:nvPr/>
        </p:nvGrpSpPr>
        <p:grpSpPr>
          <a:xfrm rot="0">
            <a:off x="1019247" y="8248896"/>
            <a:ext cx="10934559" cy="1742332"/>
            <a:chOff x="0" y="0"/>
            <a:chExt cx="3087469" cy="491963"/>
          </a:xfrm>
        </p:grpSpPr>
        <p:sp>
          <p:nvSpPr>
            <p:cNvPr name="Freeform 13" id="13"/>
            <p:cNvSpPr/>
            <p:nvPr/>
          </p:nvSpPr>
          <p:spPr>
            <a:xfrm flipH="false" flipV="false" rot="0">
              <a:off x="0" y="0"/>
              <a:ext cx="3087469" cy="491963"/>
            </a:xfrm>
            <a:custGeom>
              <a:avLst/>
              <a:gdLst/>
              <a:ahLst/>
              <a:cxnLst/>
              <a:rect r="r" b="b" t="t" l="l"/>
              <a:pathLst>
                <a:path h="491963" w="3087469">
                  <a:moveTo>
                    <a:pt x="36109" y="0"/>
                  </a:moveTo>
                  <a:lnTo>
                    <a:pt x="3051359" y="0"/>
                  </a:lnTo>
                  <a:cubicBezTo>
                    <a:pt x="3060936" y="0"/>
                    <a:pt x="3070121" y="3804"/>
                    <a:pt x="3076892" y="10576"/>
                  </a:cubicBezTo>
                  <a:cubicBezTo>
                    <a:pt x="3083664" y="17348"/>
                    <a:pt x="3087469" y="26532"/>
                    <a:pt x="3087469" y="36109"/>
                  </a:cubicBezTo>
                  <a:lnTo>
                    <a:pt x="3087469" y="455853"/>
                  </a:lnTo>
                  <a:cubicBezTo>
                    <a:pt x="3087469" y="465430"/>
                    <a:pt x="3083664" y="474615"/>
                    <a:pt x="3076892" y="481386"/>
                  </a:cubicBezTo>
                  <a:cubicBezTo>
                    <a:pt x="3070121" y="488158"/>
                    <a:pt x="3060936" y="491963"/>
                    <a:pt x="3051359" y="491963"/>
                  </a:cubicBezTo>
                  <a:lnTo>
                    <a:pt x="36109" y="491963"/>
                  </a:lnTo>
                  <a:cubicBezTo>
                    <a:pt x="26532" y="491963"/>
                    <a:pt x="17348" y="488158"/>
                    <a:pt x="10576" y="481386"/>
                  </a:cubicBezTo>
                  <a:cubicBezTo>
                    <a:pt x="3804" y="474615"/>
                    <a:pt x="0" y="465430"/>
                    <a:pt x="0" y="455853"/>
                  </a:cubicBezTo>
                  <a:lnTo>
                    <a:pt x="0" y="36109"/>
                  </a:lnTo>
                  <a:cubicBezTo>
                    <a:pt x="0" y="26532"/>
                    <a:pt x="3804" y="17348"/>
                    <a:pt x="10576" y="10576"/>
                  </a:cubicBezTo>
                  <a:cubicBezTo>
                    <a:pt x="17348" y="3804"/>
                    <a:pt x="26532" y="0"/>
                    <a:pt x="36109" y="0"/>
                  </a:cubicBezTo>
                  <a:close/>
                </a:path>
              </a:pathLst>
            </a:custGeom>
            <a:solidFill>
              <a:srgbClr val="304543"/>
            </a:solidFill>
          </p:spPr>
        </p:sp>
        <p:sp>
          <p:nvSpPr>
            <p:cNvPr name="TextBox 14" id="14"/>
            <p:cNvSpPr txBox="true"/>
            <p:nvPr/>
          </p:nvSpPr>
          <p:spPr>
            <a:xfrm>
              <a:off x="0" y="-57150"/>
              <a:ext cx="3087469" cy="54911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5" id="15"/>
          <p:cNvGrpSpPr/>
          <p:nvPr/>
        </p:nvGrpSpPr>
        <p:grpSpPr>
          <a:xfrm rot="0">
            <a:off x="5844022" y="6453257"/>
            <a:ext cx="11829185" cy="1690305"/>
            <a:chOff x="0" y="0"/>
            <a:chExt cx="3340074" cy="477273"/>
          </a:xfrm>
        </p:grpSpPr>
        <p:sp>
          <p:nvSpPr>
            <p:cNvPr name="Freeform 16" id="16"/>
            <p:cNvSpPr/>
            <p:nvPr/>
          </p:nvSpPr>
          <p:spPr>
            <a:xfrm flipH="false" flipV="false" rot="0">
              <a:off x="0" y="0"/>
              <a:ext cx="3340074" cy="477273"/>
            </a:xfrm>
            <a:custGeom>
              <a:avLst/>
              <a:gdLst/>
              <a:ahLst/>
              <a:cxnLst/>
              <a:rect r="r" b="b" t="t" l="l"/>
              <a:pathLst>
                <a:path h="477273" w="3340074">
                  <a:moveTo>
                    <a:pt x="33378" y="0"/>
                  </a:moveTo>
                  <a:lnTo>
                    <a:pt x="3306696" y="0"/>
                  </a:lnTo>
                  <a:cubicBezTo>
                    <a:pt x="3325130" y="0"/>
                    <a:pt x="3340074" y="14944"/>
                    <a:pt x="3340074" y="33378"/>
                  </a:cubicBezTo>
                  <a:lnTo>
                    <a:pt x="3340074" y="443894"/>
                  </a:lnTo>
                  <a:cubicBezTo>
                    <a:pt x="3340074" y="452747"/>
                    <a:pt x="3336558" y="461237"/>
                    <a:pt x="3330298" y="467496"/>
                  </a:cubicBezTo>
                  <a:cubicBezTo>
                    <a:pt x="3324038" y="473756"/>
                    <a:pt x="3315548" y="477273"/>
                    <a:pt x="3306696" y="477273"/>
                  </a:cubicBezTo>
                  <a:lnTo>
                    <a:pt x="33378" y="477273"/>
                  </a:lnTo>
                  <a:cubicBezTo>
                    <a:pt x="14944" y="477273"/>
                    <a:pt x="0" y="462329"/>
                    <a:pt x="0" y="443894"/>
                  </a:cubicBezTo>
                  <a:lnTo>
                    <a:pt x="0" y="33378"/>
                  </a:lnTo>
                  <a:cubicBezTo>
                    <a:pt x="0" y="14944"/>
                    <a:pt x="14944" y="0"/>
                    <a:pt x="33378" y="0"/>
                  </a:cubicBezTo>
                  <a:close/>
                </a:path>
              </a:pathLst>
            </a:custGeom>
            <a:solidFill>
              <a:srgbClr val="304543"/>
            </a:solidFill>
          </p:spPr>
        </p:sp>
        <p:sp>
          <p:nvSpPr>
            <p:cNvPr name="TextBox 17" id="17"/>
            <p:cNvSpPr txBox="true"/>
            <p:nvPr/>
          </p:nvSpPr>
          <p:spPr>
            <a:xfrm>
              <a:off x="0" y="-57150"/>
              <a:ext cx="3340074" cy="53442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8" id="18"/>
          <p:cNvGrpSpPr/>
          <p:nvPr/>
        </p:nvGrpSpPr>
        <p:grpSpPr>
          <a:xfrm rot="0">
            <a:off x="726549" y="4657618"/>
            <a:ext cx="11042423" cy="1684161"/>
            <a:chOff x="0" y="0"/>
            <a:chExt cx="3117925" cy="475538"/>
          </a:xfrm>
        </p:grpSpPr>
        <p:sp>
          <p:nvSpPr>
            <p:cNvPr name="Freeform 19" id="19"/>
            <p:cNvSpPr/>
            <p:nvPr/>
          </p:nvSpPr>
          <p:spPr>
            <a:xfrm flipH="false" flipV="false" rot="0">
              <a:off x="0" y="0"/>
              <a:ext cx="3117925" cy="475538"/>
            </a:xfrm>
            <a:custGeom>
              <a:avLst/>
              <a:gdLst/>
              <a:ahLst/>
              <a:cxnLst/>
              <a:rect r="r" b="b" t="t" l="l"/>
              <a:pathLst>
                <a:path h="475538" w="3117925">
                  <a:moveTo>
                    <a:pt x="35756" y="0"/>
                  </a:moveTo>
                  <a:lnTo>
                    <a:pt x="3082168" y="0"/>
                  </a:lnTo>
                  <a:cubicBezTo>
                    <a:pt x="3101916" y="0"/>
                    <a:pt x="3117925" y="16009"/>
                    <a:pt x="3117925" y="35756"/>
                  </a:cubicBezTo>
                  <a:lnTo>
                    <a:pt x="3117925" y="439781"/>
                  </a:lnTo>
                  <a:cubicBezTo>
                    <a:pt x="3117925" y="459529"/>
                    <a:pt x="3101916" y="475538"/>
                    <a:pt x="3082168" y="475538"/>
                  </a:cubicBezTo>
                  <a:lnTo>
                    <a:pt x="35756" y="475538"/>
                  </a:lnTo>
                  <a:cubicBezTo>
                    <a:pt x="16009" y="475538"/>
                    <a:pt x="0" y="459529"/>
                    <a:pt x="0" y="439781"/>
                  </a:cubicBezTo>
                  <a:lnTo>
                    <a:pt x="0" y="35756"/>
                  </a:lnTo>
                  <a:cubicBezTo>
                    <a:pt x="0" y="16009"/>
                    <a:pt x="16009" y="0"/>
                    <a:pt x="35756" y="0"/>
                  </a:cubicBezTo>
                  <a:close/>
                </a:path>
              </a:pathLst>
            </a:custGeom>
            <a:solidFill>
              <a:srgbClr val="304543"/>
            </a:solidFill>
          </p:spPr>
        </p:sp>
        <p:sp>
          <p:nvSpPr>
            <p:cNvPr name="TextBox 20" id="20"/>
            <p:cNvSpPr txBox="true"/>
            <p:nvPr/>
          </p:nvSpPr>
          <p:spPr>
            <a:xfrm>
              <a:off x="0" y="-57150"/>
              <a:ext cx="3117925" cy="532688"/>
            </a:xfrm>
            <a:prstGeom prst="rect">
              <a:avLst/>
            </a:prstGeom>
          </p:spPr>
          <p:txBody>
            <a:bodyPr anchor="ctr" rtlCol="false" tIns="50800" lIns="50800" bIns="50800" rIns="50800"/>
            <a:lstStyle/>
            <a:p>
              <a:pPr algn="ctr">
                <a:lnSpc>
                  <a:spcPts val="3639"/>
                </a:lnSpc>
              </a:pPr>
            </a:p>
            <a:p>
              <a:pPr algn="ctr">
                <a:lnSpc>
                  <a:spcPts val="3639"/>
                </a:lnSpc>
              </a:pPr>
            </a:p>
          </p:txBody>
        </p:sp>
      </p:gr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28</a:t>
            </a:r>
          </a:p>
        </p:txBody>
      </p:sp>
      <p:sp>
        <p:nvSpPr>
          <p:cNvPr name="TextBox 22" id="22"/>
          <p:cNvSpPr txBox="true"/>
          <p:nvPr/>
        </p:nvSpPr>
        <p:spPr>
          <a:xfrm rot="0">
            <a:off x="720564" y="1157545"/>
            <a:ext cx="10660023" cy="1480185"/>
          </a:xfrm>
          <a:prstGeom prst="rect">
            <a:avLst/>
          </a:prstGeom>
        </p:spPr>
        <p:txBody>
          <a:bodyPr anchor="t" rtlCol="false" tIns="0" lIns="0" bIns="0" rIns="0">
            <a:spAutoFit/>
          </a:bodyPr>
          <a:lstStyle/>
          <a:p>
            <a:pPr algn="ctr">
              <a:lnSpc>
                <a:spcPts val="2940"/>
              </a:lnSpc>
              <a:spcBef>
                <a:spcPct val="0"/>
              </a:spcBef>
            </a:pPr>
            <a:r>
              <a:rPr lang="en-US" sz="2100">
                <a:solidFill>
                  <a:srgbClr val="C1DFC1"/>
                </a:solidFill>
                <a:latin typeface="Guild A Display"/>
                <a:ea typeface="Guild A Display"/>
                <a:cs typeface="Guild A Display"/>
                <a:sym typeface="Guild A Display"/>
              </a:rPr>
              <a:t>1. Social Media Usage &amp; Habits</a:t>
            </a:r>
          </a:p>
          <a:p>
            <a:pPr algn="ctr">
              <a:lnSpc>
                <a:spcPts val="2940"/>
              </a:lnSpc>
              <a:spcBef>
                <a:spcPct val="0"/>
              </a:spcBef>
            </a:pPr>
            <a:r>
              <a:rPr lang="en-US" sz="2100">
                <a:solidFill>
                  <a:srgbClr val="F5F5EF"/>
                </a:solidFill>
                <a:latin typeface="Guild A Display"/>
                <a:ea typeface="Guild A Display"/>
                <a:cs typeface="Guild A Display"/>
                <a:sym typeface="Guild A Display"/>
              </a:rPr>
              <a:t>Higher social media usage can be compared with differences in screen time and productivity.</a:t>
            </a:r>
          </a:p>
          <a:p>
            <a:pPr algn="ctr">
              <a:lnSpc>
                <a:spcPts val="2940"/>
              </a:lnSpc>
              <a:spcBef>
                <a:spcPct val="0"/>
              </a:spcBef>
            </a:pPr>
            <a:r>
              <a:rPr lang="en-US" sz="2100">
                <a:solidFill>
                  <a:srgbClr val="F5F5EF"/>
                </a:solidFill>
                <a:latin typeface="Guild A Display"/>
                <a:ea typeface="Guild A Display"/>
                <a:cs typeface="Guild A Display"/>
                <a:sym typeface="Guild A Display"/>
              </a:rPr>
              <a:t>Frequent checking and purposeless scrolling highlight different patterns of social media use.</a:t>
            </a:r>
          </a:p>
          <a:p>
            <a:pPr algn="ctr">
              <a:lnSpc>
                <a:spcPts val="2940"/>
              </a:lnSpc>
              <a:spcBef>
                <a:spcPct val="0"/>
              </a:spcBef>
            </a:pPr>
            <a:r>
              <a:rPr lang="en-US" sz="2100">
                <a:solidFill>
                  <a:srgbClr val="F5F5EF"/>
                </a:solidFill>
                <a:latin typeface="Guild A Display"/>
                <a:ea typeface="Guild A Display"/>
                <a:cs typeface="Guild A Display"/>
                <a:sym typeface="Guild A Display"/>
              </a:rPr>
              <a:t>Late-night scrolling can be examined in relation to sleep duration and sleep quality.</a:t>
            </a:r>
          </a:p>
        </p:txBody>
      </p:sp>
      <p:sp>
        <p:nvSpPr>
          <p:cNvPr name="TextBox 23" id="23"/>
          <p:cNvSpPr txBox="true"/>
          <p:nvPr/>
        </p:nvSpPr>
        <p:spPr>
          <a:xfrm rot="0">
            <a:off x="5487431" y="110828"/>
            <a:ext cx="7313137" cy="862174"/>
          </a:xfrm>
          <a:prstGeom prst="rect">
            <a:avLst/>
          </a:prstGeom>
        </p:spPr>
        <p:txBody>
          <a:bodyPr anchor="t" rtlCol="false" tIns="0" lIns="0" bIns="0" rIns="0">
            <a:spAutoFit/>
          </a:bodyPr>
          <a:lstStyle/>
          <a:p>
            <a:pPr algn="ctr">
              <a:lnSpc>
                <a:spcPts val="7078"/>
              </a:lnSpc>
              <a:spcBef>
                <a:spcPct val="0"/>
              </a:spcBef>
            </a:pPr>
            <a:r>
              <a:rPr lang="en-US" sz="5056">
                <a:solidFill>
                  <a:srgbClr val="304543"/>
                </a:solidFill>
                <a:latin typeface="DM Serif Display"/>
                <a:ea typeface="DM Serif Display"/>
                <a:cs typeface="DM Serif Display"/>
                <a:sym typeface="DM Serif Display"/>
              </a:rPr>
              <a:t>INSIGHTS</a:t>
            </a:r>
          </a:p>
        </p:txBody>
      </p:sp>
      <p:sp>
        <p:nvSpPr>
          <p:cNvPr name="TextBox 24" id="24"/>
          <p:cNvSpPr txBox="true"/>
          <p:nvPr/>
        </p:nvSpPr>
        <p:spPr>
          <a:xfrm rot="0">
            <a:off x="6230206" y="2977430"/>
            <a:ext cx="11252889" cy="1443050"/>
          </a:xfrm>
          <a:prstGeom prst="rect">
            <a:avLst/>
          </a:prstGeom>
        </p:spPr>
        <p:txBody>
          <a:bodyPr anchor="t" rtlCol="false" tIns="0" lIns="0" bIns="0" rIns="0">
            <a:spAutoFit/>
          </a:bodyPr>
          <a:lstStyle/>
          <a:p>
            <a:pPr algn="ctr">
              <a:lnSpc>
                <a:spcPts val="2872"/>
              </a:lnSpc>
              <a:spcBef>
                <a:spcPct val="0"/>
              </a:spcBef>
            </a:pPr>
            <a:r>
              <a:rPr lang="en-US" sz="2052">
                <a:solidFill>
                  <a:srgbClr val="C1DFC1"/>
                </a:solidFill>
                <a:latin typeface="Guild A Display"/>
                <a:ea typeface="Guild A Display"/>
                <a:cs typeface="Guild A Display"/>
                <a:sym typeface="Guild A Display"/>
              </a:rPr>
              <a:t>2. Productivity &amp; Cognition</a:t>
            </a:r>
          </a:p>
          <a:p>
            <a:pPr algn="ctr">
              <a:lnSpc>
                <a:spcPts val="2872"/>
              </a:lnSpc>
              <a:spcBef>
                <a:spcPct val="0"/>
              </a:spcBef>
            </a:pPr>
            <a:r>
              <a:rPr lang="en-US" sz="2052">
                <a:solidFill>
                  <a:srgbClr val="F5F5EF"/>
                </a:solidFill>
                <a:latin typeface="Guild A Display"/>
                <a:ea typeface="Guild A Display"/>
                <a:cs typeface="Guild A Display"/>
                <a:sym typeface="Guild A Display"/>
              </a:rPr>
              <a:t>Social media usage levels can be compared with productivity and tasks completed per day.</a:t>
            </a:r>
          </a:p>
          <a:p>
            <a:pPr algn="ctr">
              <a:lnSpc>
                <a:spcPts val="2872"/>
              </a:lnSpc>
              <a:spcBef>
                <a:spcPct val="0"/>
              </a:spcBef>
            </a:pPr>
            <a:r>
              <a:rPr lang="en-US" sz="2052">
                <a:solidFill>
                  <a:srgbClr val="F5F5EF"/>
                </a:solidFill>
                <a:latin typeface="Guild A Display"/>
                <a:ea typeface="Guild A Display"/>
                <a:cs typeface="Guild A Display"/>
                <a:sym typeface="Guild A Display"/>
              </a:rPr>
              <a:t>Attention span and deep-work duration can be analyzed across different usage levels.</a:t>
            </a:r>
          </a:p>
          <a:p>
            <a:pPr algn="ctr">
              <a:lnSpc>
                <a:spcPts val="2872"/>
              </a:lnSpc>
              <a:spcBef>
                <a:spcPct val="0"/>
              </a:spcBef>
            </a:pPr>
            <a:r>
              <a:rPr lang="en-US" sz="2052">
                <a:solidFill>
                  <a:srgbClr val="F5F5EF"/>
                </a:solidFill>
                <a:latin typeface="Guild A Display"/>
                <a:ea typeface="Guild A Display"/>
                <a:cs typeface="Guild A Display"/>
                <a:sym typeface="Guild A Display"/>
              </a:rPr>
              <a:t>Task switching and mind wandering provide additional indicators of focus and productivity patterns.</a:t>
            </a:r>
          </a:p>
        </p:txBody>
      </p:sp>
      <p:sp>
        <p:nvSpPr>
          <p:cNvPr name="TextBox 25" id="25"/>
          <p:cNvSpPr txBox="true"/>
          <p:nvPr/>
        </p:nvSpPr>
        <p:spPr>
          <a:xfrm rot="0">
            <a:off x="834413" y="4744605"/>
            <a:ext cx="10934559" cy="1516962"/>
          </a:xfrm>
          <a:prstGeom prst="rect">
            <a:avLst/>
          </a:prstGeom>
        </p:spPr>
        <p:txBody>
          <a:bodyPr anchor="t" rtlCol="false" tIns="0" lIns="0" bIns="0" rIns="0">
            <a:spAutoFit/>
          </a:bodyPr>
          <a:lstStyle/>
          <a:p>
            <a:pPr algn="ctr">
              <a:lnSpc>
                <a:spcPts val="3012"/>
              </a:lnSpc>
              <a:spcBef>
                <a:spcPct val="0"/>
              </a:spcBef>
            </a:pPr>
            <a:r>
              <a:rPr lang="en-US" sz="2152">
                <a:solidFill>
                  <a:srgbClr val="C1DFC1"/>
                </a:solidFill>
                <a:latin typeface="Guild A Display"/>
                <a:ea typeface="Guild A Display"/>
                <a:cs typeface="Guild A Display"/>
                <a:sym typeface="Guild A Display"/>
              </a:rPr>
              <a:t>3. Sleep &amp; Digital Wellbeing</a:t>
            </a:r>
          </a:p>
          <a:p>
            <a:pPr algn="ctr">
              <a:lnSpc>
                <a:spcPts val="3012"/>
              </a:lnSpc>
              <a:spcBef>
                <a:spcPct val="0"/>
              </a:spcBef>
            </a:pPr>
            <a:r>
              <a:rPr lang="en-US" sz="2152">
                <a:solidFill>
                  <a:srgbClr val="F5F5EF"/>
                </a:solidFill>
                <a:latin typeface="Guild A Display"/>
                <a:ea typeface="Guild A Display"/>
                <a:cs typeface="Guild A Display"/>
                <a:sym typeface="Guild A Display"/>
              </a:rPr>
              <a:t>Sleep patterns can be compared across different levels of social media usage.</a:t>
            </a:r>
          </a:p>
          <a:p>
            <a:pPr algn="ctr">
              <a:lnSpc>
                <a:spcPts val="3012"/>
              </a:lnSpc>
              <a:spcBef>
                <a:spcPct val="0"/>
              </a:spcBef>
            </a:pPr>
            <a:r>
              <a:rPr lang="en-US" sz="2152">
                <a:solidFill>
                  <a:srgbClr val="F5F5EF"/>
                </a:solidFill>
                <a:latin typeface="Guild A Display"/>
                <a:ea typeface="Guild A Display"/>
                <a:cs typeface="Guild A Display"/>
                <a:sym typeface="Guild A Display"/>
              </a:rPr>
              <a:t>Sleep quality can be examined alongside addiction risk.</a:t>
            </a:r>
          </a:p>
          <a:p>
            <a:pPr algn="ctr">
              <a:lnSpc>
                <a:spcPts val="3012"/>
              </a:lnSpc>
              <a:spcBef>
                <a:spcPct val="0"/>
              </a:spcBef>
            </a:pPr>
            <a:r>
              <a:rPr lang="en-US" sz="2152">
                <a:solidFill>
                  <a:srgbClr val="F5F5EF"/>
                </a:solidFill>
                <a:latin typeface="Guild A Display"/>
                <a:ea typeface="Guild A Display"/>
                <a:cs typeface="Guild A Display"/>
                <a:sym typeface="Guild A Display"/>
              </a:rPr>
              <a:t>Digital wellbeing can be compared with social media usage and behavioral patterns.</a:t>
            </a:r>
          </a:p>
        </p:txBody>
      </p:sp>
      <p:sp>
        <p:nvSpPr>
          <p:cNvPr name="TextBox 26" id="26"/>
          <p:cNvSpPr txBox="true"/>
          <p:nvPr/>
        </p:nvSpPr>
        <p:spPr>
          <a:xfrm rot="0">
            <a:off x="5763042" y="6423537"/>
            <a:ext cx="11910165" cy="1720025"/>
          </a:xfrm>
          <a:prstGeom prst="rect">
            <a:avLst/>
          </a:prstGeom>
        </p:spPr>
        <p:txBody>
          <a:bodyPr anchor="t" rtlCol="false" tIns="0" lIns="0" bIns="0" rIns="0">
            <a:spAutoFit/>
          </a:bodyPr>
          <a:lstStyle/>
          <a:p>
            <a:pPr algn="ctr">
              <a:lnSpc>
                <a:spcPts val="2787"/>
              </a:lnSpc>
              <a:spcBef>
                <a:spcPct val="0"/>
              </a:spcBef>
            </a:pPr>
            <a:r>
              <a:rPr lang="en-US" sz="1990">
                <a:solidFill>
                  <a:srgbClr val="C1DFC1"/>
                </a:solidFill>
                <a:latin typeface="Guild A Display"/>
                <a:ea typeface="Guild A Display"/>
                <a:cs typeface="Guild A Display"/>
                <a:sym typeface="Guild A Display"/>
              </a:rPr>
              <a:t>4. Addiction Risk</a:t>
            </a:r>
          </a:p>
          <a:p>
            <a:pPr algn="ctr">
              <a:lnSpc>
                <a:spcPts val="2787"/>
              </a:lnSpc>
              <a:spcBef>
                <a:spcPct val="0"/>
              </a:spcBef>
            </a:pPr>
            <a:r>
              <a:rPr lang="en-US" sz="1990">
                <a:solidFill>
                  <a:srgbClr val="F5F5EF"/>
                </a:solidFill>
                <a:latin typeface="Guild A Display"/>
                <a:ea typeface="Guild A Display"/>
                <a:cs typeface="Guild A Display"/>
                <a:sym typeface="Guild A Display"/>
              </a:rPr>
              <a:t>Users can be categorized into Low, Medium, and High Addiction Risk.</a:t>
            </a:r>
          </a:p>
          <a:p>
            <a:pPr algn="ctr">
              <a:lnSpc>
                <a:spcPts val="2787"/>
              </a:lnSpc>
              <a:spcBef>
                <a:spcPct val="0"/>
              </a:spcBef>
            </a:pPr>
            <a:r>
              <a:rPr lang="en-US" sz="1990">
                <a:solidFill>
                  <a:srgbClr val="F5F5EF"/>
                </a:solidFill>
                <a:latin typeface="Guild A Display"/>
                <a:ea typeface="Guild A Display"/>
                <a:cs typeface="Guild A Display"/>
                <a:sym typeface="Guild A Display"/>
              </a:rPr>
              <a:t>Addiction risk can be analyzed in relation to social media usage intensity.</a:t>
            </a:r>
          </a:p>
          <a:p>
            <a:pPr algn="ctr">
              <a:lnSpc>
                <a:spcPts val="2787"/>
              </a:lnSpc>
              <a:spcBef>
                <a:spcPct val="0"/>
              </a:spcBef>
            </a:pPr>
            <a:r>
              <a:rPr lang="en-US" sz="1990">
                <a:solidFill>
                  <a:srgbClr val="F5F5EF"/>
                </a:solidFill>
                <a:latin typeface="Guild A Display"/>
                <a:ea typeface="Guild A Display"/>
                <a:cs typeface="Guild A Display"/>
                <a:sym typeface="Guild A Display"/>
              </a:rPr>
              <a:t>Reward-seeking behavior, boredom-to-phone reflex, and mood dependency can provide additional behavioral context.</a:t>
            </a:r>
          </a:p>
        </p:txBody>
      </p:sp>
      <p:sp>
        <p:nvSpPr>
          <p:cNvPr name="TextBox 27" id="27"/>
          <p:cNvSpPr txBox="true"/>
          <p:nvPr/>
        </p:nvSpPr>
        <p:spPr>
          <a:xfrm rot="0">
            <a:off x="1192883" y="8286437"/>
            <a:ext cx="10525241" cy="1383868"/>
          </a:xfrm>
          <a:prstGeom prst="rect">
            <a:avLst/>
          </a:prstGeom>
        </p:spPr>
        <p:txBody>
          <a:bodyPr anchor="t" rtlCol="false" tIns="0" lIns="0" bIns="0" rIns="0">
            <a:spAutoFit/>
          </a:bodyPr>
          <a:lstStyle/>
          <a:p>
            <a:pPr algn="ctr">
              <a:lnSpc>
                <a:spcPts val="2950"/>
              </a:lnSpc>
              <a:spcBef>
                <a:spcPct val="0"/>
              </a:spcBef>
            </a:pPr>
            <a:r>
              <a:rPr lang="en-US" sz="2107">
                <a:solidFill>
                  <a:srgbClr val="C1DFC1"/>
                </a:solidFill>
                <a:latin typeface="Guild A Display"/>
                <a:ea typeface="Guild A Display"/>
                <a:cs typeface="Guild A Display"/>
                <a:sym typeface="Guild A Display"/>
              </a:rPr>
              <a:t>5. Demographic Patterns</a:t>
            </a:r>
          </a:p>
          <a:p>
            <a:pPr algn="ctr">
              <a:lnSpc>
                <a:spcPts val="2950"/>
              </a:lnSpc>
              <a:spcBef>
                <a:spcPct val="0"/>
              </a:spcBef>
            </a:pPr>
            <a:r>
              <a:rPr lang="en-US" sz="2107">
                <a:solidFill>
                  <a:srgbClr val="C1DFC1"/>
                </a:solidFill>
                <a:latin typeface="Guild A Display"/>
                <a:ea typeface="Guild A Display"/>
                <a:cs typeface="Guild A Display"/>
                <a:sym typeface="Guild A Display"/>
              </a:rPr>
              <a:t>S</a:t>
            </a:r>
            <a:r>
              <a:rPr lang="en-US" sz="2107">
                <a:solidFill>
                  <a:srgbClr val="F5F5EF"/>
                </a:solidFill>
                <a:latin typeface="Guild A Display"/>
                <a:ea typeface="Guild A Display"/>
                <a:cs typeface="Guild A Display"/>
                <a:sym typeface="Guild A Display"/>
              </a:rPr>
              <a:t>ocial media habits can be compared across age groups, education levels, and employment status.</a:t>
            </a:r>
          </a:p>
          <a:p>
            <a:pPr algn="ctr">
              <a:lnSpc>
                <a:spcPts val="2950"/>
              </a:lnSpc>
              <a:spcBef>
                <a:spcPct val="0"/>
              </a:spcBef>
            </a:pPr>
            <a:r>
              <a:rPr lang="en-US" sz="2107">
                <a:solidFill>
                  <a:srgbClr val="F5F5EF"/>
                </a:solidFill>
                <a:latin typeface="Guild A Display"/>
                <a:ea typeface="Guild A Display"/>
                <a:cs typeface="Guild A Display"/>
                <a:sym typeface="Guild A Display"/>
              </a:rPr>
              <a:t>Productivity and addiction risk can also be explored across different demographic groups.</a:t>
            </a:r>
          </a:p>
          <a:p>
            <a:pPr algn="ctr">
              <a:lnSpc>
                <a:spcPts val="2950"/>
              </a:lnSpc>
              <a:spcBef>
                <a:spcPct val="0"/>
              </a:spcBef>
            </a:pPr>
            <a:r>
              <a:rPr lang="en-US" sz="2107">
                <a:solidFill>
                  <a:srgbClr val="F5F5EF"/>
                </a:solidFill>
                <a:latin typeface="Guild A Display"/>
                <a:ea typeface="Guild A Display"/>
                <a:cs typeface="Guild A Display"/>
                <a:sym typeface="Guild A Display"/>
              </a:rPr>
              <a:t>Overall Insight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3453484" y="378673"/>
            <a:ext cx="10578166" cy="9048535"/>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6999"/>
              </a:blip>
              <a:stretch>
                <a:fillRect l="0" t="-8452" r="0" b="-8452"/>
              </a:stretch>
            </a:blipFill>
          </p:spPr>
        </p:sp>
      </p:grpSp>
      <p:grpSp>
        <p:nvGrpSpPr>
          <p:cNvPr name="Group 4" id="4"/>
          <p:cNvGrpSpPr/>
          <p:nvPr/>
        </p:nvGrpSpPr>
        <p:grpSpPr>
          <a:xfrm rot="0">
            <a:off x="776922" y="1205402"/>
            <a:ext cx="8008958" cy="8008958"/>
            <a:chOff x="0" y="0"/>
            <a:chExt cx="635000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sp>
        <p:nvSpPr>
          <p:cNvPr name="TextBox 6" id="6"/>
          <p:cNvSpPr txBox="true"/>
          <p:nvPr/>
        </p:nvSpPr>
        <p:spPr>
          <a:xfrm rot="0">
            <a:off x="1962653" y="4411345"/>
            <a:ext cx="5637496" cy="1454786"/>
          </a:xfrm>
          <a:prstGeom prst="rect">
            <a:avLst/>
          </a:prstGeom>
        </p:spPr>
        <p:txBody>
          <a:bodyPr anchor="t" rtlCol="false" tIns="0" lIns="0" bIns="0" rIns="0">
            <a:spAutoFit/>
          </a:bodyPr>
          <a:lstStyle/>
          <a:p>
            <a:pPr algn="ctr" marL="0" indent="0" lvl="0">
              <a:lnSpc>
                <a:spcPts val="11494"/>
              </a:lnSpc>
              <a:spcBef>
                <a:spcPct val="0"/>
              </a:spcBef>
            </a:pPr>
            <a:r>
              <a:rPr lang="en-US" b="true" sz="9499">
                <a:solidFill>
                  <a:srgbClr val="F5F5EF"/>
                </a:solidFill>
                <a:latin typeface="Cormorant Garamond Bold"/>
                <a:ea typeface="Cormorant Garamond Bold"/>
                <a:cs typeface="Cormorant Garamond Bold"/>
                <a:sym typeface="Cormorant Garamond Bold"/>
              </a:rPr>
              <a:t>Concl</a:t>
            </a:r>
            <a:r>
              <a:rPr lang="en-US" b="true" sz="9499" u="none">
                <a:solidFill>
                  <a:srgbClr val="F5F5EF"/>
                </a:solidFill>
                <a:latin typeface="Cormorant Garamond Bold"/>
                <a:ea typeface="Cormorant Garamond Bold"/>
                <a:cs typeface="Cormorant Garamond Bold"/>
                <a:sym typeface="Cormorant Garamond Bold"/>
              </a:rPr>
              <a:t>usion</a:t>
            </a:r>
          </a:p>
        </p:txBody>
      </p:sp>
      <p:sp>
        <p:nvSpPr>
          <p:cNvPr name="TextBox 7" id="7"/>
          <p:cNvSpPr txBox="true"/>
          <p:nvPr/>
        </p:nvSpPr>
        <p:spPr>
          <a:xfrm rot="0">
            <a:off x="17409909" y="9516382"/>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29</a:t>
            </a:r>
          </a:p>
        </p:txBody>
      </p:sp>
      <p:sp>
        <p:nvSpPr>
          <p:cNvPr name="TextBox 8" id="8"/>
          <p:cNvSpPr txBox="true"/>
          <p:nvPr/>
        </p:nvSpPr>
        <p:spPr>
          <a:xfrm rot="0">
            <a:off x="233763" y="952881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9" id="9"/>
          <p:cNvSpPr txBox="true"/>
          <p:nvPr/>
        </p:nvSpPr>
        <p:spPr>
          <a:xfrm rot="0">
            <a:off x="8814632" y="2618349"/>
            <a:ext cx="9473368" cy="5198153"/>
          </a:xfrm>
          <a:prstGeom prst="rect">
            <a:avLst/>
          </a:prstGeom>
        </p:spPr>
        <p:txBody>
          <a:bodyPr anchor="t" rtlCol="false" tIns="0" lIns="0" bIns="0" rIns="0">
            <a:spAutoFit/>
          </a:bodyPr>
          <a:lstStyle/>
          <a:p>
            <a:pPr algn="ctr">
              <a:lnSpc>
                <a:spcPts val="3760"/>
              </a:lnSpc>
              <a:spcBef>
                <a:spcPct val="0"/>
              </a:spcBef>
            </a:pPr>
            <a:r>
              <a:rPr lang="en-US" b="true" sz="2685">
                <a:solidFill>
                  <a:srgbClr val="F5F5EF"/>
                </a:solidFill>
                <a:latin typeface="Guild A Display Bold"/>
                <a:ea typeface="Guild A Display Bold"/>
                <a:cs typeface="Guild A Display Bold"/>
                <a:sym typeface="Guild A Display Bold"/>
              </a:rPr>
              <a:t>. </a:t>
            </a:r>
            <a:r>
              <a:rPr lang="en-US" b="true" sz="2685">
                <a:solidFill>
                  <a:srgbClr val="F5F5EF"/>
                </a:solidFill>
                <a:latin typeface="Guild A Display Bold"/>
                <a:ea typeface="Guild A Display Bold"/>
                <a:cs typeface="Guild A Display Bold"/>
                <a:sym typeface="Guild A Display Bold"/>
              </a:rPr>
              <a:t>This analysis provides a clearer understanding of how social media habits may relate to productivity, cognitive performance, sleep, and digital wellbeing. By examining usage patterns, behavioral factors, and demographic characteristics, the project highlights key factors that can be used to understand social media engagement and addiction risk.</a:t>
            </a:r>
          </a:p>
          <a:p>
            <a:pPr algn="ctr">
              <a:lnSpc>
                <a:spcPts val="3760"/>
              </a:lnSpc>
              <a:spcBef>
                <a:spcPct val="0"/>
              </a:spcBef>
            </a:pPr>
          </a:p>
          <a:p>
            <a:pPr algn="ctr">
              <a:lnSpc>
                <a:spcPts val="3760"/>
              </a:lnSpc>
              <a:spcBef>
                <a:spcPct val="0"/>
              </a:spcBef>
            </a:pPr>
            <a:r>
              <a:rPr lang="en-US" b="true" sz="2685">
                <a:solidFill>
                  <a:srgbClr val="F5F5EF"/>
                </a:solidFill>
                <a:latin typeface="Guild A Display Bold"/>
                <a:ea typeface="Guild A Display Bold"/>
                <a:cs typeface="Guild A Display Bold"/>
                <a:sym typeface="Guild A Display Bold"/>
              </a:rPr>
              <a:t>.Overall, the analysis can help identify behavioral patterns and support better digital habits, healthier screen-time management, and improved productivity.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0" y="4315775"/>
            <a:ext cx="18288000" cy="8476870"/>
            <a:chOff x="0" y="0"/>
            <a:chExt cx="1369949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F5F5EF">
                <a:alpha val="9804"/>
              </a:srgbClr>
            </a:solidFill>
          </p:spPr>
        </p:sp>
      </p:grpSp>
      <p:grpSp>
        <p:nvGrpSpPr>
          <p:cNvPr name="Group 4" id="4"/>
          <p:cNvGrpSpPr/>
          <p:nvPr/>
        </p:nvGrpSpPr>
        <p:grpSpPr>
          <a:xfrm rot="0">
            <a:off x="586535" y="2735676"/>
            <a:ext cx="7134708" cy="3068943"/>
            <a:chOff x="0" y="0"/>
            <a:chExt cx="9512944" cy="4091924"/>
          </a:xfrm>
        </p:grpSpPr>
        <p:sp>
          <p:nvSpPr>
            <p:cNvPr name="TextBox 5" id="5"/>
            <p:cNvSpPr txBox="true"/>
            <p:nvPr/>
          </p:nvSpPr>
          <p:spPr>
            <a:xfrm rot="0">
              <a:off x="0" y="-142875"/>
              <a:ext cx="9512944" cy="951444"/>
            </a:xfrm>
            <a:prstGeom prst="rect">
              <a:avLst/>
            </a:prstGeom>
          </p:spPr>
          <p:txBody>
            <a:bodyPr anchor="t" rtlCol="false" tIns="0" lIns="0" bIns="0" rIns="0">
              <a:spAutoFit/>
            </a:bodyPr>
            <a:lstStyle/>
            <a:p>
              <a:pPr algn="ctr" rtl="true" marL="0" indent="0" lvl="0">
                <a:lnSpc>
                  <a:spcPts val="6399"/>
                </a:lnSpc>
                <a:spcBef>
                  <a:spcPct val="0"/>
                </a:spcBef>
              </a:pPr>
              <a:r>
                <a:rPr lang="en-US" sz="3999">
                  <a:solidFill>
                    <a:srgbClr val="FFFFFF">
                      <a:alpha val="80000"/>
                    </a:srgbClr>
                  </a:solidFill>
                  <a:latin typeface="Marelle Bâton"/>
                  <a:ea typeface="Marelle Bâton"/>
                  <a:cs typeface="Marelle Bâton"/>
                  <a:sym typeface="Marelle Bâton"/>
                </a:rPr>
                <a:t>Mariam Mohep Ebrahim</a:t>
              </a:r>
            </a:p>
          </p:txBody>
        </p:sp>
        <p:sp>
          <p:nvSpPr>
            <p:cNvPr name="TextBox 6" id="6"/>
            <p:cNvSpPr txBox="true"/>
            <p:nvPr/>
          </p:nvSpPr>
          <p:spPr>
            <a:xfrm rot="0">
              <a:off x="1181580" y="3589639"/>
              <a:ext cx="3148069" cy="502285"/>
            </a:xfrm>
            <a:prstGeom prst="rect">
              <a:avLst/>
            </a:prstGeom>
          </p:spPr>
          <p:txBody>
            <a:bodyPr anchor="t" rtlCol="false" tIns="0" lIns="0" bIns="0" rIns="0">
              <a:spAutoFit/>
            </a:bodyPr>
            <a:lstStyle/>
            <a:p>
              <a:pPr algn="ctr" marL="0" indent="0" lvl="1">
                <a:lnSpc>
                  <a:spcPts val="3360"/>
                </a:lnSpc>
                <a:spcBef>
                  <a:spcPct val="0"/>
                </a:spcBef>
              </a:pPr>
            </a:p>
          </p:txBody>
        </p:sp>
      </p:grpSp>
      <p:sp>
        <p:nvSpPr>
          <p:cNvPr name="TextBox 7" id="7"/>
          <p:cNvSpPr txBox="true"/>
          <p:nvPr/>
        </p:nvSpPr>
        <p:spPr>
          <a:xfrm rot="0">
            <a:off x="9890330" y="2526126"/>
            <a:ext cx="7668015" cy="888135"/>
          </a:xfrm>
          <a:prstGeom prst="rect">
            <a:avLst/>
          </a:prstGeom>
        </p:spPr>
        <p:txBody>
          <a:bodyPr anchor="t" rtlCol="false" tIns="0" lIns="0" bIns="0" rIns="0">
            <a:spAutoFit/>
          </a:bodyPr>
          <a:lstStyle/>
          <a:p>
            <a:pPr algn="ctr" marL="0" indent="0" lvl="0">
              <a:lnSpc>
                <a:spcPts val="7427"/>
              </a:lnSpc>
              <a:spcBef>
                <a:spcPct val="0"/>
              </a:spcBef>
            </a:pPr>
            <a:r>
              <a:rPr lang="en-US" sz="4642">
                <a:solidFill>
                  <a:srgbClr val="FFFFFF">
                    <a:alpha val="80000"/>
                  </a:srgbClr>
                </a:solidFill>
                <a:latin typeface="Marelle Bâton"/>
                <a:ea typeface="Marelle Bâton"/>
                <a:cs typeface="Marelle Bâton"/>
                <a:sym typeface="Marelle Bâton"/>
              </a:rPr>
              <a:t>Roaa Ahmed Mohamed</a:t>
            </a:r>
          </a:p>
        </p:txBody>
      </p:sp>
      <p:grpSp>
        <p:nvGrpSpPr>
          <p:cNvPr name="Group 8" id="8"/>
          <p:cNvGrpSpPr/>
          <p:nvPr/>
        </p:nvGrpSpPr>
        <p:grpSpPr>
          <a:xfrm rot="0">
            <a:off x="6378374" y="427389"/>
            <a:ext cx="5592836" cy="2152077"/>
            <a:chOff x="0" y="0"/>
            <a:chExt cx="7457114" cy="2869436"/>
          </a:xfrm>
        </p:grpSpPr>
        <p:sp>
          <p:nvSpPr>
            <p:cNvPr name="TextBox 9" id="9"/>
            <p:cNvSpPr txBox="true"/>
            <p:nvPr/>
          </p:nvSpPr>
          <p:spPr>
            <a:xfrm rot="0">
              <a:off x="0" y="0"/>
              <a:ext cx="7457114" cy="1838791"/>
            </a:xfrm>
            <a:prstGeom prst="rect">
              <a:avLst/>
            </a:prstGeom>
          </p:spPr>
          <p:txBody>
            <a:bodyPr anchor="t" rtlCol="false" tIns="0" lIns="0" bIns="0" rIns="0">
              <a:spAutoFit/>
            </a:bodyPr>
            <a:lstStyle/>
            <a:p>
              <a:pPr algn="just" marL="0" indent="0" lvl="0">
                <a:lnSpc>
                  <a:spcPts val="11010"/>
                </a:lnSpc>
                <a:spcBef>
                  <a:spcPct val="0"/>
                </a:spcBef>
              </a:pPr>
              <a:r>
                <a:rPr lang="en-US" b="true" sz="9099">
                  <a:solidFill>
                    <a:srgbClr val="F5F5EF"/>
                  </a:solidFill>
                  <a:latin typeface="Cormorant Garamond Bold"/>
                  <a:ea typeface="Cormorant Garamond Bold"/>
                  <a:cs typeface="Cormorant Garamond Bold"/>
                  <a:sym typeface="Cormorant Garamond Bold"/>
                </a:rPr>
                <a:t>Pr</a:t>
              </a:r>
              <a:r>
                <a:rPr lang="en-US" b="true" sz="9099" u="none">
                  <a:solidFill>
                    <a:srgbClr val="F5F5EF"/>
                  </a:solidFill>
                  <a:latin typeface="Cormorant Garamond Bold"/>
                  <a:ea typeface="Cormorant Garamond Bold"/>
                  <a:cs typeface="Cormorant Garamond Bold"/>
                  <a:sym typeface="Cormorant Garamond Bold"/>
                </a:rPr>
                <a:t>epared by</a:t>
              </a:r>
            </a:p>
          </p:txBody>
        </p:sp>
        <p:sp>
          <p:nvSpPr>
            <p:cNvPr name="TextBox 10" id="10"/>
            <p:cNvSpPr txBox="true"/>
            <p:nvPr/>
          </p:nvSpPr>
          <p:spPr>
            <a:xfrm rot="0">
              <a:off x="0" y="1957364"/>
              <a:ext cx="2605313" cy="912072"/>
            </a:xfrm>
            <a:prstGeom prst="rect">
              <a:avLst/>
            </a:prstGeom>
          </p:spPr>
          <p:txBody>
            <a:bodyPr anchor="t" rtlCol="false" tIns="0" lIns="0" bIns="0" rIns="0">
              <a:spAutoFit/>
            </a:bodyPr>
            <a:lstStyle/>
            <a:p>
              <a:pPr algn="l" marL="0" indent="0" lvl="0">
                <a:lnSpc>
                  <a:spcPts val="5739"/>
                </a:lnSpc>
                <a:spcBef>
                  <a:spcPct val="0"/>
                </a:spcBef>
              </a:pPr>
            </a:p>
          </p:txBody>
        </p:sp>
      </p:gr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30</a:t>
            </a:r>
          </a:p>
        </p:txBody>
      </p:sp>
      <p:sp>
        <p:nvSpPr>
          <p:cNvPr name="TextBox 12" id="12"/>
          <p:cNvSpPr txBox="true"/>
          <p:nvPr/>
        </p:nvSpPr>
        <p:spPr>
          <a:xfrm rot="0">
            <a:off x="337945" y="9382171"/>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13" id="13"/>
          <p:cNvGrpSpPr/>
          <p:nvPr/>
        </p:nvGrpSpPr>
        <p:grpSpPr>
          <a:xfrm rot="0">
            <a:off x="2326128" y="4676466"/>
            <a:ext cx="6066236" cy="4899969"/>
            <a:chOff x="0" y="0"/>
            <a:chExt cx="8088315" cy="6533292"/>
          </a:xfrm>
        </p:grpSpPr>
        <p:sp>
          <p:nvSpPr>
            <p:cNvPr name="TextBox 14" id="14"/>
            <p:cNvSpPr txBox="true"/>
            <p:nvPr/>
          </p:nvSpPr>
          <p:spPr>
            <a:xfrm rot="0">
              <a:off x="0" y="-190500"/>
              <a:ext cx="8088315" cy="1198038"/>
            </a:xfrm>
            <a:prstGeom prst="rect">
              <a:avLst/>
            </a:prstGeom>
          </p:spPr>
          <p:txBody>
            <a:bodyPr anchor="t" rtlCol="false" tIns="0" lIns="0" bIns="0" rIns="0">
              <a:spAutoFit/>
            </a:bodyPr>
            <a:lstStyle/>
            <a:p>
              <a:pPr algn="ctr" marL="0" indent="0" lvl="0">
                <a:lnSpc>
                  <a:spcPts val="7999"/>
                </a:lnSpc>
                <a:spcBef>
                  <a:spcPct val="0"/>
                </a:spcBef>
              </a:pPr>
              <a:r>
                <a:rPr lang="en-US" sz="4999">
                  <a:solidFill>
                    <a:srgbClr val="FFFFFF">
                      <a:alpha val="80000"/>
                    </a:srgbClr>
                  </a:solidFill>
                  <a:latin typeface="Marelle Bâton"/>
                  <a:ea typeface="Marelle Bâton"/>
                  <a:cs typeface="Marelle Bâton"/>
                  <a:sym typeface="Marelle Bâton"/>
                </a:rPr>
                <a:t>Aml Razk Hosni</a:t>
              </a:r>
            </a:p>
          </p:txBody>
        </p:sp>
        <p:sp>
          <p:nvSpPr>
            <p:cNvPr name="TextBox 15" id="15"/>
            <p:cNvSpPr txBox="true"/>
            <p:nvPr/>
          </p:nvSpPr>
          <p:spPr>
            <a:xfrm rot="0">
              <a:off x="1951359" y="6031007"/>
              <a:ext cx="3148069" cy="502285"/>
            </a:xfrm>
            <a:prstGeom prst="rect">
              <a:avLst/>
            </a:prstGeom>
          </p:spPr>
          <p:txBody>
            <a:bodyPr anchor="t" rtlCol="false" tIns="0" lIns="0" bIns="0" rIns="0">
              <a:spAutoFit/>
            </a:bodyPr>
            <a:lstStyle/>
            <a:p>
              <a:pPr algn="ctr" marL="0" indent="0" lvl="1">
                <a:lnSpc>
                  <a:spcPts val="3360"/>
                </a:lnSpc>
                <a:spcBef>
                  <a:spcPct val="0"/>
                </a:spcBef>
              </a:pPr>
            </a:p>
          </p:txBody>
        </p:sp>
      </p:grpSp>
      <p:grpSp>
        <p:nvGrpSpPr>
          <p:cNvPr name="Group 16" id="16"/>
          <p:cNvGrpSpPr/>
          <p:nvPr/>
        </p:nvGrpSpPr>
        <p:grpSpPr>
          <a:xfrm rot="0">
            <a:off x="9097995" y="4759123"/>
            <a:ext cx="8161305" cy="3319637"/>
            <a:chOff x="0" y="0"/>
            <a:chExt cx="10881740" cy="4426183"/>
          </a:xfrm>
        </p:grpSpPr>
        <p:sp>
          <p:nvSpPr>
            <p:cNvPr name="TextBox 17" id="17"/>
            <p:cNvSpPr txBox="true"/>
            <p:nvPr/>
          </p:nvSpPr>
          <p:spPr>
            <a:xfrm rot="0">
              <a:off x="0" y="-161925"/>
              <a:ext cx="10881740" cy="1021664"/>
            </a:xfrm>
            <a:prstGeom prst="rect">
              <a:avLst/>
            </a:prstGeom>
          </p:spPr>
          <p:txBody>
            <a:bodyPr anchor="t" rtlCol="false" tIns="0" lIns="0" bIns="0" rIns="0">
              <a:spAutoFit/>
            </a:bodyPr>
            <a:lstStyle/>
            <a:p>
              <a:pPr algn="ctr" marL="0" indent="0" lvl="0">
                <a:lnSpc>
                  <a:spcPts val="6826"/>
                </a:lnSpc>
                <a:spcBef>
                  <a:spcPct val="0"/>
                </a:spcBef>
              </a:pPr>
              <a:r>
                <a:rPr lang="en-US" sz="4266">
                  <a:solidFill>
                    <a:srgbClr val="FFFFFF">
                      <a:alpha val="80000"/>
                    </a:srgbClr>
                  </a:solidFill>
                  <a:latin typeface="Marelle Bâton"/>
                  <a:ea typeface="Marelle Bâton"/>
                  <a:cs typeface="Marelle Bâton"/>
                  <a:sym typeface="Marelle Bâton"/>
                </a:rPr>
                <a:t>Hasnaa Ahmed Mahmoud</a:t>
              </a:r>
            </a:p>
          </p:txBody>
        </p:sp>
        <p:sp>
          <p:nvSpPr>
            <p:cNvPr name="TextBox 18" id="18"/>
            <p:cNvSpPr txBox="true"/>
            <p:nvPr/>
          </p:nvSpPr>
          <p:spPr>
            <a:xfrm rot="0">
              <a:off x="3259131" y="4004055"/>
              <a:ext cx="5257859" cy="422129"/>
            </a:xfrm>
            <a:prstGeom prst="rect">
              <a:avLst/>
            </a:prstGeom>
          </p:spPr>
          <p:txBody>
            <a:bodyPr anchor="t" rtlCol="false" tIns="0" lIns="0" bIns="0" rIns="0">
              <a:spAutoFit/>
            </a:bodyPr>
            <a:lstStyle/>
            <a:p>
              <a:pPr algn="ctr" marL="0" indent="0" lvl="1">
                <a:lnSpc>
                  <a:spcPts val="2867"/>
                </a:lnSpc>
                <a:spcBef>
                  <a:spcPct val="0"/>
                </a:spcBef>
              </a:pPr>
            </a:p>
          </p:txBody>
        </p:sp>
      </p:grpSp>
      <p:grpSp>
        <p:nvGrpSpPr>
          <p:cNvPr name="Group 19" id="19"/>
          <p:cNvGrpSpPr/>
          <p:nvPr/>
        </p:nvGrpSpPr>
        <p:grpSpPr>
          <a:xfrm rot="0">
            <a:off x="2802841" y="234856"/>
            <a:ext cx="10578166" cy="9048535"/>
            <a:chOff x="0" y="0"/>
            <a:chExt cx="7423451" cy="6350000"/>
          </a:xfrm>
        </p:grpSpPr>
        <p:sp>
          <p:nvSpPr>
            <p:cNvPr name="Freeform 20" id="20"/>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6999"/>
              </a:blip>
              <a:stretch>
                <a:fillRect l="0" t="-8452" r="0" b="-8452"/>
              </a:stretch>
            </a:blipFill>
          </p:spPr>
        </p:sp>
      </p:grpSp>
      <p:grpSp>
        <p:nvGrpSpPr>
          <p:cNvPr name="Group 21" id="21"/>
          <p:cNvGrpSpPr/>
          <p:nvPr/>
        </p:nvGrpSpPr>
        <p:grpSpPr>
          <a:xfrm rot="0">
            <a:off x="6646481" y="6717621"/>
            <a:ext cx="9280266" cy="3618891"/>
            <a:chOff x="0" y="0"/>
            <a:chExt cx="12373688" cy="4825188"/>
          </a:xfrm>
        </p:grpSpPr>
        <p:sp>
          <p:nvSpPr>
            <p:cNvPr name="TextBox 22" id="22"/>
            <p:cNvSpPr txBox="true"/>
            <p:nvPr/>
          </p:nvSpPr>
          <p:spPr>
            <a:xfrm rot="0">
              <a:off x="0" y="-190500"/>
              <a:ext cx="6515289" cy="1198038"/>
            </a:xfrm>
            <a:prstGeom prst="rect">
              <a:avLst/>
            </a:prstGeom>
          </p:spPr>
          <p:txBody>
            <a:bodyPr anchor="t" rtlCol="false" tIns="0" lIns="0" bIns="0" rIns="0">
              <a:spAutoFit/>
            </a:bodyPr>
            <a:lstStyle/>
            <a:p>
              <a:pPr algn="ctr" marL="0" indent="0" lvl="0">
                <a:lnSpc>
                  <a:spcPts val="7999"/>
                </a:lnSpc>
                <a:spcBef>
                  <a:spcPct val="0"/>
                </a:spcBef>
              </a:pPr>
              <a:r>
                <a:rPr lang="en-US" sz="4999">
                  <a:solidFill>
                    <a:srgbClr val="FFFFFF">
                      <a:alpha val="80000"/>
                    </a:srgbClr>
                  </a:solidFill>
                  <a:latin typeface="Marelle Bâton"/>
                  <a:ea typeface="Marelle Bâton"/>
                  <a:cs typeface="Marelle Bâton"/>
                  <a:sym typeface="Marelle Bâton"/>
                </a:rPr>
                <a:t>Poula Gerges</a:t>
              </a:r>
            </a:p>
          </p:txBody>
        </p:sp>
        <p:sp>
          <p:nvSpPr>
            <p:cNvPr name="TextBox 23" id="23"/>
            <p:cNvSpPr txBox="true"/>
            <p:nvPr/>
          </p:nvSpPr>
          <p:spPr>
            <a:xfrm rot="0">
              <a:off x="9225618" y="4332428"/>
              <a:ext cx="3148069" cy="492760"/>
            </a:xfrm>
            <a:prstGeom prst="rect">
              <a:avLst/>
            </a:prstGeom>
          </p:spPr>
          <p:txBody>
            <a:bodyPr anchor="t" rtlCol="false" tIns="0" lIns="0" bIns="0" rIns="0">
              <a:spAutoFit/>
            </a:bodyPr>
            <a:lstStyle/>
            <a:p>
              <a:pPr algn="ctr" marL="0" indent="0" lvl="1">
                <a:lnSpc>
                  <a:spcPts val="3360"/>
                </a:lnSpc>
                <a:spcBef>
                  <a:spcPct val="0"/>
                </a:spcBef>
              </a:pP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4994768" y="1139021"/>
            <a:ext cx="8008958" cy="8008958"/>
            <a:chOff x="0" y="0"/>
            <a:chExt cx="635000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sp>
        <p:nvSpPr>
          <p:cNvPr name="TextBox 4" id="4"/>
          <p:cNvSpPr txBox="true"/>
          <p:nvPr/>
        </p:nvSpPr>
        <p:spPr>
          <a:xfrm rot="0">
            <a:off x="5079493" y="4489449"/>
            <a:ext cx="7839508" cy="1184277"/>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F5F5EF"/>
                </a:solidFill>
                <a:latin typeface="Cormorant Garamond Bold"/>
                <a:ea typeface="Cormorant Garamond Bold"/>
                <a:cs typeface="Cormorant Garamond Bold"/>
                <a:sym typeface="Cormorant Garamond Bold"/>
              </a:rPr>
              <a:t>THANK YOU</a:t>
            </a:r>
          </a:p>
        </p:txBody>
      </p:sp>
      <p:sp>
        <p:nvSpPr>
          <p:cNvPr name="TextBox 5" id="5"/>
          <p:cNvSpPr txBox="true"/>
          <p:nvPr/>
        </p:nvSpPr>
        <p:spPr>
          <a:xfrm rot="0">
            <a:off x="17259300" y="946331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5F5EF"/>
                </a:solidFill>
                <a:latin typeface="Guild A Display"/>
                <a:ea typeface="Guild A Display"/>
                <a:cs typeface="Guild A Display"/>
                <a:sym typeface="Guild A Display"/>
              </a:rPr>
              <a:t>31</a:t>
            </a:r>
          </a:p>
        </p:txBody>
      </p:sp>
      <p:sp>
        <p:nvSpPr>
          <p:cNvPr name="TextBox 6" id="6"/>
          <p:cNvSpPr txBox="true"/>
          <p:nvPr/>
        </p:nvSpPr>
        <p:spPr>
          <a:xfrm rot="0">
            <a:off x="419110" y="941569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7" id="7"/>
          <p:cNvGrpSpPr/>
          <p:nvPr/>
        </p:nvGrpSpPr>
        <p:grpSpPr>
          <a:xfrm rot="0">
            <a:off x="2155037" y="462405"/>
            <a:ext cx="12735968" cy="9048535"/>
            <a:chOff x="0" y="0"/>
            <a:chExt cx="8937734" cy="6350000"/>
          </a:xfrm>
        </p:grpSpPr>
        <p:sp>
          <p:nvSpPr>
            <p:cNvPr name="Freeform 8" id="8"/>
            <p:cNvSpPr/>
            <p:nvPr/>
          </p:nvSpPr>
          <p:spPr>
            <a:xfrm flipH="false" flipV="false" rot="0">
              <a:off x="0" y="0"/>
              <a:ext cx="8937734" cy="6350000"/>
            </a:xfrm>
            <a:custGeom>
              <a:avLst/>
              <a:gdLst/>
              <a:ahLst/>
              <a:cxnLst/>
              <a:rect r="r" b="b" t="t" l="l"/>
              <a:pathLst>
                <a:path h="6350000" w="8937734">
                  <a:moveTo>
                    <a:pt x="4470147" y="0"/>
                  </a:moveTo>
                  <a:cubicBezTo>
                    <a:pt x="6938201" y="0"/>
                    <a:pt x="8937734" y="993140"/>
                    <a:pt x="8937734" y="2217420"/>
                  </a:cubicBezTo>
                  <a:lnTo>
                    <a:pt x="8937734" y="6350000"/>
                  </a:lnTo>
                  <a:lnTo>
                    <a:pt x="0" y="6350000"/>
                  </a:lnTo>
                  <a:lnTo>
                    <a:pt x="0" y="2217420"/>
                  </a:lnTo>
                  <a:cubicBezTo>
                    <a:pt x="0" y="993140"/>
                    <a:pt x="2002093" y="0"/>
                    <a:pt x="4470147" y="0"/>
                  </a:cubicBezTo>
                  <a:close/>
                </a:path>
              </a:pathLst>
            </a:custGeom>
            <a:blipFill>
              <a:blip r:embed="rId2">
                <a:alphaModFix amt="6999"/>
              </a:blip>
              <a:stretch>
                <a:fillRect l="0" t="-20375" r="0" b="-2037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DAHVXPsLAO0</dc:identifier>
  <dcterms:modified xsi:type="dcterms:W3CDTF">2011-08-01T06:04:30Z</dcterms:modified>
  <cp:revision>1</cp:revision>
  <dc:title>Beyond the Screen</dc:title>
</cp:coreProperties>
</file>